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828800" y="-1371600"/>
            <a:ext cx="8229600" cy="5486400"/>
          </a:xfrm>
          <a:prstGeom prst="round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777240" cy="777240"/>
          </a:xfrm>
          <a:prstGeom prst="round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0B0F17"/>
                </a:solidFill>
                <a:latin typeface="Segoe UI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4173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600" b="1">
                <a:solidFill>
                  <a:srgbClr val="E6EDF7"/>
                </a:solidFill>
                <a:latin typeface="Segoe UI"/>
              </a:rPr>
              <a:t>BODHI MULE HUNTER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1284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4DA3FF"/>
                </a:solidFill>
                <a:latin typeface="Segoe UI"/>
              </a:rPr>
              <a:t>Real-time mule account &amp; suspicious transaction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FA3C0"/>
                </a:solidFill>
                <a:latin typeface="Segoe UI"/>
              </a:rPr>
              <a:t>Nine layers. Three complementary model views. One calibrated score an investigator can act on — and a containment layer that refuses to act without corroboration.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0.9966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FUSED ROC-AUC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0944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0.9707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2384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FUSED PR-AUC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38928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6944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2ECC9B"/>
                </a:solidFill>
                <a:latin typeface="Segoe UI"/>
              </a:rPr>
              <a:t>99.99%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FALSE POSITIVES CUT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96912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8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2ECC9B"/>
                </a:solidFill>
                <a:latin typeface="Segoe UI"/>
              </a:rPr>
              <a:t>75×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352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PRECISION UPLIFT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54896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82912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4DA3FF"/>
                </a:solidFill>
                <a:latin typeface="Segoe UI"/>
              </a:rPr>
              <a:t>0.054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46336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INLINE DECISION P50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1708A"/>
                </a:solidFill>
                <a:latin typeface="Segoe UI"/>
              </a:rPr>
              <a:t>Team BODHI   ·   CyberShield Hackathon 2026   ·   Problem Statement 2   ·   Bank of India &amp; IIT Hyderabad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A mule account is a normal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Real KYC. Real customer. Payments clear. Nothing about the account is anomalous — only the shape of the money moving through it, and the company it keeps.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57800" cy="32004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61708A"/>
                </a:solidFill>
                <a:latin typeface="Segoe UI"/>
              </a:rPr>
              <a:t>HOW A MULE RING ACTUALLY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243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1  Victims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62432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40 defrauded people push money into one collector, in 90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2  Layering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91256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A → B → C → D within minutes, each hop keeping 2–10%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58184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3  Structuring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758184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Split into transfers parked just under the reporting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2511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4  Cash-out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25112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Drained via ATM/AePS at 03:12 — out of the banking system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920240"/>
            <a:ext cx="5257800" cy="32004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1671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61708A"/>
                </a:solidFill>
                <a:latin typeface="Segoe UI"/>
              </a:rPr>
              <a:t>WHY TODAY'S RULE ENGINES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56032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8FA3C0"/>
                </a:solidFill>
                <a:latin typeface="Segoe UI"/>
              </a:rPr>
              <a:t>They score accounts in isolation, so they cannot express “this account's counterparties are themselves suspicious” or “these forty credits arrived in ninety minutes”. Lacking the vocabulary, they compensate with sensitivity.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931920"/>
            <a:ext cx="2286000" cy="100584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5976" y="4059936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FF8C42"/>
                </a:solidFill>
                <a:latin typeface="Segoe UI"/>
              </a:rPr>
              <a:t>9,647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5720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ALERTS RAISED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3931920"/>
            <a:ext cx="2240280" cy="100584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059936"/>
            <a:ext cx="1984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FF4D5E"/>
                </a:solidFill>
                <a:latin typeface="Segoe UI"/>
              </a:rPr>
              <a:t>1.33%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57200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PRECISION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6EDF7"/>
                </a:solidFill>
                <a:latin typeface="Segoe UI"/>
              </a:rPr>
              <a:t>99 of every 100 investigations are wasted. That is the number we set out to fix.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THE CORE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Aggregates destroy the signal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The same monthly totals describe a shopkeeper and a mule. Only the ordering separates them — and no aggregate preserves order.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SHOPKEEPER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“Received ₹4 lakh from 38 payers over the month.”
Spread across weeks. Money rests. Counterparties repeat.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2402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4D5E"/>
                </a:solidFill>
                <a:latin typeface="Segoe UI"/>
              </a:rPr>
              <a:t>MULE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“Received ₹4 lakh from 38 payers between 14:10 and 15:40, then withdrew ₹3.8 lakh in nineteen ATM visits beginning at 03:12.”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E6EDF7"/>
                </a:solidFill>
                <a:latin typeface="Segoe UI"/>
              </a:rPr>
              <a:t>Identical aggregates. Completely different sequence.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321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So the ensemble is not three flavours of the same tabular model. It is a tabular model, a graph neural network and a temporal model — each seeing something the other two structurally cannot.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Nine layers, each owned by a named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Declared input/output contracts, so the provenance of every decision is recoverable from the audit trail.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20"/>
            <a:ext cx="10881360" cy="1298448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9842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DA3FF"/>
                </a:solidFill>
                <a:latin typeface="Segoe UI"/>
              </a:rPr>
              <a:t>INGEST &amp; ENRICH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276856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DA3FF"/>
                </a:solidFill>
                <a:latin typeface="Consolas"/>
              </a:rPr>
              <a:t>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7685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Transaction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276856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UPI · IMPS · NEFT · RTGS · AePS · ATM · card + NCRP tickets + RBI feeds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DA3FF"/>
                </a:solidFill>
                <a:latin typeface="Consolas"/>
              </a:rPr>
              <a:t>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55117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Feature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551176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60 features: velocity, fan-in/out, dormancy, burst, structuring, device reuse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825496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DA3FF"/>
                </a:solidFill>
                <a:latin typeface="Consolas"/>
              </a:rPr>
              <a:t>L3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2549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Graph construction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2825496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accounts × devices × IPs × VPAs, shared-identifier cliques capped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19272"/>
            <a:ext cx="10881360" cy="1298448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429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D5CFF"/>
                </a:solidFill>
                <a:latin typeface="Segoe UI"/>
              </a:rPr>
              <a:t>DETECT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21608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5CFF"/>
                </a:solidFill>
                <a:latin typeface="Consolas"/>
              </a:rPr>
              <a:t>L4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72160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XGBoost screening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3721608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tabular behaviour → exact TreeSHAP attributions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995928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5CFF"/>
                </a:solidFill>
                <a:latin typeface="Consolas"/>
              </a:rPr>
              <a:t>L5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592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GraphSAGE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3995928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network structure → rings, device farms, multi-hop layering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270248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5CFF"/>
                </a:solidFill>
                <a:latin typeface="Consolas"/>
              </a:rPr>
              <a:t>L6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27024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Temporal graph network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70248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event ordering → smurfing, dormant bursts, rapid routing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764024"/>
            <a:ext cx="10881360" cy="1298448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48737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2ECC9B"/>
                </a:solidFill>
                <a:latin typeface="Segoe UI"/>
              </a:rPr>
              <a:t>DECIDE &amp; 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166360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Consolas"/>
              </a:rPr>
              <a:t>L7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16636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Risk fusion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516636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monotone non-negative blend, isotonic calibrated 0–100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5440680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Consolas"/>
              </a:rPr>
              <a:t>L8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544068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Explainability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544068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TreeSHAP + GNNExplainer + plain-English narrative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5715000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Consolas"/>
              </a:rPr>
              <a:t>L9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5715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Alerting &amp; kill-switch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71500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proportionate, corroborated, reversible, audited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1708A"/>
                </a:solidFill>
                <a:latin typeface="Segoe UI"/>
              </a:rPr>
              <a:t>BODHI SHIELD (APK static triage) feeds extracted UPI handles and beneficiary accounts into Layer 3 — priming the graph before the first victim installs the trojan.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LAYERS 4–6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Three views that cannot see each other's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35608"/>
            <a:ext cx="3520440" cy="34290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64208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DA3FF"/>
                </a:solidFill>
                <a:latin typeface="Segoe UI"/>
              </a:rPr>
              <a:t>LAYER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E6EDF7"/>
                </a:solidFill>
                <a:latin typeface="Segoe UI"/>
              </a:rPr>
              <a:t>XGBoost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41448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SEES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42616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Aggregates per account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912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CATCHES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392424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Volume, ratios, cash-out share, structuring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41064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BLIND 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42232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8C42"/>
                </a:solidFill>
                <a:latin typeface="Segoe UI"/>
              </a:rPr>
              <a:t>Who the counterparties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31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Consolas"/>
              </a:rPr>
              <a:t>AUC 0.9946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1435608"/>
            <a:ext cx="3520440" cy="34290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1664208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D5CFF"/>
                </a:solidFill>
                <a:latin typeface="Segoe UI"/>
              </a:rPr>
              <a:t>LAYER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1920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E6EDF7"/>
                </a:solidFill>
                <a:latin typeface="Segoe UI"/>
              </a:rPr>
              <a:t>GraphSAGE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1144" y="2441448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SEES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642616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Two-hop neighbourhood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31912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CATCHES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3392424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Rings, device farms, multi-hop layering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3941064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BLIND 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4142232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8C42"/>
                </a:solidFill>
                <a:latin typeface="Segoe UI"/>
              </a:rPr>
              <a:t>When things happened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44531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5CFF"/>
                </a:solidFill>
                <a:latin typeface="Consolas"/>
              </a:rPr>
              <a:t>AUC 0.9962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1435608"/>
            <a:ext cx="3520440" cy="34290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6" y="1664208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2ECC9B"/>
                </a:solidFill>
                <a:latin typeface="Segoe UI"/>
              </a:rPr>
              <a:t>LAYER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1920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E6EDF7"/>
                </a:solidFill>
                <a:latin typeface="Segoe UI"/>
              </a:rPr>
              <a:t>Temporal GNN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2441448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SEES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2642616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Last 64 events, in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31912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CATCHES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3392424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Smurfing, dormant bursts, rapid 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3941064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BLIND 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6" y="4142232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8C42"/>
                </a:solidFill>
                <a:latin typeface="Segoe UI"/>
              </a:rPr>
              <a:t>Anything outside the account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6" y="44531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CC9B"/>
                </a:solidFill>
                <a:latin typeface="Consolas"/>
              </a:rPr>
              <a:t>AUC 0.9628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532120"/>
            <a:ext cx="10881360" cy="74980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66928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Both neural layers are implemented in NumPy with hand-derived gradients — no PyTorch, no CUDA, no 2 GB of wheels. Every analytic gradient is verified against central finite differences in the test suite, so “hand-rolled” does not mean “unverified”.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LAYER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Fusion: two properties that are not negotiable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5349240" cy="214884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0992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MONOTONICITY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7568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Blend weights are constrained non-negative, so more evidence can never lower a score. An unconstrained stacker on a small fold reliably learns “higher temporal score means safer” — indefensible to an investigator, unshippable past a regulator.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81328"/>
            <a:ext cx="5349240" cy="214884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0992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CC9B"/>
                </a:solidFill>
                <a:latin typeface="Segoe UI"/>
              </a:rPr>
              <a:t>CALIBRATION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75688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The score drives an automated kill-switch at 85, so it has to mean what it says. Isotonic regression maps the blend onto observed frequencies.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779776"/>
            <a:ext cx="2331720" cy="74980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907792"/>
            <a:ext cx="2075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2ECC9B"/>
                </a:solidFill>
                <a:latin typeface="Segoe UI"/>
              </a:rPr>
              <a:t>0.00125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163824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BRIER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2779776"/>
            <a:ext cx="2331720" cy="74980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907792"/>
            <a:ext cx="2075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2ECC9B"/>
                </a:solidFill>
                <a:latin typeface="Segoe UI"/>
              </a:rPr>
              <a:t>0.0047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63824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EXPECTED CALIB. ERROR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10881360" cy="14173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61708A"/>
                </a:solidFill>
                <a:latin typeface="Segoe UI"/>
              </a:rPr>
              <a:t>FOUR FOLDS, NOT THREE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38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DA3FF"/>
                </a:solidFill>
                <a:latin typeface="Consolas"/>
              </a:rP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40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fits the base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138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5440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early-stops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138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ECC9B"/>
                </a:solidFill>
                <a:latin typeface="Consolas"/>
              </a:rPr>
              <a:t>fuse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440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fits the Layer-7 blend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5138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8C42"/>
                </a:solidFill>
                <a:latin typeface="Consolas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5440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touched exactly once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61708A"/>
                </a:solidFill>
                <a:latin typeface="Segoe UI"/>
              </a:rPr>
              <a:t>A stacker fitted on the fold that early-stopped its own inputs inherits their optimism — and came out worse than the best single layer.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Every layer, on held-out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12,000 accounts · 834,738 transactions · 151 mules (1.26%) · 21 rings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92024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PR-AUC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920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P@1%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20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R@1%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76272"/>
            <a:ext cx="6492240" cy="12700"/>
          </a:xfrm>
          <a:prstGeom prst="rect">
            <a:avLst/>
          </a:prstGeom>
          <a:solidFill>
            <a:srgbClr val="23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XGBoost (L4)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286000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0.9946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286000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0.9540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286000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286000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0.781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679192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GraphSAGE (L5)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679192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0.9962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679192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0.9481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2679192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679192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0.781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072384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TGN (L6)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072384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0.9628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072384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0.8036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3072384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0.892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072384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0.709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465576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Intelligence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465576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0.6883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3465576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0.3774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3465576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0.475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465576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0.378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813048"/>
            <a:ext cx="6675120" cy="4114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12700">
            <a:solidFill>
              <a:srgbClr val="4D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858768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Fused (L7)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3858768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0.9966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3858768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0.9707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858768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0.992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858768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0.788</a:t>
            </a:r>
          </a:p>
        </p:txBody>
      </p:sp>
      <p:pic>
        <p:nvPicPr>
          <p:cNvPr id="39" name="Picture 38" descr="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874520"/>
            <a:ext cx="4069080" cy="1709014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640080" y="4892040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The fused model beats every individual view on both ranking metrics — which is the complementarity claim, measured.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440680"/>
            <a:ext cx="2103120" cy="8686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5568696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2ECC9B"/>
                </a:solidFill>
                <a:latin typeface="Segoe UI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59436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OUT-OF-TIME RECALL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80360" y="5440680"/>
            <a:ext cx="2103120" cy="8686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08376" y="5568696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4DA3FF"/>
                </a:solidFill>
                <a:latin typeface="Segoe UI"/>
              </a:rPr>
              <a:t>64%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71800" y="59436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NEVER IN ANY NCRP TICKET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20640" y="5440680"/>
            <a:ext cx="2103120" cy="8686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48656" y="5568696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7D5CFF"/>
                </a:solidFill>
                <a:latin typeface="Segoe UI"/>
              </a:rPr>
              <a:t>0.113 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9436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INLINE DECISION P99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Versus the rule engine it replaces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Compared at identical recall — because a system that alerts on everything can always claim to catch more.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120640" cy="283464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F8C42"/>
                </a:solidFill>
                <a:latin typeface="Segoe UI"/>
              </a:rPr>
              <a:t>RULE ENGINE  ·  8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Alerts raised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6517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E6EDF7"/>
                </a:solidFill>
                <a:latin typeface="Segoe UI"/>
              </a:rPr>
              <a:t>9,647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2724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True positives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12724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E6EDF7"/>
                </a:solidFill>
                <a:latin typeface="Segoe UI"/>
              </a:rPr>
              <a:t>128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273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False positives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602736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4D5E"/>
                </a:solidFill>
                <a:latin typeface="Segoe UI"/>
              </a:rPr>
              <a:t>9,519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782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Precision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078224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4D5E"/>
                </a:solidFill>
                <a:latin typeface="Segoe UI"/>
              </a:rPr>
              <a:t>1.33%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97880" y="3154680"/>
            <a:ext cx="502920" cy="365760"/>
          </a:xfrm>
          <a:prstGeom prst="rightArrow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965960"/>
            <a:ext cx="4983480" cy="283464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19050">
            <a:solidFill>
              <a:srgbClr val="2EC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19456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CC9B"/>
                </a:solidFill>
                <a:latin typeface="Segoe UI"/>
              </a:rPr>
              <a:t>BODHI  ·  SAME 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6517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Alerts raised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517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ECC9B"/>
                </a:solidFill>
                <a:latin typeface="Segoe UI"/>
              </a:rPr>
              <a:t>129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12724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True positives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12724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ECC9B"/>
                </a:solidFill>
                <a:latin typeface="Segoe UI"/>
              </a:rPr>
              <a:t>128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60273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False positives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602736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ECC9B"/>
                </a:solidFill>
                <a:latin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0782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Precision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4078224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ECC9B"/>
                </a:solidFill>
                <a:latin typeface="Segoe UI"/>
              </a:rPr>
              <a:t>99.22%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4000"/>
            </a:avLst>
          </a:prstGeom>
          <a:solidFill>
            <a:srgbClr val="0F2A22"/>
          </a:solidFill>
          <a:ln w="9525">
            <a:solidFill>
              <a:srgbClr val="2EC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E6EDF7"/>
                </a:solidFill>
                <a:latin typeface="Segoe UI"/>
              </a:rPr>
              <a:t>99.99% of false positives eliminated at unchanged recall — a 75× precision uplift. The analyst clears the same true positives while opening 129 cases instead of 9,647.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WHY THAT NUMBER IS CREDIBLE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We planted the accounts designed to break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Any model scores ~1.0 AUC on naive synthetic fraud data. So the simulated bank is stocked with legitimate accounts that are structurally indistinguishable from mules.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LEGITIMATE POPULATION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920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9202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FALSE-POSITIVE 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76272"/>
            <a:ext cx="6675120" cy="12700"/>
          </a:xfrm>
          <a:prstGeom prst="rect">
            <a:avLst/>
          </a:prstGeom>
          <a:solidFill>
            <a:srgbClr val="23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Business Correspondent (Bank Mitra)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286000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302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286000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0.33%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06624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Community collectors (chit fund, tuition)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706624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706624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2.80%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27248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Small businesses with heavy fan-in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127248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127248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0.00%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47872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Genuine dormancy reactivation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547872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3547872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3.57%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68496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Ordinary retail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968496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10,504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3968496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0.77%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1874520"/>
            <a:ext cx="3840480" cy="30175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0312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8C42"/>
                </a:solidFill>
                <a:latin typeface="Segoe UI"/>
              </a:rPr>
              <a:t>THE HARDEST DECOY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2468880"/>
            <a:ext cx="3291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A Business Correspondent legitimately operates 8–22 village accounts from one handheld and dispenses AePS cash all day.
That is the exact fingerprint of a device farm doing rapid cash-out — and the system does not fall for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9377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61708A"/>
                </a:solidFill>
                <a:latin typeface="Segoe UI"/>
              </a:rPr>
              <a:t>OTHER GUARDS AGAINST FLATTERING OURSELVES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8523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Four disjoint folds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5955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test touched exactly once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28523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Cross-fitted seed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55955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no label leaks into a neighbour's average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28523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Intelligence quarantined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555955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NCRP tickets never reach the supervised layers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528523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Point-in-time correctness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555955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tested against a manually truncated ledger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WHERE IT IS WEAK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Recall is not uniform, and averaging hides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 deployment team needs to know which typologies still need human-designed scenarios alongside the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TYPOLOGY /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20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920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DETECTED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76272"/>
            <a:ext cx="5760720" cy="12700"/>
          </a:xfrm>
          <a:prstGeom prst="rect">
            <a:avLst/>
          </a:prstGeom>
          <a:solidFill>
            <a:srgbClr val="23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SMURFING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4D5E"/>
                </a:solidFill>
                <a:latin typeface="Segoe UI"/>
              </a:rPr>
              <a:t>88.9%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2860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16/18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role: CASHOUT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6517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92.1%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6517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35/38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FAN IN AGGREGATION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0175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93.3%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0175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14/15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LAYERING 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3832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98.3%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832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58/59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49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role: COLLECTOR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749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98.3%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749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59/60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1148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APK HARVEST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114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100.0%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114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15/15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805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DEVICE FARM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44805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100.0%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4805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31/31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463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DORMANT BURST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48463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100.0%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13/13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12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role: RELAY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100.0%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53/53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66560" y="1874520"/>
            <a:ext cx="4754880" cy="35661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10312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8C42"/>
                </a:solidFill>
                <a:latin typeface="Segoe UI"/>
              </a:rPr>
              <a:t>WHY STRUCTURING IS THE HARDEST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2468880"/>
            <a:ext cx="4206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A single sub-threshold transfer is, by construction, indistinguishable from a genuine near-threshold property or jewellery payment. Detection depends on an aggregate pattern that only becomes visible once enough transfers have accumulated.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393192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8C42"/>
                </a:solidFill>
                <a:latin typeface="Segoe UI"/>
              </a:rPr>
              <a:t>AND CASH-OUT ACCOUNTS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29768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Short, thin histories — they receive once and drain. There is simply less evidence to work with.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6EDF7"/>
                </a:solidFill>
                <a:latin typeface="Segoe UI"/>
              </a:rPr>
              <a:t>We report these rather than averaging them away. A prototype that hides its blind spots is not useful to the team that has to deploy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The investigator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Four layer scores shown separately, evidence written in the vocabulary of an AML desk, cluster and exposure on every card.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investigate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1874520"/>
            <a:ext cx="7095744" cy="4434840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LAYER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Explanations specific enough to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shap_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89888"/>
            <a:ext cx="5394960" cy="3371850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pic>
        <p:nvPicPr>
          <p:cNvPr id="7" name="Picture 6" descr="03_network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89888"/>
            <a:ext cx="5349240" cy="3343275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Exact TreeSHAP — attributions sum to the model's margin, not an approximation of it. Rendered as sentences, not feature names: “94% of every rupee credited left within 60 minutes — the account is a conduit, not a destination.”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120640"/>
            <a:ext cx="5349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GNNExplainer learns a mask over the two-hop neighbourhood — answering which relationships drove the score, which SHAP structurally cannot. Dashed edges are shared-device links, invisible to any tabular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FOLLOWING THE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Time-respecting multi-hop trails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Every hop must occur after the previous one — money cannot be forwarded before it arrives. Value retention exposes each mule's commission.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money_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6949440" cy="4343400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863840" y="1874520"/>
            <a:ext cx="3657600" cy="29260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DA3FF"/>
                </a:solidFill>
                <a:latin typeface="Segoe UI"/>
              </a:rPr>
              <a:t>THE TELL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4688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A laundering chain leaks 2–10% at every hop as the handler's cut.
Legitimate payment chains simply do not have that shape — which is why value retention is shown on every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LAYER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Containment that can refuse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 wrongly frozen account is somebody unable to pay for medicine. No AUC improvement justifies being casual about that.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4825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Proportionality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66544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below 85 the automation cannot freeze at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78608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0662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Corroboration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72491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a full freeze needs ≥2 independent layers agreeing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36976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Reversibility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38328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every action carries a TTL and can be reverted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95344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Rate limiting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04164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bounded automated freezes per hour caps blast radius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53712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8172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Protected accounts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0016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salary, pension and benefit accounts always go to a human</a:t>
            </a:r>
          </a:p>
        </p:txBody>
      </p:sp>
      <p:pic>
        <p:nvPicPr>
          <p:cNvPr id="22" name="Picture 21" descr="05_kill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920240"/>
            <a:ext cx="4800600" cy="3000375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When a constraint fires, the action is downgraded — never escalated — and flagged for human review. Every decision, including every refusal, is written to a hash-chained audit log whose head hash can be externally anchored.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ECOSYSTEM SYNERGY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BODHI SHIELD → BODHI MULE HUNTER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Malware analysis priming fraud controls before the first victim installs the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shield_a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6858000" cy="4286250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18120" y="192024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Parse manifest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7627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binary AndroidManifest.xml string pool, to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67004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6700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Score combinations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9260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READ_SMS alone is a messaging app; + accessibility + overlay is a trojan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41985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4198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Mine the 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67588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UPI handles, IFSC codes, accounts, C2 endpoints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16966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16966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Hand 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425696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identifiers become weighted nodes in the fraud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How it fits a real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The split between scheduled graph work and the inline path is what makes a UPI-latency decision possible at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4D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Core banking / switch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815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8FA3C0"/>
                </a:solidFill>
                <a:latin typeface="Segoe UI"/>
              </a:rPr>
              <a:t>Kafka event stream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14884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4D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L1–L2 streaming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0815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8FA3C0"/>
                </a:solidFill>
                <a:latin typeface="Segoe UI"/>
              </a:rPr>
              <a:t>feature store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14884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7D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L3/L5/L6 batch
(scheduled)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815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8FA3C0"/>
                </a:solidFill>
                <a:latin typeface="Segoe UI"/>
              </a:rPr>
              <a:t>standing risk cache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214884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EC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37744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Inline decision
&lt; 0.1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30815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8FA3C0"/>
                </a:solidFill>
                <a:latin typeface="Segoe UI"/>
              </a:rPr>
              <a:t>ALLOW · REVIEW · HOLD · BLOCK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148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61708A"/>
                </a:solidFill>
                <a:latin typeface="Segoe UI"/>
              </a:rPr>
              <a:t>MEASURED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6227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Simulate the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46227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7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6402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Feature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764024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~4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6577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Graph construction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0657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~3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67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Full training, all layers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536752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~123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Full population re-score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56692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~38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7103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Inline decision (p50)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597103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0.054 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411480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3159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61708A"/>
                </a:solidFill>
                <a:latin typeface="Segoe UI"/>
              </a:rPr>
              <a:t>WHY THIS SPLIT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6634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The graph and temporal layers run on a schedule and cache a standing risk per account. The authorisation path combines those cached scores with the transaction's own attributes and never traverses the graph — which is the only way a decision is feasible at payment latencies.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Stated plainly, because hiding them helps nobody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Simulated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89888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Demonstrates the architecture beats a rule engine on data with realistic decoys. Not a forecast of production 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Static APK analysis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03120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The dynamic sandbox with runtime hooking needs an instrumented Android image; it cannot ship self-contained.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Graph layers are not real-time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816352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~38 s full re-score. An account whose neighbourhood changed since the last batch is scored on slightly stale structure.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295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Single-institution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529584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Rings routing through several banks are only partly visible — a data-sharing problem, not a modelling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4281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Cold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242816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The strongest feature is neighbourhood risk propagated from confirmed cases; with zero known mules performance drops materially.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5604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Disparate impact unevaluated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956048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Minimum-KYC and shared-device features are predictive but correlate with lower-income households. Alert-rate parity must be measured before go-live.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0" y="-914400"/>
            <a:ext cx="8229600" cy="5486400"/>
          </a:xfrm>
          <a:prstGeom prst="round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400" b="1">
                <a:solidFill>
                  <a:srgbClr val="E6EDF7"/>
                </a:solidFill>
                <a:latin typeface="Segoe UI"/>
              </a:rPr>
              <a:t>Mule detection fails today not because the
signal is absent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>
                <a:solidFill>
                  <a:srgbClr val="4DA3FF"/>
                </a:solidFill>
                <a:latin typeface="Segoe UI"/>
              </a:rPr>
              <a:t>— but because single-account rule engines cannot express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8FA3C0"/>
                </a:solidFill>
                <a:latin typeface="Segoe UI"/>
              </a:rPr>
              <a:t>Three complementary views, fused under a monotonicity constraint into a calibrated score, cut false positives by 99.99% at unchanged recall — with explanations specific enough to file and containment cautious enough to automate.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7200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470001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E6EDF7"/>
                </a:solidFill>
                <a:latin typeface="Segoe UI"/>
              </a:rPr>
              <a:t>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663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TESTS PASSING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457200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470001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E6EDF7"/>
                </a:solidFill>
                <a:latin typeface="Segoe UI"/>
              </a:rPr>
              <a:t>~12.3k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1663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LINES OF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457200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0176" y="470001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E6EDF7"/>
                </a:solidFill>
                <a:latin typeface="Segoe U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1663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LAYERS, ALL RUNNING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457200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4776" y="470001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E6EDF7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51663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EXTERNAL ML FRAMEWORKS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1708A"/>
                </a:solidFill>
                <a:latin typeface="Consolas"/>
              </a:rPr>
              <a:t>make setup &amp;&amp; make all &amp;&amp; make serve      ·      github.com/deepakvish001/BOI-Hackathon-Prototype-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