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-1828800" y="-1371600"/>
            <a:ext cx="8229600" cy="5486400"/>
          </a:xfrm>
          <a:prstGeom prst="round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777240" cy="777240"/>
          </a:xfrm>
          <a:prstGeom prst="roundRect">
            <a:avLst/>
          </a:prstGeom>
          <a:solidFill>
            <a:srgbClr val="4DA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36192"/>
            <a:ext cx="777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0B0F17"/>
                </a:solidFill>
                <a:latin typeface="Segoe UI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417320"/>
            <a:ext cx="9144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4600" b="1">
                <a:solidFill>
                  <a:srgbClr val="E6EDF7"/>
                </a:solidFill>
                <a:latin typeface="Segoe UI"/>
              </a:rPr>
              <a:t>BODHI MULE HUNTER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212848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0">
                <a:solidFill>
                  <a:srgbClr val="4DA3FF"/>
                </a:solidFill>
                <a:latin typeface="Segoe UI"/>
              </a:rPr>
              <a:t>Real-time mule account &amp; suspicious transaction detection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63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600" b="0">
                <a:solidFill>
                  <a:srgbClr val="8FA3C0"/>
                </a:solidFill>
                <a:latin typeface="Segoe UI"/>
              </a:rPr>
              <a:t>Nine layers. Three complementary model views. One calibrated score an investigator can act on — and a containment layer that refuses to act without corroboration.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297680"/>
            <a:ext cx="2048256" cy="1051560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4425696"/>
            <a:ext cx="17922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E6EDF7"/>
                </a:solidFill>
                <a:latin typeface="Segoe UI"/>
              </a:rPr>
              <a:t>0.9966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983480"/>
            <a:ext cx="1865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1708A"/>
                </a:solidFill>
                <a:latin typeface="Segoe UI"/>
              </a:rPr>
              <a:t>FUSED ROC-AUC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80944" y="4297680"/>
            <a:ext cx="2048256" cy="1051560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08960" y="4425696"/>
            <a:ext cx="17922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E6EDF7"/>
                </a:solidFill>
                <a:latin typeface="Segoe UI"/>
              </a:rPr>
              <a:t>0.9707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72384" y="4983480"/>
            <a:ext cx="1865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1708A"/>
                </a:solidFill>
                <a:latin typeface="Segoe UI"/>
              </a:rPr>
              <a:t>FUSED PR-AUC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38928" y="4297680"/>
            <a:ext cx="2048256" cy="1051560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66944" y="4425696"/>
            <a:ext cx="17922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2ECC9B"/>
                </a:solidFill>
                <a:latin typeface="Segoe UI"/>
              </a:rPr>
              <a:t>99.99%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30368" y="4983480"/>
            <a:ext cx="1865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1708A"/>
                </a:solidFill>
                <a:latin typeface="Segoe UI"/>
              </a:rPr>
              <a:t>FALSE POSITIVES CUT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96912" y="4297680"/>
            <a:ext cx="2048256" cy="1051560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24928" y="4425696"/>
            <a:ext cx="17922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2ECC9B"/>
                </a:solidFill>
                <a:latin typeface="Segoe UI"/>
              </a:rPr>
              <a:t>75×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88352" y="4983480"/>
            <a:ext cx="1865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1708A"/>
                </a:solidFill>
                <a:latin typeface="Segoe UI"/>
              </a:rPr>
              <a:t>PRECISION UPLIFT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54896" y="4297680"/>
            <a:ext cx="2048256" cy="1051560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82912" y="4425696"/>
            <a:ext cx="17922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4DA3FF"/>
                </a:solidFill>
                <a:latin typeface="Segoe UI"/>
              </a:rPr>
              <a:t>0.054 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46336" y="4983480"/>
            <a:ext cx="1865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1708A"/>
                </a:solidFill>
                <a:latin typeface="Segoe UI"/>
              </a:rPr>
              <a:t>INLINE DECISION P50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596128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E6EDF7"/>
                </a:solidFill>
                <a:latin typeface="Segoe UI"/>
              </a:rPr>
              <a:t>Akshay Tiwari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852160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61708A"/>
                </a:solidFill>
                <a:latin typeface="Consolas"/>
              </a:rPr>
              <a:t>0246CS241037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37560" y="5596128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E6EDF7"/>
                </a:solidFill>
                <a:latin typeface="Segoe UI"/>
              </a:rPr>
              <a:t>Palak Vishwakarma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5852160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61708A"/>
                </a:solidFill>
                <a:latin typeface="Consolas"/>
              </a:rPr>
              <a:t>0246AL241124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160" y="5596128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E6EDF7"/>
                </a:solidFill>
                <a:latin typeface="Segoe UI"/>
              </a:rPr>
              <a:t>Archi Singh Rajput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2160" y="5852160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61708A"/>
                </a:solidFill>
                <a:latin typeface="Consolas"/>
              </a:rPr>
              <a:t>0246CS240174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5596128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E6EDF7"/>
                </a:solidFill>
                <a:latin typeface="Segoe UI"/>
              </a:rPr>
              <a:t>Kartik Jain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6760" y="5852160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61708A"/>
                </a:solidFill>
                <a:latin typeface="Consolas"/>
              </a:rPr>
              <a:t>0246AL241094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272784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1708A"/>
                </a:solidFill>
                <a:latin typeface="Segoe UI"/>
              </a:rPr>
              <a:t>Team BODHI   ·   CyberShield Hackathon 2026 - Problem Statement 2   ·   In association with Bank of India and IIT Hyderabad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DA3FF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E6EDF7"/>
                </a:solidFill>
                <a:latin typeface="Segoe UI"/>
              </a:rPr>
              <a:t>A mule account is a normal account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8FA3C0"/>
                </a:solidFill>
                <a:latin typeface="Segoe UI"/>
              </a:rPr>
              <a:t>Real KYC. Real customer. Payments clear. Nothing about the account is anomalous — only the shape of the money moving through it, and the company it keeps.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07008"/>
            <a:ext cx="1005840" cy="31750"/>
          </a:xfrm>
          <a:prstGeom prst="rect">
            <a:avLst/>
          </a:prstGeom>
          <a:solidFill>
            <a:srgbClr val="4DA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5257800" cy="3200400"/>
          </a:xfrm>
          <a:prstGeom prst="roundRect">
            <a:avLst>
              <a:gd name="adj" fmla="val 4000"/>
            </a:avLst>
          </a:prstGeom>
          <a:solidFill>
            <a:srgbClr val="121826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61708A"/>
                </a:solidFill>
                <a:latin typeface="Segoe UI"/>
              </a:rPr>
              <a:t>HOW A MULE RING ACTUALLY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24328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4DA3FF"/>
                </a:solidFill>
                <a:latin typeface="Segoe UI"/>
              </a:rPr>
              <a:t>1  Victims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2624328"/>
            <a:ext cx="3520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8FA3C0"/>
                </a:solidFill>
                <a:latin typeface="Segoe UI"/>
              </a:rPr>
              <a:t>40 defrauded people push money into one collector, in 90 minutes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91256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4DA3FF"/>
                </a:solidFill>
                <a:latin typeface="Segoe UI"/>
              </a:rPr>
              <a:t>2  Layering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3191256"/>
            <a:ext cx="3520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8FA3C0"/>
                </a:solidFill>
                <a:latin typeface="Segoe UI"/>
              </a:rPr>
              <a:t>A → B → C → D within minutes, each hop keeping 2–10%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58184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4DA3FF"/>
                </a:solidFill>
                <a:latin typeface="Segoe UI"/>
              </a:rPr>
              <a:t>3  Structuring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3758184"/>
            <a:ext cx="3520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8FA3C0"/>
                </a:solidFill>
                <a:latin typeface="Segoe UI"/>
              </a:rPr>
              <a:t>Split into transfers parked just under the reporting limit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325112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4DA3FF"/>
                </a:solidFill>
                <a:latin typeface="Segoe UI"/>
              </a:rPr>
              <a:t>4  Cash-out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4325112"/>
            <a:ext cx="3520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8FA3C0"/>
                </a:solidFill>
                <a:latin typeface="Segoe UI"/>
              </a:rPr>
              <a:t>Drained via ATM/AePS at 03:12 — out of the banking system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920240"/>
            <a:ext cx="5257800" cy="3200400"/>
          </a:xfrm>
          <a:prstGeom prst="roundRect">
            <a:avLst>
              <a:gd name="adj" fmla="val 4000"/>
            </a:avLst>
          </a:prstGeom>
          <a:solidFill>
            <a:srgbClr val="121826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216712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61708A"/>
                </a:solidFill>
                <a:latin typeface="Segoe UI"/>
              </a:rPr>
              <a:t>WHY TODAY'S RULE ENGINES FAIL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2560320"/>
            <a:ext cx="47548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0">
                <a:solidFill>
                  <a:srgbClr val="8FA3C0"/>
                </a:solidFill>
                <a:latin typeface="Segoe UI"/>
              </a:rPr>
              <a:t>They score accounts in isolation, so they cannot express “this account's counterparties are themselves suspicious” or “these forty credits arrived in ninety minutes”. Lacking the vocabulary, they compensate with sensitivity.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37960" y="3931920"/>
            <a:ext cx="2286000" cy="1005840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5976" y="4059936"/>
            <a:ext cx="20299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FF8C42"/>
                </a:solidFill>
                <a:latin typeface="Segoe UI"/>
              </a:rPr>
              <a:t>9,647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457200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1708A"/>
                </a:solidFill>
                <a:latin typeface="Segoe UI"/>
              </a:rPr>
              <a:t>ALERTS RAISED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52560" y="3931920"/>
            <a:ext cx="2240280" cy="1005840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80576" y="4059936"/>
            <a:ext cx="19842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FF4D5E"/>
                </a:solidFill>
                <a:latin typeface="Segoe UI"/>
              </a:rPr>
              <a:t>1.33%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457200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1708A"/>
                </a:solidFill>
                <a:latin typeface="Segoe UI"/>
              </a:rPr>
              <a:t>PRECISION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E6EDF7"/>
                </a:solidFill>
                <a:latin typeface="Segoe UI"/>
              </a:rPr>
              <a:t>99 of every 100 investigations are wasted. That is the number we set out to fix.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BODHI MULE HUNTER AI  ·  CyberShield Hackathon 2026  ·  Problem Statement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DA3FF"/>
                </a:solidFill>
                <a:latin typeface="Segoe UI"/>
              </a:rPr>
              <a:t>THE CORE 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E6EDF7"/>
                </a:solidFill>
                <a:latin typeface="Segoe UI"/>
              </a:rPr>
              <a:t>Aggregates destroy the signal that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8FA3C0"/>
                </a:solidFill>
                <a:latin typeface="Segoe UI"/>
              </a:rPr>
              <a:t>The same monthly totals describe a shopkeeper and a mule. Only the ordering separates them — and no aggregate preserves order.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07008"/>
            <a:ext cx="1005840" cy="31750"/>
          </a:xfrm>
          <a:prstGeom prst="rect">
            <a:avLst/>
          </a:prstGeom>
          <a:solidFill>
            <a:srgbClr val="4DA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2011680"/>
            <a:ext cx="5257800" cy="2286000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24028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ECC9B"/>
                </a:solidFill>
                <a:latin typeface="Segoe UI"/>
              </a:rPr>
              <a:t>SHOPKEEPER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5176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0">
                <a:solidFill>
                  <a:srgbClr val="8FA3C0"/>
                </a:solidFill>
                <a:latin typeface="Segoe UI"/>
              </a:rPr>
              <a:t>“Received ₹4 lakh from 38 payers over the month.”
Spread across weeks. Money rests. Counterparties repeat.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011680"/>
            <a:ext cx="5257800" cy="2286000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24028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FF4D5E"/>
                </a:solidFill>
                <a:latin typeface="Segoe UI"/>
              </a:rPr>
              <a:t>MULE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651760"/>
            <a:ext cx="47548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0">
                <a:solidFill>
                  <a:srgbClr val="8FA3C0"/>
                </a:solidFill>
                <a:latin typeface="Segoe UI"/>
              </a:rPr>
              <a:t>“Received ₹4 lakh from 38 payers between 14:10 and 15:40, then withdrew ₹3.8 lakh in nineteen ATM visits beginning at 03:12.”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029200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E6EDF7"/>
                </a:solidFill>
                <a:latin typeface="Segoe UI"/>
              </a:rPr>
              <a:t>Identical aggregates. Completely different sequence.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5321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>
                <a:solidFill>
                  <a:srgbClr val="8FA3C0"/>
                </a:solidFill>
                <a:latin typeface="Segoe UI"/>
              </a:rPr>
              <a:t>So the ensemble is not three flavours of the same tabular model. It is a tabular model, a graph neural network and a temporal model — each seeing something the other two structurally cannot.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BODHI MULE HUNTER AI  ·  CyberShield Hackathon 2026  ·  Problem Statement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DA3FF"/>
                </a:solidFill>
                <a:latin typeface="Segoe U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E6EDF7"/>
                </a:solidFill>
                <a:latin typeface="Segoe UI"/>
              </a:rPr>
              <a:t>Nine layers, each owned by a named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8FA3C0"/>
                </a:solidFill>
                <a:latin typeface="Segoe UI"/>
              </a:rPr>
              <a:t>Declared input/output contracts, so the provenance of every decision is recoverable from the audit trail.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07008"/>
            <a:ext cx="1005840" cy="31750"/>
          </a:xfrm>
          <a:prstGeom prst="rect">
            <a:avLst/>
          </a:prstGeom>
          <a:solidFill>
            <a:srgbClr val="4DA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874520"/>
            <a:ext cx="10881360" cy="1298448"/>
          </a:xfrm>
          <a:prstGeom prst="roundRect">
            <a:avLst>
              <a:gd name="adj" fmla="val 4000"/>
            </a:avLst>
          </a:prstGeom>
          <a:solidFill>
            <a:srgbClr val="121826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98424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DA3FF"/>
                </a:solidFill>
                <a:latin typeface="Segoe UI"/>
              </a:rPr>
              <a:t>INGEST &amp; ENRICH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276856"/>
            <a:ext cx="3840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4DA3FF"/>
                </a:solidFill>
                <a:latin typeface="Consolas"/>
              </a:rPr>
              <a:t>L1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27685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6EDF7"/>
                </a:solidFill>
                <a:latin typeface="Segoe UI"/>
              </a:rPr>
              <a:t>Transaction ingestion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2276856"/>
            <a:ext cx="749807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8FA3C0"/>
                </a:solidFill>
                <a:latin typeface="Segoe UI"/>
              </a:rPr>
              <a:t>UPI · IMPS · NEFT · RTGS · AePS · ATM · card + NCRP tickets + RBI feeds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2551176"/>
            <a:ext cx="3840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4DA3FF"/>
                </a:solidFill>
                <a:latin typeface="Consolas"/>
              </a:rPr>
              <a:t>L2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255117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6EDF7"/>
                </a:solidFill>
                <a:latin typeface="Segoe UI"/>
              </a:rPr>
              <a:t>Feature engineering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2551176"/>
            <a:ext cx="749807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8FA3C0"/>
                </a:solidFill>
                <a:latin typeface="Segoe UI"/>
              </a:rPr>
              <a:t>60 features: velocity, fan-in/out, dormancy, burst, structuring, device reuse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2825496"/>
            <a:ext cx="3840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4DA3FF"/>
                </a:solidFill>
                <a:latin typeface="Consolas"/>
              </a:rPr>
              <a:t>L3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82549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6EDF7"/>
                </a:solidFill>
                <a:latin typeface="Segoe UI"/>
              </a:rPr>
              <a:t>Graph construction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2825496"/>
            <a:ext cx="749807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8FA3C0"/>
                </a:solidFill>
                <a:latin typeface="Segoe UI"/>
              </a:rPr>
              <a:t>accounts × devices × IPs × VPAs, shared-identifier cliques capped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319272"/>
            <a:ext cx="10881360" cy="1298448"/>
          </a:xfrm>
          <a:prstGeom prst="roundRect">
            <a:avLst>
              <a:gd name="adj" fmla="val 4000"/>
            </a:avLst>
          </a:prstGeom>
          <a:solidFill>
            <a:srgbClr val="121826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34290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7D5CFF"/>
                </a:solidFill>
                <a:latin typeface="Segoe UI"/>
              </a:rPr>
              <a:t>DETECT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21608"/>
            <a:ext cx="3840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7D5CFF"/>
                </a:solidFill>
                <a:latin typeface="Consolas"/>
              </a:rPr>
              <a:t>L4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3721608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6EDF7"/>
                </a:solidFill>
                <a:latin typeface="Segoe UI"/>
              </a:rPr>
              <a:t>XGBoost screening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3721608"/>
            <a:ext cx="749807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8FA3C0"/>
                </a:solidFill>
                <a:latin typeface="Segoe UI"/>
              </a:rPr>
              <a:t>tabular behaviour → exact TreeSHAP attributions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3995928"/>
            <a:ext cx="3840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7D5CFF"/>
                </a:solidFill>
                <a:latin typeface="Consolas"/>
              </a:rPr>
              <a:t>L5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995928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6EDF7"/>
                </a:solidFill>
                <a:latin typeface="Segoe UI"/>
              </a:rPr>
              <a:t>GraphSAGE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4760" y="3995928"/>
            <a:ext cx="749807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8FA3C0"/>
                </a:solidFill>
                <a:latin typeface="Segoe UI"/>
              </a:rPr>
              <a:t>network structure → rings, device farms, multi-hop layering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4270248"/>
            <a:ext cx="3840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7D5CFF"/>
                </a:solidFill>
                <a:latin typeface="Consolas"/>
              </a:rPr>
              <a:t>L6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4270248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6EDF7"/>
                </a:solidFill>
                <a:latin typeface="Segoe UI"/>
              </a:rPr>
              <a:t>Temporal graph network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70248"/>
            <a:ext cx="749807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8FA3C0"/>
                </a:solidFill>
                <a:latin typeface="Segoe UI"/>
              </a:rPr>
              <a:t>event ordering → smurfing, dormant bursts, rapid routing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764024"/>
            <a:ext cx="10881360" cy="1298448"/>
          </a:xfrm>
          <a:prstGeom prst="roundRect">
            <a:avLst>
              <a:gd name="adj" fmla="val 4000"/>
            </a:avLst>
          </a:prstGeom>
          <a:solidFill>
            <a:srgbClr val="121826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" y="48737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2ECC9B"/>
                </a:solidFill>
                <a:latin typeface="Segoe UI"/>
              </a:rPr>
              <a:t>DECIDE &amp; ACT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5166360"/>
            <a:ext cx="3840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ECC9B"/>
                </a:solidFill>
                <a:latin typeface="Consolas"/>
              </a:rPr>
              <a:t>L7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25880" y="5166360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6EDF7"/>
                </a:solidFill>
                <a:latin typeface="Segoe UI"/>
              </a:rPr>
              <a:t>Risk fusion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94760" y="5166360"/>
            <a:ext cx="749807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8FA3C0"/>
                </a:solidFill>
                <a:latin typeface="Segoe UI"/>
              </a:rPr>
              <a:t>monotone non-negative blend, isotonic calibrated 0–100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5440680"/>
            <a:ext cx="3840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ECC9B"/>
                </a:solidFill>
                <a:latin typeface="Consolas"/>
              </a:rPr>
              <a:t>L8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5880" y="5440680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6EDF7"/>
                </a:solidFill>
                <a:latin typeface="Segoe UI"/>
              </a:rPr>
              <a:t>Explainability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94760" y="5440680"/>
            <a:ext cx="749807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8FA3C0"/>
                </a:solidFill>
                <a:latin typeface="Segoe UI"/>
              </a:rPr>
              <a:t>TreeSHAP + GNNExplainer + plain-English narrative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" y="5715000"/>
            <a:ext cx="3840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ECC9B"/>
                </a:solidFill>
                <a:latin typeface="Consolas"/>
              </a:rPr>
              <a:t>L9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25880" y="5715000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6EDF7"/>
                </a:solidFill>
                <a:latin typeface="Segoe UI"/>
              </a:rPr>
              <a:t>Alerting &amp; kill-switch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94760" y="5715000"/>
            <a:ext cx="749807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8FA3C0"/>
                </a:solidFill>
                <a:latin typeface="Segoe UI"/>
              </a:rPr>
              <a:t>proportionate, corroborated, reversible, audited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61264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61708A"/>
                </a:solidFill>
                <a:latin typeface="Segoe UI"/>
              </a:rPr>
              <a:t>BODHI SHIELD (APK static triage) feeds extracted UPI handles and beneficiary accounts into Layer 3 — priming the graph before the first victim installs the trojan.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BODHI MULE HUNTER AI  ·  CyberShield Hackathon 2026  ·  Problem Statement 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DA3FF"/>
                </a:solidFill>
                <a:latin typeface="Segoe UI"/>
              </a:rPr>
              <a:t>LAYERS 4–6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E6EDF7"/>
                </a:solidFill>
                <a:latin typeface="Segoe UI"/>
              </a:rPr>
              <a:t>Three views that cannot see each other's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07008"/>
            <a:ext cx="1005840" cy="31750"/>
          </a:xfrm>
          <a:prstGeom prst="rect">
            <a:avLst/>
          </a:prstGeom>
          <a:solidFill>
            <a:srgbClr val="4DA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435608"/>
            <a:ext cx="3520440" cy="3429000"/>
          </a:xfrm>
          <a:prstGeom prst="roundRect">
            <a:avLst>
              <a:gd name="adj" fmla="val 4000"/>
            </a:avLst>
          </a:prstGeom>
          <a:solidFill>
            <a:srgbClr val="121826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664208"/>
            <a:ext cx="3017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DA3FF"/>
                </a:solidFill>
                <a:latin typeface="Segoe UI"/>
              </a:rPr>
              <a:t>LAYER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192024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1">
                <a:solidFill>
                  <a:srgbClr val="E6EDF7"/>
                </a:solidFill>
                <a:latin typeface="Segoe UI"/>
              </a:rPr>
              <a:t>XGBoost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41448"/>
            <a:ext cx="30175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61708A"/>
                </a:solidFill>
                <a:latin typeface="Segoe UI"/>
              </a:rPr>
              <a:t>SEES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642616"/>
            <a:ext cx="3017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Aggregates per account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191256"/>
            <a:ext cx="30175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61708A"/>
                </a:solidFill>
                <a:latin typeface="Segoe UI"/>
              </a:rPr>
              <a:t>CATCHES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392424"/>
            <a:ext cx="3017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Volume, ratios, cash-out share, structuring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941064"/>
            <a:ext cx="30175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61708A"/>
                </a:solidFill>
                <a:latin typeface="Segoe UI"/>
              </a:rPr>
              <a:t>BLIND 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4142232"/>
            <a:ext cx="3017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FF8C42"/>
                </a:solidFill>
                <a:latin typeface="Segoe UI"/>
              </a:rPr>
              <a:t>Who the counterparties 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44531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4DA3FF"/>
                </a:solidFill>
                <a:latin typeface="Consolas"/>
              </a:rPr>
              <a:t>AUC 0.9946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5112" y="1435608"/>
            <a:ext cx="3520440" cy="3429000"/>
          </a:xfrm>
          <a:prstGeom prst="roundRect">
            <a:avLst>
              <a:gd name="adj" fmla="val 4000"/>
            </a:avLst>
          </a:prstGeom>
          <a:solidFill>
            <a:srgbClr val="121826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81144" y="1664208"/>
            <a:ext cx="3017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7D5CFF"/>
                </a:solidFill>
                <a:latin typeface="Segoe UI"/>
              </a:rPr>
              <a:t>LAYER 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1144" y="192024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1">
                <a:solidFill>
                  <a:srgbClr val="E6EDF7"/>
                </a:solidFill>
                <a:latin typeface="Segoe UI"/>
              </a:rPr>
              <a:t>GraphSAGE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81144" y="2441448"/>
            <a:ext cx="30175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61708A"/>
                </a:solidFill>
                <a:latin typeface="Segoe UI"/>
              </a:rPr>
              <a:t>SEES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1144" y="2642616"/>
            <a:ext cx="3017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Two-hop neighbourhood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1144" y="3191256"/>
            <a:ext cx="30175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61708A"/>
                </a:solidFill>
                <a:latin typeface="Segoe UI"/>
              </a:rPr>
              <a:t>CATCHES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1144" y="3392424"/>
            <a:ext cx="3017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Rings, device farms, multi-hop layering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81144" y="3941064"/>
            <a:ext cx="30175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61708A"/>
                </a:solidFill>
                <a:latin typeface="Segoe UI"/>
              </a:rPr>
              <a:t>BLIND 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1144" y="4142232"/>
            <a:ext cx="3017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FF8C42"/>
                </a:solidFill>
                <a:latin typeface="Segoe UI"/>
              </a:rPr>
              <a:t>When things happened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81144" y="44531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5CFF"/>
                </a:solidFill>
                <a:latin typeface="Consolas"/>
              </a:rPr>
              <a:t>AUC 0.9962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10144" y="1435608"/>
            <a:ext cx="3520440" cy="3429000"/>
          </a:xfrm>
          <a:prstGeom prst="roundRect">
            <a:avLst>
              <a:gd name="adj" fmla="val 4000"/>
            </a:avLst>
          </a:prstGeom>
          <a:solidFill>
            <a:srgbClr val="121826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66176" y="1664208"/>
            <a:ext cx="3017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2ECC9B"/>
                </a:solidFill>
                <a:latin typeface="Segoe UI"/>
              </a:rPr>
              <a:t>LAYER 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66176" y="192024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1">
                <a:solidFill>
                  <a:srgbClr val="E6EDF7"/>
                </a:solidFill>
                <a:latin typeface="Segoe UI"/>
              </a:rPr>
              <a:t>Temporal GNN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66176" y="2441448"/>
            <a:ext cx="30175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61708A"/>
                </a:solidFill>
                <a:latin typeface="Segoe UI"/>
              </a:rPr>
              <a:t>SEES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66176" y="2642616"/>
            <a:ext cx="3017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Last 64 events, in order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66176" y="3191256"/>
            <a:ext cx="30175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61708A"/>
                </a:solidFill>
                <a:latin typeface="Segoe UI"/>
              </a:rPr>
              <a:t>CATCHES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6176" y="3392424"/>
            <a:ext cx="3017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Smurfing, dormant bursts, rapid routing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66176" y="3941064"/>
            <a:ext cx="30175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61708A"/>
                </a:solidFill>
                <a:latin typeface="Segoe UI"/>
              </a:rPr>
              <a:t>BLIND TO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66176" y="4142232"/>
            <a:ext cx="3017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FF8C42"/>
                </a:solidFill>
                <a:latin typeface="Segoe UI"/>
              </a:rPr>
              <a:t>Anything outside the account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66176" y="44531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ECC9B"/>
                </a:solidFill>
                <a:latin typeface="Consolas"/>
              </a:rPr>
              <a:t>AUC 0.9628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" y="5532120"/>
            <a:ext cx="10881360" cy="749808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5669280"/>
            <a:ext cx="10332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8FA3C0"/>
                </a:solidFill>
                <a:latin typeface="Segoe UI"/>
              </a:rPr>
              <a:t>Both neural layers are implemented in NumPy with hand-derived gradients — no PyTorch, no CUDA, no 2 GB of wheels. Every analytic gradient is verified against central finite differences in the test suite, so “hand-rolled” does not mean “unverified”.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BODHI MULE HUNTER AI  ·  CyberShield Hackathon 2026  ·  Problem Statement 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DA3FF"/>
                </a:solidFill>
                <a:latin typeface="Segoe UI"/>
              </a:rPr>
              <a:t>LAYER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E6EDF7"/>
                </a:solidFill>
                <a:latin typeface="Segoe UI"/>
              </a:rPr>
              <a:t>Fusion: two properties that are not negotiable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07008"/>
            <a:ext cx="1005840" cy="31750"/>
          </a:xfrm>
          <a:prstGeom prst="rect">
            <a:avLst/>
          </a:prstGeom>
          <a:solidFill>
            <a:srgbClr val="4DA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481328"/>
            <a:ext cx="5349240" cy="2148840"/>
          </a:xfrm>
          <a:prstGeom prst="roundRect">
            <a:avLst>
              <a:gd name="adj" fmla="val 4000"/>
            </a:avLst>
          </a:prstGeom>
          <a:solidFill>
            <a:srgbClr val="121826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09928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DA3FF"/>
                </a:solidFill>
                <a:latin typeface="Segoe UI"/>
              </a:rPr>
              <a:t>MONOTONICITY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75688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8FA3C0"/>
                </a:solidFill>
                <a:latin typeface="Segoe UI"/>
              </a:rPr>
              <a:t>Blend weights are constrained non-negative, so more evidence can never lower a score. An unconstrained stacker on a small fold reliably learns “higher temporal score means safer” — indefensible to an investigator, unshippable past a regulator.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481328"/>
            <a:ext cx="5349240" cy="2148840"/>
          </a:xfrm>
          <a:prstGeom prst="roundRect">
            <a:avLst>
              <a:gd name="adj" fmla="val 4000"/>
            </a:avLst>
          </a:prstGeom>
          <a:solidFill>
            <a:srgbClr val="121826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709928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2ECC9B"/>
                </a:solidFill>
                <a:latin typeface="Segoe UI"/>
              </a:rPr>
              <a:t>CALIBRATION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075688"/>
            <a:ext cx="4846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8FA3C0"/>
                </a:solidFill>
                <a:latin typeface="Segoe UI"/>
              </a:rPr>
              <a:t>The score drives an automated kill-switch at 85, so it has to mean what it says. Isotonic regression maps the blend onto observed frequencies.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2779776"/>
            <a:ext cx="2331720" cy="749808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74536" y="2907792"/>
            <a:ext cx="20756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000" b="1">
                <a:solidFill>
                  <a:srgbClr val="2ECC9B"/>
                </a:solidFill>
                <a:latin typeface="Segoe UI"/>
              </a:rPr>
              <a:t>0.00125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3163824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1708A"/>
                </a:solidFill>
                <a:latin typeface="Segoe UI"/>
              </a:rPr>
              <a:t>BRIER SCORE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2779776"/>
            <a:ext cx="2331720" cy="749808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89136" y="2907792"/>
            <a:ext cx="20756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000" b="1">
                <a:solidFill>
                  <a:srgbClr val="2ECC9B"/>
                </a:solidFill>
                <a:latin typeface="Segoe UI"/>
              </a:rPr>
              <a:t>0.0047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3163824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1708A"/>
                </a:solidFill>
                <a:latin typeface="Segoe UI"/>
              </a:rPr>
              <a:t>EXPECTED CALIB. ERROR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617720"/>
            <a:ext cx="10881360" cy="1417320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800600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61708A"/>
                </a:solidFill>
                <a:latin typeface="Segoe UI"/>
              </a:rPr>
              <a:t>FOUR FOLDS, NOT THREE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138928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DA3FF"/>
                </a:solidFill>
                <a:latin typeface="Consolas"/>
              </a:rPr>
              <a:t>train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44068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8FA3C0"/>
                </a:solidFill>
                <a:latin typeface="Segoe UI"/>
              </a:rPr>
              <a:t>fits the base models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5138928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5CFF"/>
                </a:solidFill>
                <a:latin typeface="Consolas"/>
              </a:rPr>
              <a:t>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544068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8FA3C0"/>
                </a:solidFill>
                <a:latin typeface="Segoe UI"/>
              </a:rPr>
              <a:t>early-stops them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5138928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2ECC9B"/>
                </a:solidFill>
                <a:latin typeface="Consolas"/>
              </a:rPr>
              <a:t>fuse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544068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8FA3C0"/>
                </a:solidFill>
                <a:latin typeface="Segoe UI"/>
              </a:rPr>
              <a:t>fits the Layer-7 blend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5138928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8C42"/>
                </a:solidFill>
                <a:latin typeface="Consolas"/>
              </a:rPr>
              <a:t>test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32520" y="544068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8FA3C0"/>
                </a:solidFill>
                <a:latin typeface="Segoe UI"/>
              </a:rPr>
              <a:t>touched exactly once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2636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61708A"/>
                </a:solidFill>
                <a:latin typeface="Segoe UI"/>
              </a:rPr>
              <a:t>A stacker fitted on the fold that early-stopped its own inputs inherits their optimism — and came out worse than the best single layer.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BODHI MULE HUNTER AI  ·  CyberShield Hackathon 2026  ·  Problem Statement 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DA3FF"/>
                </a:solidFill>
                <a:latin typeface="Segoe U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E6EDF7"/>
                </a:solidFill>
                <a:latin typeface="Segoe UI"/>
              </a:rPr>
              <a:t>Every layer, on held-out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8FA3C0"/>
                </a:solidFill>
                <a:latin typeface="Segoe UI"/>
              </a:rPr>
              <a:t>12,000 accounts · 834,738 transactions · 151 mules (1.26%) · 21 rings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07008"/>
            <a:ext cx="1005840" cy="31750"/>
          </a:xfrm>
          <a:prstGeom prst="rect">
            <a:avLst/>
          </a:prstGeom>
          <a:solidFill>
            <a:srgbClr val="4DA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61708A"/>
                </a:solidFill>
                <a:latin typeface="Segoe UI"/>
              </a:rPr>
              <a:t>LAYER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92024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61708A"/>
                </a:solidFill>
                <a:latin typeface="Segoe UI"/>
              </a:rPr>
              <a:t>ROC-AUC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192024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61708A"/>
                </a:solidFill>
                <a:latin typeface="Segoe UI"/>
              </a:rPr>
              <a:t>PR-AUC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192024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61708A"/>
                </a:solidFill>
                <a:latin typeface="Segoe UI"/>
              </a:rPr>
              <a:t>P@1%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92024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61708A"/>
                </a:solidFill>
                <a:latin typeface="Segoe UI"/>
              </a:rPr>
              <a:t>R@1%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176272"/>
            <a:ext cx="6492240" cy="12700"/>
          </a:xfrm>
          <a:prstGeom prst="rect">
            <a:avLst/>
          </a:prstGeom>
          <a:solidFill>
            <a:srgbClr val="233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286000"/>
            <a:ext cx="265176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E6EDF7"/>
                </a:solidFill>
                <a:latin typeface="Segoe UI"/>
              </a:rPr>
              <a:t>XGBoost (L4)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2286000"/>
            <a:ext cx="10058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0.9946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286000"/>
            <a:ext cx="10058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0.9540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286000"/>
            <a:ext cx="91440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0.983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286000"/>
            <a:ext cx="91440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0.781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679192"/>
            <a:ext cx="265176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E6EDF7"/>
                </a:solidFill>
                <a:latin typeface="Segoe UI"/>
              </a:rPr>
              <a:t>GraphSAGE (L5)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679192"/>
            <a:ext cx="10058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0.9962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2679192"/>
            <a:ext cx="10058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0.9481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2679192"/>
            <a:ext cx="91440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0.983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2679192"/>
            <a:ext cx="91440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0.781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072384"/>
            <a:ext cx="265176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E6EDF7"/>
                </a:solidFill>
                <a:latin typeface="Segoe UI"/>
              </a:rPr>
              <a:t>TGN (L6)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3072384"/>
            <a:ext cx="10058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0.9628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3072384"/>
            <a:ext cx="10058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0.8036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03520" y="3072384"/>
            <a:ext cx="91440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0.892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3072384"/>
            <a:ext cx="91440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0.709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3465576"/>
            <a:ext cx="265176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E6EDF7"/>
                </a:solidFill>
                <a:latin typeface="Segoe UI"/>
              </a:rPr>
              <a:t>Intelligence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1840" y="3465576"/>
            <a:ext cx="10058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0.6883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3465576"/>
            <a:ext cx="10058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0.3774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0" y="3465576"/>
            <a:ext cx="91440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0.475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3465576"/>
            <a:ext cx="91440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0.378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3813048"/>
            <a:ext cx="6675120" cy="411480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12700">
            <a:solidFill>
              <a:srgbClr val="4DA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3858768"/>
            <a:ext cx="265176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E6EDF7"/>
                </a:solidFill>
                <a:latin typeface="Segoe UI"/>
              </a:rPr>
              <a:t>Fused (L7)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91840" y="3858768"/>
            <a:ext cx="10058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E6EDF7"/>
                </a:solidFill>
                <a:latin typeface="Segoe UI"/>
              </a:rPr>
              <a:t>0.9966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97680" y="3858768"/>
            <a:ext cx="10058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E6EDF7"/>
                </a:solidFill>
                <a:latin typeface="Segoe UI"/>
              </a:rPr>
              <a:t>0.9707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03520" y="3858768"/>
            <a:ext cx="91440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E6EDF7"/>
                </a:solidFill>
                <a:latin typeface="Segoe UI"/>
              </a:rPr>
              <a:t>0.992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0" y="3858768"/>
            <a:ext cx="91440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E6EDF7"/>
                </a:solidFill>
                <a:latin typeface="Segoe UI"/>
              </a:rPr>
              <a:t>0.788</a:t>
            </a:r>
          </a:p>
        </p:txBody>
      </p:sp>
      <p:pic>
        <p:nvPicPr>
          <p:cNvPr id="39" name="Picture 38" descr="roc_p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874520"/>
            <a:ext cx="4069080" cy="1709014"/>
          </a:xfrm>
          <a:prstGeom prst="rect">
            <a:avLst/>
          </a:prstGeom>
          <a:ln w="12700">
            <a:solidFill>
              <a:srgbClr val="23304A"/>
            </a:solidFill>
          </a:ln>
        </p:spPr>
      </p:pic>
      <p:sp>
        <p:nvSpPr>
          <p:cNvPr id="40" name="TextBox 39"/>
          <p:cNvSpPr txBox="1"/>
          <p:nvPr/>
        </p:nvSpPr>
        <p:spPr>
          <a:xfrm>
            <a:off x="640080" y="4892040"/>
            <a:ext cx="6492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8FA3C0"/>
                </a:solidFill>
                <a:latin typeface="Segoe UI"/>
              </a:rPr>
              <a:t>The fused model beats every individual view on both ranking metrics — which is the complementarity claim, measured.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" y="5440680"/>
            <a:ext cx="2103120" cy="868680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8096" y="5568696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2ECC9B"/>
                </a:solidFill>
                <a:latin typeface="Segoe UI"/>
              </a:rPr>
              <a:t>100%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" y="594360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1708A"/>
                </a:solidFill>
                <a:latin typeface="Segoe UI"/>
              </a:rPr>
              <a:t>OUT-OF-TIME RECALL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880360" y="5440680"/>
            <a:ext cx="2103120" cy="868680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008376" y="5568696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4DA3FF"/>
                </a:solidFill>
                <a:latin typeface="Segoe UI"/>
              </a:rPr>
              <a:t>64%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971800" y="594360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1708A"/>
                </a:solidFill>
                <a:latin typeface="Segoe UI"/>
              </a:rPr>
              <a:t>NEVER IN ANY NCRP TICKET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120640" y="5440680"/>
            <a:ext cx="2103120" cy="868680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48656" y="5568696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7D5CFF"/>
                </a:solidFill>
                <a:latin typeface="Segoe UI"/>
              </a:rPr>
              <a:t>0.113 ms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12080" y="594360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1708A"/>
                </a:solidFill>
                <a:latin typeface="Segoe UI"/>
              </a:rPr>
              <a:t>INLINE DECISION P99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BODHI MULE HUNTER AI  ·  CyberShield Hackathon 2026  ·  Problem Statement 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DA3FF"/>
                </a:solidFill>
                <a:latin typeface="Segoe UI"/>
              </a:rPr>
              <a:t>THE HEADLINE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E6EDF7"/>
                </a:solidFill>
                <a:latin typeface="Segoe UI"/>
              </a:rPr>
              <a:t>Versus the rule engine it replaces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8FA3C0"/>
                </a:solidFill>
                <a:latin typeface="Segoe UI"/>
              </a:rPr>
              <a:t>Compared at identical recall — because a system that alerts on everything can always claim to catch more.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07008"/>
            <a:ext cx="1005840" cy="31750"/>
          </a:xfrm>
          <a:prstGeom prst="rect">
            <a:avLst/>
          </a:prstGeom>
          <a:solidFill>
            <a:srgbClr val="4DA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965960"/>
            <a:ext cx="5120640" cy="2834640"/>
          </a:xfrm>
          <a:prstGeom prst="roundRect">
            <a:avLst>
              <a:gd name="adj" fmla="val 4000"/>
            </a:avLst>
          </a:prstGeom>
          <a:solidFill>
            <a:srgbClr val="121826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FF8C42"/>
                </a:solidFill>
                <a:latin typeface="Segoe UI"/>
              </a:rPr>
              <a:t>RULE ENGINE  ·  8 SCENARIOS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5176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8FA3C0"/>
                </a:solidFill>
                <a:latin typeface="Segoe UI"/>
              </a:rPr>
              <a:t>Alerts raised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65176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E6EDF7"/>
                </a:solidFill>
                <a:latin typeface="Segoe UI"/>
              </a:rPr>
              <a:t>9,647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27248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8FA3C0"/>
                </a:solidFill>
                <a:latin typeface="Segoe UI"/>
              </a:rPr>
              <a:t>True positives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3127248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E6EDF7"/>
                </a:solidFill>
                <a:latin typeface="Segoe UI"/>
              </a:rPr>
              <a:t>128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602736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8FA3C0"/>
                </a:solidFill>
                <a:latin typeface="Segoe UI"/>
              </a:rPr>
              <a:t>False positives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3602736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4D5E"/>
                </a:solidFill>
                <a:latin typeface="Segoe UI"/>
              </a:rPr>
              <a:t>9,519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78224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8FA3C0"/>
                </a:solidFill>
                <a:latin typeface="Segoe UI"/>
              </a:rPr>
              <a:t>Precision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4078224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4D5E"/>
                </a:solidFill>
                <a:latin typeface="Segoe UI"/>
              </a:rPr>
              <a:t>1.33%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897880" y="3154680"/>
            <a:ext cx="502920" cy="365760"/>
          </a:xfrm>
          <a:prstGeom prst="rightArrow">
            <a:avLst/>
          </a:prstGeom>
          <a:solidFill>
            <a:srgbClr val="4DA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37960" y="1965960"/>
            <a:ext cx="4983480" cy="2834640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19050">
            <a:solidFill>
              <a:srgbClr val="2ECC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2280" y="2194560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2ECC9B"/>
                </a:solidFill>
                <a:latin typeface="Segoe UI"/>
              </a:rPr>
              <a:t>BODHI  ·  SAME RECALL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265176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8FA3C0"/>
                </a:solidFill>
                <a:latin typeface="Segoe UI"/>
              </a:rPr>
              <a:t>Alerts raised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265176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2ECC9B"/>
                </a:solidFill>
                <a:latin typeface="Segoe UI"/>
              </a:rPr>
              <a:t>129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80" y="3127248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8FA3C0"/>
                </a:solidFill>
                <a:latin typeface="Segoe UI"/>
              </a:rPr>
              <a:t>True positives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3127248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2ECC9B"/>
                </a:solidFill>
                <a:latin typeface="Segoe UI"/>
              </a:rPr>
              <a:t>128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12280" y="3602736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8FA3C0"/>
                </a:solidFill>
                <a:latin typeface="Segoe UI"/>
              </a:rPr>
              <a:t>False positives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3602736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2ECC9B"/>
                </a:solidFill>
                <a:latin typeface="Segoe UI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12280" y="4078224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8FA3C0"/>
                </a:solidFill>
                <a:latin typeface="Segoe UI"/>
              </a:rPr>
              <a:t>Precision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0" y="4078224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2ECC9B"/>
                </a:solidFill>
                <a:latin typeface="Segoe UI"/>
              </a:rPr>
              <a:t>99.22%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166360"/>
            <a:ext cx="10881360" cy="960120"/>
          </a:xfrm>
          <a:prstGeom prst="roundRect">
            <a:avLst>
              <a:gd name="adj" fmla="val 4000"/>
            </a:avLst>
          </a:prstGeom>
          <a:solidFill>
            <a:srgbClr val="0F2A22"/>
          </a:solidFill>
          <a:ln w="9525">
            <a:solidFill>
              <a:srgbClr val="2ECC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349240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1">
                <a:solidFill>
                  <a:srgbClr val="E6EDF7"/>
                </a:solidFill>
                <a:latin typeface="Segoe UI"/>
              </a:rPr>
              <a:t>99.99% of false positives eliminated at unchanged recall — a 75× precision uplift. The analyst clears the same true positives while opening 129 cases instead of 9,647.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BODHI MULE HUNTER AI  ·  CyberShield Hackathon 2026  ·  Problem Statement 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DA3FF"/>
                </a:solidFill>
                <a:latin typeface="Segoe UI"/>
              </a:rPr>
              <a:t>WHY THAT NUMBER IS CREDIBLE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E6EDF7"/>
                </a:solidFill>
                <a:latin typeface="Segoe UI"/>
              </a:rPr>
              <a:t>We planted the accounts designed to break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8FA3C0"/>
                </a:solidFill>
                <a:latin typeface="Segoe UI"/>
              </a:rPr>
              <a:t>Any model scores ~1.0 AUC on naive synthetic fraud data. So the simulated bank is stocked with legitimate accounts that are structurally indistinguishable from mules.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07008"/>
            <a:ext cx="1005840" cy="31750"/>
          </a:xfrm>
          <a:prstGeom prst="rect">
            <a:avLst/>
          </a:prstGeom>
          <a:solidFill>
            <a:srgbClr val="4DA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61708A"/>
                </a:solidFill>
                <a:latin typeface="Segoe UI"/>
              </a:rPr>
              <a:t>LEGITIMATE POPULATION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92024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61708A"/>
                </a:solidFill>
                <a:latin typeface="Segoe UI"/>
              </a:rPr>
              <a:t>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192024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61708A"/>
                </a:solidFill>
                <a:latin typeface="Segoe UI"/>
              </a:rPr>
              <a:t>FALSE-POSITIVE RATE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176272"/>
            <a:ext cx="6675120" cy="12700"/>
          </a:xfrm>
          <a:prstGeom prst="rect">
            <a:avLst/>
          </a:prstGeom>
          <a:solidFill>
            <a:srgbClr val="233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286000"/>
            <a:ext cx="41148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E6EDF7"/>
                </a:solidFill>
                <a:latin typeface="Segoe UI"/>
              </a:rPr>
              <a:t>Business Correspondent (Bank Mitra) agents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286000"/>
            <a:ext cx="10972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302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2286000"/>
            <a:ext cx="14630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ECC9B"/>
                </a:solidFill>
                <a:latin typeface="Segoe UI"/>
              </a:rPr>
              <a:t>0.33%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706624"/>
            <a:ext cx="41148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E6EDF7"/>
                </a:solidFill>
                <a:latin typeface="Segoe UI"/>
              </a:rPr>
              <a:t>Community collectors (chit fund, tuition)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706624"/>
            <a:ext cx="10972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107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2706624"/>
            <a:ext cx="14630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F2C14E"/>
                </a:solidFill>
                <a:latin typeface="Segoe UI"/>
              </a:rPr>
              <a:t>2.80%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127248"/>
            <a:ext cx="41148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E6EDF7"/>
                </a:solidFill>
                <a:latin typeface="Segoe UI"/>
              </a:rPr>
              <a:t>Small businesses with heavy fan-in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3127248"/>
            <a:ext cx="10972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168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3127248"/>
            <a:ext cx="14630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ECC9B"/>
                </a:solidFill>
                <a:latin typeface="Segoe UI"/>
              </a:rPr>
              <a:t>0.00%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547872"/>
            <a:ext cx="41148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E6EDF7"/>
                </a:solidFill>
                <a:latin typeface="Segoe UI"/>
              </a:rPr>
              <a:t>Genuine dormancy reactivation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3547872"/>
            <a:ext cx="10972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168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3547872"/>
            <a:ext cx="14630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F2C14E"/>
                </a:solidFill>
                <a:latin typeface="Segoe UI"/>
              </a:rPr>
              <a:t>3.57%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968496"/>
            <a:ext cx="41148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E6EDF7"/>
                </a:solidFill>
                <a:latin typeface="Segoe UI"/>
              </a:rPr>
              <a:t>Ordinary retail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3968496"/>
            <a:ext cx="10972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10,504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0" y="3968496"/>
            <a:ext cx="14630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ECC9B"/>
                </a:solidFill>
                <a:latin typeface="Segoe UI"/>
              </a:rPr>
              <a:t>0.77%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80960" y="1874520"/>
            <a:ext cx="3840480" cy="3017520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79" y="2103120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FF8C42"/>
                </a:solidFill>
                <a:latin typeface="Segoe UI"/>
              </a:rPr>
              <a:t>THE HARDEST DECOY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2468880"/>
            <a:ext cx="32918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8FA3C0"/>
                </a:solidFill>
                <a:latin typeface="Segoe UI"/>
              </a:rPr>
              <a:t>A Business Correspondent legitimately operates 8–22 village accounts from one handheld and dispenses AePS cash all day.
That is the exact fingerprint of a device farm doing rapid cash-out — and the system does not fall for it.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93776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61708A"/>
                </a:solidFill>
                <a:latin typeface="Segoe UI"/>
              </a:rPr>
              <a:t>OTHER GUARDS AGAINST FLATTERING OURSELVES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285232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6EDF7"/>
                </a:solidFill>
                <a:latin typeface="Segoe UI"/>
              </a:rPr>
              <a:t>Four disjoint folds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559552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0">
                <a:solidFill>
                  <a:srgbClr val="8FA3C0"/>
                </a:solidFill>
                <a:latin typeface="Segoe UI"/>
              </a:rPr>
              <a:t>test touched exactly once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5285232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6EDF7"/>
                </a:solidFill>
                <a:latin typeface="Segoe UI"/>
              </a:rPr>
              <a:t>Cross-fitted seed model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83280" y="5559552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0">
                <a:solidFill>
                  <a:srgbClr val="8FA3C0"/>
                </a:solidFill>
                <a:latin typeface="Segoe UI"/>
              </a:rPr>
              <a:t>no label leaks into a neighbour's average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5285232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6EDF7"/>
                </a:solidFill>
                <a:latin typeface="Segoe UI"/>
              </a:rPr>
              <a:t>Intelligence quarantined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0" y="5559552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0">
                <a:solidFill>
                  <a:srgbClr val="8FA3C0"/>
                </a:solidFill>
                <a:latin typeface="Segoe UI"/>
              </a:rPr>
              <a:t>NCRP tickets never reach the supervised layers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0" y="5285232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6EDF7"/>
                </a:solidFill>
                <a:latin typeface="Segoe UI"/>
              </a:rPr>
              <a:t>Point-in-time correctness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69680" y="5559552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0">
                <a:solidFill>
                  <a:srgbClr val="8FA3C0"/>
                </a:solidFill>
                <a:latin typeface="Segoe UI"/>
              </a:rPr>
              <a:t>tested against a manually truncated ledger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BODHI MULE HUNTER AI  ·  CyberShield Hackathon 2026  ·  Problem Statement 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DA3FF"/>
                </a:solidFill>
                <a:latin typeface="Segoe UI"/>
              </a:rPr>
              <a:t>WHERE IT IS WEAK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E6EDF7"/>
                </a:solidFill>
                <a:latin typeface="Segoe UI"/>
              </a:rPr>
              <a:t>Recall is not uniform, and averaging hides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8FA3C0"/>
                </a:solidFill>
                <a:latin typeface="Segoe UI"/>
              </a:rPr>
              <a:t>A deployment team needs to know which typologies still need human-designed scenarios alongside the model.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07008"/>
            <a:ext cx="1005840" cy="31750"/>
          </a:xfrm>
          <a:prstGeom prst="rect">
            <a:avLst/>
          </a:prstGeom>
          <a:solidFill>
            <a:srgbClr val="4DA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61708A"/>
                </a:solidFill>
                <a:latin typeface="Segoe UI"/>
              </a:rPr>
              <a:t>TYPOLOGY / ROLE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192024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61708A"/>
                </a:solidFill>
                <a:latin typeface="Segoe UI"/>
              </a:rPr>
              <a:t>RECALL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192024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61708A"/>
                </a:solidFill>
                <a:latin typeface="Segoe UI"/>
              </a:rPr>
              <a:t>DETECTED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176272"/>
            <a:ext cx="5760720" cy="12700"/>
          </a:xfrm>
          <a:prstGeom prst="rect">
            <a:avLst/>
          </a:prstGeom>
          <a:solidFill>
            <a:srgbClr val="233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28600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E6EDF7"/>
                </a:solidFill>
                <a:latin typeface="Segoe UI"/>
              </a:rPr>
              <a:t>SMURFING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28600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FF4D5E"/>
                </a:solidFill>
                <a:latin typeface="Segoe UI"/>
              </a:rPr>
              <a:t>88.9%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228600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16/18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65176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E6EDF7"/>
                </a:solidFill>
                <a:latin typeface="Segoe UI"/>
              </a:rPr>
              <a:t>role: CASHOUT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265176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F2C14E"/>
                </a:solidFill>
                <a:latin typeface="Segoe UI"/>
              </a:rPr>
              <a:t>92.1%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265176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35/38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01752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E6EDF7"/>
                </a:solidFill>
                <a:latin typeface="Segoe UI"/>
              </a:rPr>
              <a:t>FAN IN AGGREGATION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301752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F2C14E"/>
                </a:solidFill>
                <a:latin typeface="Segoe UI"/>
              </a:rPr>
              <a:t>93.3%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301752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14/15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38328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E6EDF7"/>
                </a:solidFill>
                <a:latin typeface="Segoe UI"/>
              </a:rPr>
              <a:t>LAYERING CHAIN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0" y="338328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F2C14E"/>
                </a:solidFill>
                <a:latin typeface="Segoe UI"/>
              </a:rPr>
              <a:t>98.3%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338328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58/59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7490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E6EDF7"/>
                </a:solidFill>
                <a:latin typeface="Segoe UI"/>
              </a:rPr>
              <a:t>role: COLLECTOR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374904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F2C14E"/>
                </a:solidFill>
                <a:latin typeface="Segoe UI"/>
              </a:rPr>
              <a:t>98.3%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374904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59/60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11480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E6EDF7"/>
                </a:solidFill>
                <a:latin typeface="Segoe UI"/>
              </a:rPr>
              <a:t>APK HARVEST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0" y="411480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ECC9B"/>
                </a:solidFill>
                <a:latin typeface="Segoe UI"/>
              </a:rPr>
              <a:t>100.0%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0640" y="411480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15/15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48056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E6EDF7"/>
                </a:solidFill>
                <a:latin typeface="Segoe UI"/>
              </a:rPr>
              <a:t>DEVICE FARM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40480" y="448056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ECC9B"/>
                </a:solidFill>
                <a:latin typeface="Segoe UI"/>
              </a:rPr>
              <a:t>100.0%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0640" y="448056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31/31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84632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E6EDF7"/>
                </a:solidFill>
                <a:latin typeface="Segoe UI"/>
              </a:rPr>
              <a:t>DORMANT BURST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40480" y="484632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ECC9B"/>
                </a:solidFill>
                <a:latin typeface="Segoe UI"/>
              </a:rPr>
              <a:t>100.0%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0640" y="484632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13/13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21208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E6EDF7"/>
                </a:solidFill>
                <a:latin typeface="Segoe UI"/>
              </a:rPr>
              <a:t>role: RELAY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40480" y="521208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ECC9B"/>
                </a:solidFill>
                <a:latin typeface="Segoe UI"/>
              </a:rPr>
              <a:t>100.0%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0640" y="521208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53/53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766560" y="1874520"/>
            <a:ext cx="4754880" cy="3566160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40880" y="2103120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FF8C42"/>
                </a:solidFill>
                <a:latin typeface="Segoe UI"/>
              </a:rPr>
              <a:t>WHY STRUCTURING IS THE HARDEST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40880" y="2468880"/>
            <a:ext cx="4206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8FA3C0"/>
                </a:solidFill>
                <a:latin typeface="Segoe UI"/>
              </a:rPr>
              <a:t>A single sub-threshold transfer is, by construction, indistinguishable from a genuine near-threshold property or jewellery payment. Detection depends on an aggregate pattern that only becomes visible once enough transfers have accumulated.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40880" y="3931920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FF8C42"/>
                </a:solidFill>
                <a:latin typeface="Segoe UI"/>
              </a:rPr>
              <a:t>AND CASH-OUT ACCOUNTS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40880" y="4297680"/>
            <a:ext cx="4206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8FA3C0"/>
                </a:solidFill>
                <a:latin typeface="Segoe UI"/>
              </a:rPr>
              <a:t>Short, thin histories — they receive once and drain. There is simply less evidence to work with.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>
                <a:solidFill>
                  <a:srgbClr val="E6EDF7"/>
                </a:solidFill>
                <a:latin typeface="Segoe UI"/>
              </a:rPr>
              <a:t>We report these rather than averaging them away. A prototype that hides its blind spots is not useful to the team that has to deploy it.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BODHI MULE HUNTER AI  ·  CyberShield Hackathon 2026  ·  Problem Statement 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DA3FF"/>
                </a:solidFill>
                <a:latin typeface="Segoe UI"/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E6EDF7"/>
                </a:solidFill>
                <a:latin typeface="Segoe UI"/>
              </a:rPr>
              <a:t>The investigator console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8FA3C0"/>
                </a:solidFill>
                <a:latin typeface="Segoe UI"/>
              </a:rPr>
              <a:t>Four layer scores shown separately, evidence written in the vocabulary of an AML desk, cluster and exposure on every card.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07008"/>
            <a:ext cx="1005840" cy="31750"/>
          </a:xfrm>
          <a:prstGeom prst="rect">
            <a:avLst/>
          </a:prstGeom>
          <a:solidFill>
            <a:srgbClr val="4DA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1_investigate_que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2888" y="1874520"/>
            <a:ext cx="7095744" cy="4434840"/>
          </a:xfrm>
          <a:prstGeom prst="rect">
            <a:avLst/>
          </a:prstGeom>
          <a:ln w="12700">
            <a:solidFill>
              <a:srgbClr val="23304A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BODHI MULE HUNTER AI  ·  CyberShield Hackathon 2026  ·  Problem Statement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DA3FF"/>
                </a:solidFill>
                <a:latin typeface="Segoe UI"/>
              </a:rPr>
              <a:t>LAYER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E6EDF7"/>
                </a:solidFill>
                <a:latin typeface="Segoe UI"/>
              </a:rPr>
              <a:t>Explanations specific enough to file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07008"/>
            <a:ext cx="1005840" cy="31750"/>
          </a:xfrm>
          <a:prstGeom prst="rect">
            <a:avLst/>
          </a:prstGeom>
          <a:solidFill>
            <a:srgbClr val="4DA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2_shap_at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89888"/>
            <a:ext cx="5394960" cy="3371850"/>
          </a:xfrm>
          <a:prstGeom prst="rect">
            <a:avLst/>
          </a:prstGeom>
          <a:ln w="12700">
            <a:solidFill>
              <a:srgbClr val="23304A"/>
            </a:solidFill>
          </a:ln>
        </p:spPr>
      </p:pic>
      <p:pic>
        <p:nvPicPr>
          <p:cNvPr id="7" name="Picture 6" descr="03_network_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389888"/>
            <a:ext cx="5349240" cy="3343275"/>
          </a:xfrm>
          <a:prstGeom prst="rect">
            <a:avLst/>
          </a:prstGeom>
          <a:ln w="12700">
            <a:solidFill>
              <a:srgbClr val="23304A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40080" y="5120640"/>
            <a:ext cx="5394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8FA3C0"/>
                </a:solidFill>
                <a:latin typeface="Segoe UI"/>
              </a:rPr>
              <a:t>Exact TreeSHAP — attributions sum to the model's margin, not an approximation of it. Rendered as sentences, not feature names: “94% of every rupee credited left within 60 minutes — the account is a conduit, not a destination.”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5120640"/>
            <a:ext cx="5349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8FA3C0"/>
                </a:solidFill>
                <a:latin typeface="Segoe UI"/>
              </a:rPr>
              <a:t>GNNExplainer learns a mask over the two-hop neighbourhood — answering which relationships drove the score, which SHAP structurally cannot. Dashed edges are shared-device links, invisible to any tabular model.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BODHI MULE HUNTER AI  ·  CyberShield Hackathon 2026  ·  Problem Statement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DA3FF"/>
                </a:solidFill>
                <a:latin typeface="Segoe UI"/>
              </a:rPr>
              <a:t>FOLLOWING THE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E6EDF7"/>
                </a:solidFill>
                <a:latin typeface="Segoe UI"/>
              </a:rPr>
              <a:t>Time-respecting multi-hop trails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8FA3C0"/>
                </a:solidFill>
                <a:latin typeface="Segoe UI"/>
              </a:rPr>
              <a:t>Every hop must occur after the previous one — money cannot be forwarded before it arrives. Value retention exposes each mule's commission.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07008"/>
            <a:ext cx="1005840" cy="31750"/>
          </a:xfrm>
          <a:prstGeom prst="rect">
            <a:avLst/>
          </a:prstGeom>
          <a:solidFill>
            <a:srgbClr val="4DA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4_money_tr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20"/>
            <a:ext cx="6949440" cy="4343400"/>
          </a:xfrm>
          <a:prstGeom prst="rect">
            <a:avLst/>
          </a:prstGeom>
          <a:ln w="12700">
            <a:solidFill>
              <a:srgbClr val="23304A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7863840" y="1874520"/>
            <a:ext cx="3657600" cy="2926080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210312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4DA3FF"/>
                </a:solidFill>
                <a:latin typeface="Segoe UI"/>
              </a:rPr>
              <a:t>THE TELL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2468880"/>
            <a:ext cx="31089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>
                <a:solidFill>
                  <a:srgbClr val="8FA3C0"/>
                </a:solidFill>
                <a:latin typeface="Segoe UI"/>
              </a:rPr>
              <a:t>A laundering chain leaks 2–10% at every hop as the handler's cut.
Legitimate payment chains simply do not have that shape — which is why value retention is shown on every path.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BODHI MULE HUNTER AI  ·  CyberShield Hackathon 2026  ·  Problem Statement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DA3FF"/>
                </a:solidFill>
                <a:latin typeface="Segoe UI"/>
              </a:rPr>
              <a:t>LAYER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E6EDF7"/>
                </a:solidFill>
                <a:latin typeface="Segoe UI"/>
              </a:rPr>
              <a:t>Containment that can refuse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8FA3C0"/>
                </a:solidFill>
                <a:latin typeface="Segoe UI"/>
              </a:rPr>
              <a:t>A wrongly frozen account is somebody unable to pay for medicine. No AUC improvement justifies being casual about that.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07008"/>
            <a:ext cx="1005840" cy="31750"/>
          </a:xfrm>
          <a:prstGeom prst="rect">
            <a:avLst/>
          </a:prstGeom>
          <a:solidFill>
            <a:srgbClr val="4DA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5852160" cy="566928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48256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4DA3FF"/>
                </a:solidFill>
                <a:latin typeface="Segoe UI"/>
              </a:rPr>
              <a:t>Proportionality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2066544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below 85 the automation cannot freeze at all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578608"/>
            <a:ext cx="5852160" cy="566928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706624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4DA3FF"/>
                </a:solidFill>
                <a:latin typeface="Segoe UI"/>
              </a:rPr>
              <a:t>Corroboration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2724912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a full freeze needs ≥2 independent layers agreeing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236976"/>
            <a:ext cx="5852160" cy="566928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364992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4DA3FF"/>
                </a:solidFill>
                <a:latin typeface="Segoe UI"/>
              </a:rPr>
              <a:t>Reversibility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3383280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every action carries a TTL and can be reverted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895344"/>
            <a:ext cx="5852160" cy="566928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023360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4DA3FF"/>
                </a:solidFill>
                <a:latin typeface="Segoe UI"/>
              </a:rPr>
              <a:t>Rate limiting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4041648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bounded automated freezes per hour caps blast radius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553712"/>
            <a:ext cx="5852160" cy="566928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681728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4DA3FF"/>
                </a:solidFill>
                <a:latin typeface="Segoe UI"/>
              </a:rPr>
              <a:t>Protected accounts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4700016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FA3C0"/>
                </a:solidFill>
                <a:latin typeface="Segoe UI"/>
              </a:rPr>
              <a:t>salary, pension and benefit accounts always go to a human</a:t>
            </a:r>
          </a:p>
        </p:txBody>
      </p:sp>
      <p:pic>
        <p:nvPicPr>
          <p:cNvPr id="22" name="Picture 21" descr="05_killswi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920240"/>
            <a:ext cx="4800600" cy="3000375"/>
          </a:xfrm>
          <a:prstGeom prst="rect">
            <a:avLst/>
          </a:prstGeom>
          <a:ln w="12700">
            <a:solidFill>
              <a:srgbClr val="23304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640080" y="57607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8FA3C0"/>
                </a:solidFill>
                <a:latin typeface="Segoe UI"/>
              </a:rPr>
              <a:t>When a constraint fires, the action is downgraded — never escalated — and flagged for human review. Every decision, including every refusal, is written to a hash-chained audit log whose head hash can be externally anchored.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BODHI MULE HUNTER AI  ·  CyberShield Hackathon 2026  ·  Problem Statement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DA3FF"/>
                </a:solidFill>
                <a:latin typeface="Segoe UI"/>
              </a:rPr>
              <a:t>ECOSYSTEM SYNERGY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E6EDF7"/>
                </a:solidFill>
                <a:latin typeface="Segoe UI"/>
              </a:rPr>
              <a:t>BODHI SHIELD → BODHI MULE HUNTER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8FA3C0"/>
                </a:solidFill>
                <a:latin typeface="Segoe UI"/>
              </a:rPr>
              <a:t>Malware analysis priming fraud controls before the first victim installs the app.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07008"/>
            <a:ext cx="1005840" cy="31750"/>
          </a:xfrm>
          <a:prstGeom prst="rect">
            <a:avLst/>
          </a:prstGeom>
          <a:solidFill>
            <a:srgbClr val="4DA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8_shield_ap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20"/>
            <a:ext cx="6858000" cy="4286250"/>
          </a:xfrm>
          <a:prstGeom prst="rect">
            <a:avLst/>
          </a:prstGeom>
          <a:ln w="12700">
            <a:solidFill>
              <a:srgbClr val="23304A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818120" y="1920240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5CFF"/>
                </a:solidFill>
                <a:latin typeface="Consola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92024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E6EDF7"/>
                </a:solidFill>
                <a:latin typeface="Segoe UI"/>
              </a:rPr>
              <a:t>Parse manifest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176272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0">
                <a:solidFill>
                  <a:srgbClr val="8FA3C0"/>
                </a:solidFill>
                <a:latin typeface="Segoe UI"/>
              </a:rPr>
              <a:t>binary AndroidManifest.xml string pool, to spec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267004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5CFF"/>
                </a:solidFill>
                <a:latin typeface="Consola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67004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E6EDF7"/>
                </a:solidFill>
                <a:latin typeface="Segoe UI"/>
              </a:rPr>
              <a:t>Score combinations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92608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0">
                <a:solidFill>
                  <a:srgbClr val="8FA3C0"/>
                </a:solidFill>
                <a:latin typeface="Segoe UI"/>
              </a:rPr>
              <a:t>READ_SMS alone is a messaging app; + accessibility + overlay is a trojan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3419856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5CFF"/>
                </a:solidFill>
                <a:latin typeface="Consola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341985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E6EDF7"/>
                </a:solidFill>
                <a:latin typeface="Segoe UI"/>
              </a:rPr>
              <a:t>Mine the DEX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3675888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0">
                <a:solidFill>
                  <a:srgbClr val="8FA3C0"/>
                </a:solidFill>
                <a:latin typeface="Segoe UI"/>
              </a:rPr>
              <a:t>UPI handles, IFSC codes, accounts, C2 endpoints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4169664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5CFF"/>
                </a:solidFill>
                <a:latin typeface="Consola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4169664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E6EDF7"/>
                </a:solidFill>
                <a:latin typeface="Segoe UI"/>
              </a:rPr>
              <a:t>Hand off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4425696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0">
                <a:solidFill>
                  <a:srgbClr val="8FA3C0"/>
                </a:solidFill>
                <a:latin typeface="Segoe UI"/>
              </a:rPr>
              <a:t>identifiers become weighted nodes in the fraud graph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BODHI MULE HUNTER AI  ·  CyberShield Hackathon 2026  ·  Problem Statement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DA3FF"/>
                </a:solidFill>
                <a:latin typeface="Segoe UI"/>
              </a:rPr>
              <a:t>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E6EDF7"/>
                </a:solidFill>
                <a:latin typeface="Segoe UI"/>
              </a:rPr>
              <a:t>How it fits a real bank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8FA3C0"/>
                </a:solidFill>
                <a:latin typeface="Segoe UI"/>
              </a:rPr>
              <a:t>The split between scheduled graph work and the inline path is what makes a UPI-latency decision possible at all.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07008"/>
            <a:ext cx="1005840" cy="31750"/>
          </a:xfrm>
          <a:prstGeom prst="rect">
            <a:avLst/>
          </a:prstGeom>
          <a:solidFill>
            <a:srgbClr val="4DA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2148840"/>
            <a:ext cx="2514600" cy="1371600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4DA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2148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1">
                <a:solidFill>
                  <a:srgbClr val="E6EDF7"/>
                </a:solidFill>
                <a:latin typeface="Segoe UI"/>
              </a:rPr>
              <a:t>Core banking / switch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081528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8FA3C0"/>
                </a:solidFill>
                <a:latin typeface="Segoe UI"/>
              </a:rPr>
              <a:t>Kafka event stream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2148840"/>
            <a:ext cx="2514600" cy="1371600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4DA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3320" y="2377440"/>
            <a:ext cx="2148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1">
                <a:solidFill>
                  <a:srgbClr val="E6EDF7"/>
                </a:solidFill>
                <a:latin typeface="Segoe UI"/>
              </a:rPr>
              <a:t>L1–L2 streaming features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3320" y="3081528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8FA3C0"/>
                </a:solidFill>
                <a:latin typeface="Segoe UI"/>
              </a:rPr>
              <a:t>feature store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2148840"/>
            <a:ext cx="2514600" cy="1371600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7D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2377440"/>
            <a:ext cx="2148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1">
                <a:solidFill>
                  <a:srgbClr val="E6EDF7"/>
                </a:solidFill>
                <a:latin typeface="Segoe UI"/>
              </a:rPr>
              <a:t>L3/L5/L6 batch
(scheduled)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081528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8FA3C0"/>
                </a:solidFill>
                <a:latin typeface="Segoe UI"/>
              </a:rPr>
              <a:t>standing risk cache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81160" y="2148840"/>
            <a:ext cx="2514600" cy="1371600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2ECC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64040" y="2377440"/>
            <a:ext cx="2148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1">
                <a:solidFill>
                  <a:srgbClr val="E6EDF7"/>
                </a:solidFill>
                <a:latin typeface="Segoe UI"/>
              </a:rPr>
              <a:t>Inline decision
&lt; 0.1 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64040" y="3081528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8FA3C0"/>
                </a:solidFill>
                <a:latin typeface="Segoe UI"/>
              </a:rPr>
              <a:t>ALLOW · REVIEW · HOLD · BLOCK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11480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61708A"/>
                </a:solidFill>
                <a:latin typeface="Segoe UI"/>
              </a:rPr>
              <a:t>MEASURED PERFORMANCE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46227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8FA3C0"/>
                </a:solidFill>
                <a:latin typeface="Segoe UI"/>
              </a:rPr>
              <a:t>Simulate the bank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446227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6EDF7"/>
                </a:solidFill>
                <a:latin typeface="Consolas"/>
              </a:rPr>
              <a:t>7 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764024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8FA3C0"/>
                </a:solidFill>
                <a:latin typeface="Segoe UI"/>
              </a:rPr>
              <a:t>Feature engineering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4764024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6EDF7"/>
                </a:solidFill>
                <a:latin typeface="Consolas"/>
              </a:rPr>
              <a:t>~4 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06577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8FA3C0"/>
                </a:solidFill>
                <a:latin typeface="Segoe UI"/>
              </a:rPr>
              <a:t>Graph construction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5065776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6EDF7"/>
                </a:solidFill>
                <a:latin typeface="Consolas"/>
              </a:rPr>
              <a:t>~3 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36752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8FA3C0"/>
                </a:solidFill>
                <a:latin typeface="Segoe UI"/>
              </a:rPr>
              <a:t>Full training, all layers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31920" y="5367528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6EDF7"/>
                </a:solidFill>
                <a:latin typeface="Consolas"/>
              </a:rPr>
              <a:t>~123 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66928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8FA3C0"/>
                </a:solidFill>
                <a:latin typeface="Segoe UI"/>
              </a:rPr>
              <a:t>Full population re-score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31920" y="566928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6EDF7"/>
                </a:solidFill>
                <a:latin typeface="Consolas"/>
              </a:rPr>
              <a:t>~38 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97103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8FA3C0"/>
                </a:solidFill>
                <a:latin typeface="Segoe UI"/>
              </a:rPr>
              <a:t>Inline decision (p50)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597103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6EDF7"/>
                </a:solidFill>
                <a:latin typeface="Consolas"/>
              </a:rPr>
              <a:t>0.054 ms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35040" y="4114800"/>
            <a:ext cx="5486400" cy="1965960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0" y="431596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61708A"/>
                </a:solidFill>
                <a:latin typeface="Segoe UI"/>
              </a:rPr>
              <a:t>WHY THIS SPLIT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4663440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8FA3C0"/>
                </a:solidFill>
                <a:latin typeface="Segoe UI"/>
              </a:rPr>
              <a:t>The graph and temporal layers run on a schedule and cache a standing risk per account. The authorisation path combines those cached scores with the transaction's own attributes and never traverses the graph — which is the only way a decision is feasible at payment latencies.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BODHI MULE HUNTER AI  ·  CyberShield Hackathon 2026  ·  Problem Statement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DA3FF"/>
                </a:solidFill>
                <a:latin typeface="Segoe UI"/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E6EDF7"/>
                </a:solidFill>
                <a:latin typeface="Segoe UI"/>
              </a:rPr>
              <a:t>Stated plainly, because hiding them helps nobody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07008"/>
            <a:ext cx="1005840" cy="31750"/>
          </a:xfrm>
          <a:prstGeom prst="rect">
            <a:avLst/>
          </a:prstGeom>
          <a:solidFill>
            <a:srgbClr val="4DA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FF8C42"/>
                </a:solidFill>
                <a:latin typeface="Segoe UI"/>
              </a:rPr>
              <a:t>Simulated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389888"/>
            <a:ext cx="7589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8FA3C0"/>
                </a:solidFill>
                <a:latin typeface="Segoe UI"/>
              </a:rPr>
              <a:t>Demonstrates the architecture beats a rule engine on data with realistic decoys. Not a forecast of production 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FF8C42"/>
                </a:solidFill>
                <a:latin typeface="Segoe UI"/>
              </a:rPr>
              <a:t>Static APK analysis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2103120"/>
            <a:ext cx="7589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8FA3C0"/>
                </a:solidFill>
                <a:latin typeface="Segoe UI"/>
              </a:rPr>
              <a:t>The dynamic sandbox with runtime hooking needs an instrumented Android image; it cannot ship self-contained.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16352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FF8C42"/>
                </a:solidFill>
                <a:latin typeface="Segoe UI"/>
              </a:rPr>
              <a:t>Graph layers are not real-time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2816352"/>
            <a:ext cx="7589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8FA3C0"/>
                </a:solidFill>
                <a:latin typeface="Segoe UI"/>
              </a:rPr>
              <a:t>~38 s full re-score. An account whose neighbourhood changed since the last batch is scored on slightly stale structure.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5295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FF8C42"/>
                </a:solidFill>
                <a:latin typeface="Segoe UI"/>
              </a:rPr>
              <a:t>Single-institution 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529584"/>
            <a:ext cx="7589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8FA3C0"/>
                </a:solidFill>
                <a:latin typeface="Segoe UI"/>
              </a:rPr>
              <a:t>Rings routing through several banks are only partly visible — a data-sharing problem, not a modelling one.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42816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FF8C42"/>
                </a:solidFill>
                <a:latin typeface="Segoe UI"/>
              </a:rPr>
              <a:t>Cold start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4242816"/>
            <a:ext cx="7589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8FA3C0"/>
                </a:solidFill>
                <a:latin typeface="Segoe UI"/>
              </a:rPr>
              <a:t>The strongest feature is neighbourhood risk propagated from confirmed cases; with zero known mules performance drops materially.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956048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FF8C42"/>
                </a:solidFill>
                <a:latin typeface="Segoe UI"/>
              </a:rPr>
              <a:t>Disparate impact unevaluated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4956048"/>
            <a:ext cx="7589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8FA3C0"/>
                </a:solidFill>
                <a:latin typeface="Segoe UI"/>
              </a:rPr>
              <a:t>Minimum-KYC and shared-device features are predictive but correlate with lower-income households. Alert-rate parity must be measured before go-live.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BODHI MULE HUNTER AI  ·  CyberShield Hackathon 2026  ·  Problem Statement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1708A"/>
                </a:solidFill>
                <a:latin typeface="Segoe UI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0" y="-914400"/>
            <a:ext cx="8229600" cy="5486400"/>
          </a:xfrm>
          <a:prstGeom prst="roundRect">
            <a:avLst/>
          </a:prstGeom>
          <a:solidFill>
            <a:srgbClr val="10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3400" b="1">
                <a:solidFill>
                  <a:srgbClr val="E6EDF7"/>
                </a:solidFill>
                <a:latin typeface="Segoe UI"/>
              </a:rPr>
              <a:t>Mule detection fails today not because the
signal is absent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0">
                <a:solidFill>
                  <a:srgbClr val="4DA3FF"/>
                </a:solidFill>
                <a:latin typeface="Segoe UI"/>
              </a:rPr>
              <a:t>— but because single-account rule engines cannot express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9184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500" b="0">
                <a:solidFill>
                  <a:srgbClr val="8FA3C0"/>
                </a:solidFill>
                <a:latin typeface="Segoe UI"/>
              </a:rPr>
              <a:t>Three complementary views, fused under a monotonicity constraint into a calibrated score, cut false positives by 99.99% at unchanged recall — with explanations specific enough to file and containment cautious enough to automate.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572000"/>
            <a:ext cx="2377440" cy="960120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0976" y="4700016"/>
            <a:ext cx="21214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E6EDF7"/>
                </a:solidFill>
                <a:latin typeface="Segoe UI"/>
              </a:rPr>
              <a:t>85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1663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1708A"/>
                </a:solidFill>
                <a:latin typeface="Segoe UI"/>
              </a:rPr>
              <a:t>TESTS PASSING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4572000"/>
            <a:ext cx="2377440" cy="960120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65576" y="4700016"/>
            <a:ext cx="21214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E6EDF7"/>
                </a:solidFill>
                <a:latin typeface="Segoe UI"/>
              </a:rPr>
              <a:t>~12.3k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51663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1708A"/>
                </a:solidFill>
                <a:latin typeface="Segoe UI"/>
              </a:rPr>
              <a:t>LINES OF CODE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60" y="4572000"/>
            <a:ext cx="2377440" cy="960120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80176" y="4700016"/>
            <a:ext cx="21214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E6EDF7"/>
                </a:solidFill>
                <a:latin typeface="Segoe UI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51663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1708A"/>
                </a:solidFill>
                <a:latin typeface="Segoe UI"/>
              </a:rPr>
              <a:t>LAYERS, ALL RUNNING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66760" y="4572000"/>
            <a:ext cx="2377440" cy="960120"/>
          </a:xfrm>
          <a:prstGeom prst="roundRect">
            <a:avLst>
              <a:gd name="adj" fmla="val 4000"/>
            </a:avLst>
          </a:prstGeom>
          <a:solidFill>
            <a:srgbClr val="182031"/>
          </a:solidFill>
          <a:ln w="9525">
            <a:solidFill>
              <a:srgbClr val="23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94776" y="4700016"/>
            <a:ext cx="21214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E6EDF7"/>
                </a:solidFill>
                <a:latin typeface="Segoe UI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51663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1708A"/>
                </a:solidFill>
                <a:latin typeface="Segoe UI"/>
              </a:rPr>
              <a:t>EXTERNAL ML FRAMEWORKS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742432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6EDF7"/>
                </a:solidFill>
                <a:latin typeface="Segoe UI"/>
              </a:rPr>
              <a:t>Akshay Tiwari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989320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61708A"/>
                </a:solidFill>
                <a:latin typeface="Consolas"/>
              </a:rPr>
              <a:t>0246CS241037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37560" y="5742432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6EDF7"/>
                </a:solidFill>
                <a:latin typeface="Segoe UI"/>
              </a:rPr>
              <a:t>Palak Vishwakarma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37560" y="5989320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61708A"/>
                </a:solidFill>
                <a:latin typeface="Consolas"/>
              </a:rPr>
              <a:t>0246AL241124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0" y="5742432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6EDF7"/>
                </a:solidFill>
                <a:latin typeface="Segoe UI"/>
              </a:rPr>
              <a:t>Archi Singh Rajput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5989320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61708A"/>
                </a:solidFill>
                <a:latin typeface="Consolas"/>
              </a:rPr>
              <a:t>0246CS240174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5742432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6EDF7"/>
                </a:solidFill>
                <a:latin typeface="Segoe UI"/>
              </a:rPr>
              <a:t>Kartik Jain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5989320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61708A"/>
                </a:solidFill>
                <a:latin typeface="Consolas"/>
              </a:rPr>
              <a:t>0246AL241094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6382512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1708A"/>
                </a:solidFill>
                <a:latin typeface="Consolas"/>
              </a:rPr>
              <a:t>make setup &amp;&amp; make all &amp;&amp; make serve      ·      github.com/deepakvish001/BOI-Hackathon-Prototype-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