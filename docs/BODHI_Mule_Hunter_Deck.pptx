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github.com/archirajpoot/Bodhi_Mule_Hunte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com/archirajpoot/Bodhi_Mule_Hunter"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hyperlink" Target="https://github.com/archirajpoot/Bodhi_Mule_Hunt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github.com/archirajpoot/Bodhi_Mule_Hunte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github.com/archirajpoot/Bodhi_Mule_Hunter"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github.com/archirajpoot/Bodhi_Mule_Hunte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rchirajpoot/Bodhi_Mule_Hunter"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0" y="-1371600"/>
            <a:ext cx="8229600" cy="5486400"/>
          </a:xfrm>
          <a:prstGeom prst="roundRect">
            <a:avLst/>
          </a:prstGeom>
          <a:solidFill>
            <a:srgbClr val="10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1371600"/>
            <a:ext cx="777240" cy="777240"/>
          </a:xfrm>
          <a:prstGeom prst="round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36192"/>
            <a:ext cx="777240" cy="457200"/>
          </a:xfrm>
          <a:prstGeom prst="rect">
            <a:avLst/>
          </a:prstGeom>
          <a:noFill/>
        </p:spPr>
        <p:txBody>
          <a:bodyPr wrap="square" anchor="t" lIns="0" rIns="0" tIns="0" bIns="0">
            <a:spAutoFit/>
          </a:bodyPr>
          <a:lstStyle/>
          <a:p>
            <a:pPr algn="ctr">
              <a:lnSpc>
                <a:spcPct val="115000"/>
              </a:lnSpc>
              <a:spcAft>
                <a:spcPts val="400"/>
              </a:spcAft>
            </a:pPr>
            <a:r>
              <a:rPr sz="3200" b="1">
                <a:solidFill>
                  <a:srgbClr val="0B0F17"/>
                </a:solidFill>
                <a:latin typeface="Segoe UI"/>
              </a:rPr>
              <a:t>B</a:t>
            </a:r>
          </a:p>
        </p:txBody>
      </p:sp>
      <p:sp>
        <p:nvSpPr>
          <p:cNvPr id="6" name="TextBox 5"/>
          <p:cNvSpPr txBox="1"/>
          <p:nvPr/>
        </p:nvSpPr>
        <p:spPr>
          <a:xfrm>
            <a:off x="1828800" y="1417320"/>
            <a:ext cx="9144000" cy="822960"/>
          </a:xfrm>
          <a:prstGeom prst="rect">
            <a:avLst/>
          </a:prstGeom>
          <a:noFill/>
        </p:spPr>
        <p:txBody>
          <a:bodyPr wrap="square" anchor="t" lIns="0" rIns="0" tIns="0" bIns="0">
            <a:spAutoFit/>
          </a:bodyPr>
          <a:lstStyle/>
          <a:p>
            <a:pPr algn="l">
              <a:lnSpc>
                <a:spcPct val="115000"/>
              </a:lnSpc>
              <a:spcAft>
                <a:spcPts val="400"/>
              </a:spcAft>
            </a:pPr>
            <a:r>
              <a:rPr sz="4600" b="1">
                <a:solidFill>
                  <a:srgbClr val="E6EDF7"/>
                </a:solidFill>
                <a:latin typeface="Segoe UI"/>
              </a:rPr>
              <a:t>BODHI MULE HUNTER AI</a:t>
            </a:r>
          </a:p>
        </p:txBody>
      </p:sp>
      <p:sp>
        <p:nvSpPr>
          <p:cNvPr id="7" name="TextBox 6"/>
          <p:cNvSpPr txBox="1"/>
          <p:nvPr/>
        </p:nvSpPr>
        <p:spPr>
          <a:xfrm>
            <a:off x="1828800" y="2212848"/>
            <a:ext cx="9144000" cy="365760"/>
          </a:xfrm>
          <a:prstGeom prst="rect">
            <a:avLst/>
          </a:prstGeom>
          <a:noFill/>
        </p:spPr>
        <p:txBody>
          <a:bodyPr wrap="square" anchor="t" lIns="0" rIns="0" tIns="0" bIns="0">
            <a:spAutoFit/>
          </a:bodyPr>
          <a:lstStyle/>
          <a:p>
            <a:pPr algn="l">
              <a:lnSpc>
                <a:spcPct val="115000"/>
              </a:lnSpc>
              <a:spcAft>
                <a:spcPts val="400"/>
              </a:spcAft>
            </a:pPr>
            <a:r>
              <a:rPr sz="1700" b="0">
                <a:solidFill>
                  <a:srgbClr val="4DA3FF"/>
                </a:solidFill>
                <a:latin typeface="Segoe UI"/>
              </a:rPr>
              <a:t>Real-time mule account &amp; suspicious transaction detection</a:t>
            </a:r>
          </a:p>
        </p:txBody>
      </p:sp>
      <p:sp>
        <p:nvSpPr>
          <p:cNvPr id="8" name="TextBox 7"/>
          <p:cNvSpPr txBox="1"/>
          <p:nvPr/>
        </p:nvSpPr>
        <p:spPr>
          <a:xfrm>
            <a:off x="822960" y="3063240"/>
            <a:ext cx="10515600" cy="914400"/>
          </a:xfrm>
          <a:prstGeom prst="rect">
            <a:avLst/>
          </a:prstGeom>
          <a:noFill/>
        </p:spPr>
        <p:txBody>
          <a:bodyPr wrap="square" anchor="t" lIns="0" rIns="0" tIns="0" bIns="0">
            <a:spAutoFit/>
          </a:bodyPr>
          <a:lstStyle/>
          <a:p>
            <a:pPr algn="l">
              <a:lnSpc>
                <a:spcPct val="135000"/>
              </a:lnSpc>
              <a:spcAft>
                <a:spcPts val="400"/>
              </a:spcAft>
            </a:pPr>
            <a:r>
              <a:rPr sz="1600" b="0">
                <a:solidFill>
                  <a:srgbClr val="8FA3C0"/>
                </a:solidFill>
                <a:latin typeface="Segoe UI"/>
              </a:rPr>
              <a:t>Nine layers. Three complementary model views. One calibrated score an investigator can act on — and a containment layer that refuses to act without corroboration.</a:t>
            </a:r>
          </a:p>
        </p:txBody>
      </p:sp>
      <p:sp>
        <p:nvSpPr>
          <p:cNvPr id="9" name="Rounded Rectangle 8"/>
          <p:cNvSpPr/>
          <p:nvPr/>
        </p:nvSpPr>
        <p:spPr>
          <a:xfrm>
            <a:off x="822960" y="4297680"/>
            <a:ext cx="2048256" cy="105156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4425696"/>
            <a:ext cx="1792224" cy="457200"/>
          </a:xfrm>
          <a:prstGeom prst="rect">
            <a:avLst/>
          </a:prstGeom>
          <a:noFill/>
        </p:spPr>
        <p:txBody>
          <a:bodyPr wrap="square" anchor="t" lIns="0" rIns="0" tIns="0" bIns="0">
            <a:spAutoFit/>
          </a:bodyPr>
          <a:lstStyle/>
          <a:p>
            <a:pPr algn="ctr">
              <a:lnSpc>
                <a:spcPct val="115000"/>
              </a:lnSpc>
              <a:spcAft>
                <a:spcPts val="400"/>
              </a:spcAft>
            </a:pPr>
            <a:r>
              <a:rPr sz="3000" b="1">
                <a:solidFill>
                  <a:srgbClr val="E6EDF7"/>
                </a:solidFill>
                <a:latin typeface="Segoe UI"/>
              </a:rPr>
              <a:t>0.9966</a:t>
            </a:r>
          </a:p>
        </p:txBody>
      </p:sp>
      <p:sp>
        <p:nvSpPr>
          <p:cNvPr id="11" name="TextBox 10"/>
          <p:cNvSpPr txBox="1"/>
          <p:nvPr/>
        </p:nvSpPr>
        <p:spPr>
          <a:xfrm>
            <a:off x="914400" y="4983480"/>
            <a:ext cx="1865376"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FUSED ROC-AUC</a:t>
            </a:r>
          </a:p>
        </p:txBody>
      </p:sp>
      <p:sp>
        <p:nvSpPr>
          <p:cNvPr id="12" name="Rounded Rectangle 11"/>
          <p:cNvSpPr/>
          <p:nvPr/>
        </p:nvSpPr>
        <p:spPr>
          <a:xfrm>
            <a:off x="2980944" y="4297680"/>
            <a:ext cx="2048256" cy="105156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4425696"/>
            <a:ext cx="1792224" cy="457200"/>
          </a:xfrm>
          <a:prstGeom prst="rect">
            <a:avLst/>
          </a:prstGeom>
          <a:noFill/>
        </p:spPr>
        <p:txBody>
          <a:bodyPr wrap="square" anchor="t" lIns="0" rIns="0" tIns="0" bIns="0">
            <a:spAutoFit/>
          </a:bodyPr>
          <a:lstStyle/>
          <a:p>
            <a:pPr algn="ctr">
              <a:lnSpc>
                <a:spcPct val="115000"/>
              </a:lnSpc>
              <a:spcAft>
                <a:spcPts val="400"/>
              </a:spcAft>
            </a:pPr>
            <a:r>
              <a:rPr sz="3000" b="1">
                <a:solidFill>
                  <a:srgbClr val="E6EDF7"/>
                </a:solidFill>
                <a:latin typeface="Segoe UI"/>
              </a:rPr>
              <a:t>0.9707</a:t>
            </a:r>
          </a:p>
        </p:txBody>
      </p:sp>
      <p:sp>
        <p:nvSpPr>
          <p:cNvPr id="14" name="TextBox 13"/>
          <p:cNvSpPr txBox="1"/>
          <p:nvPr/>
        </p:nvSpPr>
        <p:spPr>
          <a:xfrm>
            <a:off x="3072384" y="4983480"/>
            <a:ext cx="1865376"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FUSED PR-AUC</a:t>
            </a:r>
          </a:p>
        </p:txBody>
      </p:sp>
      <p:sp>
        <p:nvSpPr>
          <p:cNvPr id="15" name="Rounded Rectangle 14"/>
          <p:cNvSpPr/>
          <p:nvPr/>
        </p:nvSpPr>
        <p:spPr>
          <a:xfrm>
            <a:off x="5138928" y="4297680"/>
            <a:ext cx="2048256" cy="105156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66944" y="4425696"/>
            <a:ext cx="1792224" cy="457200"/>
          </a:xfrm>
          <a:prstGeom prst="rect">
            <a:avLst/>
          </a:prstGeom>
          <a:noFill/>
        </p:spPr>
        <p:txBody>
          <a:bodyPr wrap="square" anchor="t" lIns="0" rIns="0" tIns="0" bIns="0">
            <a:spAutoFit/>
          </a:bodyPr>
          <a:lstStyle/>
          <a:p>
            <a:pPr algn="ctr">
              <a:lnSpc>
                <a:spcPct val="115000"/>
              </a:lnSpc>
              <a:spcAft>
                <a:spcPts val="400"/>
              </a:spcAft>
            </a:pPr>
            <a:r>
              <a:rPr sz="3000" b="1">
                <a:solidFill>
                  <a:srgbClr val="2ECC9B"/>
                </a:solidFill>
                <a:latin typeface="Segoe UI"/>
              </a:rPr>
              <a:t>99.99%</a:t>
            </a:r>
          </a:p>
        </p:txBody>
      </p:sp>
      <p:sp>
        <p:nvSpPr>
          <p:cNvPr id="17" name="TextBox 16"/>
          <p:cNvSpPr txBox="1"/>
          <p:nvPr/>
        </p:nvSpPr>
        <p:spPr>
          <a:xfrm>
            <a:off x="5230368" y="4983480"/>
            <a:ext cx="1865376"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FALSE POSITIVES CUT</a:t>
            </a:r>
          </a:p>
        </p:txBody>
      </p:sp>
      <p:sp>
        <p:nvSpPr>
          <p:cNvPr id="18" name="Rounded Rectangle 17"/>
          <p:cNvSpPr/>
          <p:nvPr/>
        </p:nvSpPr>
        <p:spPr>
          <a:xfrm>
            <a:off x="7296912" y="4297680"/>
            <a:ext cx="2048256" cy="105156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24928" y="4425696"/>
            <a:ext cx="1792224" cy="457200"/>
          </a:xfrm>
          <a:prstGeom prst="rect">
            <a:avLst/>
          </a:prstGeom>
          <a:noFill/>
        </p:spPr>
        <p:txBody>
          <a:bodyPr wrap="square" anchor="t" lIns="0" rIns="0" tIns="0" bIns="0">
            <a:spAutoFit/>
          </a:bodyPr>
          <a:lstStyle/>
          <a:p>
            <a:pPr algn="ctr">
              <a:lnSpc>
                <a:spcPct val="115000"/>
              </a:lnSpc>
              <a:spcAft>
                <a:spcPts val="400"/>
              </a:spcAft>
            </a:pPr>
            <a:r>
              <a:rPr sz="3000" b="1">
                <a:solidFill>
                  <a:srgbClr val="2ECC9B"/>
                </a:solidFill>
                <a:latin typeface="Segoe UI"/>
              </a:rPr>
              <a:t>75×</a:t>
            </a:r>
          </a:p>
        </p:txBody>
      </p:sp>
      <p:sp>
        <p:nvSpPr>
          <p:cNvPr id="20" name="TextBox 19"/>
          <p:cNvSpPr txBox="1"/>
          <p:nvPr/>
        </p:nvSpPr>
        <p:spPr>
          <a:xfrm>
            <a:off x="7388352" y="4983480"/>
            <a:ext cx="1865376"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PRECISION UPLIFT</a:t>
            </a:r>
          </a:p>
        </p:txBody>
      </p:sp>
      <p:sp>
        <p:nvSpPr>
          <p:cNvPr id="21" name="Rounded Rectangle 20"/>
          <p:cNvSpPr/>
          <p:nvPr/>
        </p:nvSpPr>
        <p:spPr>
          <a:xfrm>
            <a:off x="9454896" y="4297680"/>
            <a:ext cx="2048256" cy="105156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82912" y="4425696"/>
            <a:ext cx="1792224" cy="457200"/>
          </a:xfrm>
          <a:prstGeom prst="rect">
            <a:avLst/>
          </a:prstGeom>
          <a:noFill/>
        </p:spPr>
        <p:txBody>
          <a:bodyPr wrap="square" anchor="t" lIns="0" rIns="0" tIns="0" bIns="0">
            <a:spAutoFit/>
          </a:bodyPr>
          <a:lstStyle/>
          <a:p>
            <a:pPr algn="ctr">
              <a:lnSpc>
                <a:spcPct val="115000"/>
              </a:lnSpc>
              <a:spcAft>
                <a:spcPts val="400"/>
              </a:spcAft>
            </a:pPr>
            <a:r>
              <a:rPr sz="3000" b="1">
                <a:solidFill>
                  <a:srgbClr val="4DA3FF"/>
                </a:solidFill>
                <a:latin typeface="Segoe UI"/>
              </a:rPr>
              <a:t>0.054 ms</a:t>
            </a:r>
          </a:p>
        </p:txBody>
      </p:sp>
      <p:sp>
        <p:nvSpPr>
          <p:cNvPr id="23" name="TextBox 22"/>
          <p:cNvSpPr txBox="1"/>
          <p:nvPr/>
        </p:nvSpPr>
        <p:spPr>
          <a:xfrm>
            <a:off x="9546336" y="4983480"/>
            <a:ext cx="1865376"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INLINE DECISION P50</a:t>
            </a:r>
          </a:p>
        </p:txBody>
      </p:sp>
      <p:sp>
        <p:nvSpPr>
          <p:cNvPr id="24" name="TextBox 23"/>
          <p:cNvSpPr txBox="1"/>
          <p:nvPr/>
        </p:nvSpPr>
        <p:spPr>
          <a:xfrm>
            <a:off x="822960" y="5596128"/>
            <a:ext cx="2377440" cy="256032"/>
          </a:xfrm>
          <a:prstGeom prst="rect">
            <a:avLst/>
          </a:prstGeom>
          <a:noFill/>
        </p:spPr>
        <p:txBody>
          <a:bodyPr wrap="square" anchor="t" lIns="0" rIns="0" tIns="0" bIns="0">
            <a:spAutoFit/>
          </a:bodyPr>
          <a:lstStyle/>
          <a:p>
            <a:pPr algn="l">
              <a:lnSpc>
                <a:spcPct val="115000"/>
              </a:lnSpc>
              <a:spcAft>
                <a:spcPts val="400"/>
              </a:spcAft>
            </a:pPr>
            <a:r>
              <a:rPr sz="1300" b="1">
                <a:solidFill>
                  <a:srgbClr val="E6EDF7"/>
                </a:solidFill>
                <a:latin typeface="Segoe UI"/>
              </a:rPr>
              <a:t>Akshay Tiwari</a:t>
            </a:r>
          </a:p>
        </p:txBody>
      </p:sp>
      <p:sp>
        <p:nvSpPr>
          <p:cNvPr id="25" name="TextBox 24"/>
          <p:cNvSpPr txBox="1"/>
          <p:nvPr/>
        </p:nvSpPr>
        <p:spPr>
          <a:xfrm>
            <a:off x="822960" y="5852160"/>
            <a:ext cx="2377440" cy="237744"/>
          </a:xfrm>
          <a:prstGeom prst="rect">
            <a:avLst/>
          </a:prstGeom>
          <a:noFill/>
        </p:spPr>
        <p:txBody>
          <a:bodyPr wrap="square" anchor="t" lIns="0" rIns="0" tIns="0" bIns="0">
            <a:spAutoFit/>
          </a:bodyPr>
          <a:lstStyle/>
          <a:p>
            <a:pPr algn="l">
              <a:lnSpc>
                <a:spcPct val="115000"/>
              </a:lnSpc>
              <a:spcAft>
                <a:spcPts val="400"/>
              </a:spcAft>
            </a:pPr>
            <a:r>
              <a:rPr sz="1050" b="0">
                <a:solidFill>
                  <a:srgbClr val="61708A"/>
                </a:solidFill>
                <a:latin typeface="Consolas"/>
              </a:rPr>
              <a:t>0246CS241037</a:t>
            </a:r>
          </a:p>
        </p:txBody>
      </p:sp>
      <p:sp>
        <p:nvSpPr>
          <p:cNvPr id="26" name="TextBox 25"/>
          <p:cNvSpPr txBox="1"/>
          <p:nvPr/>
        </p:nvSpPr>
        <p:spPr>
          <a:xfrm>
            <a:off x="3337560" y="5596128"/>
            <a:ext cx="2377440" cy="256032"/>
          </a:xfrm>
          <a:prstGeom prst="rect">
            <a:avLst/>
          </a:prstGeom>
          <a:noFill/>
        </p:spPr>
        <p:txBody>
          <a:bodyPr wrap="square" anchor="t" lIns="0" rIns="0" tIns="0" bIns="0">
            <a:spAutoFit/>
          </a:bodyPr>
          <a:lstStyle/>
          <a:p>
            <a:pPr algn="l">
              <a:lnSpc>
                <a:spcPct val="115000"/>
              </a:lnSpc>
              <a:spcAft>
                <a:spcPts val="400"/>
              </a:spcAft>
            </a:pPr>
            <a:r>
              <a:rPr sz="1300" b="1">
                <a:solidFill>
                  <a:srgbClr val="E6EDF7"/>
                </a:solidFill>
                <a:latin typeface="Segoe UI"/>
              </a:rPr>
              <a:t>Palak Vishwakarma</a:t>
            </a:r>
          </a:p>
        </p:txBody>
      </p:sp>
      <p:sp>
        <p:nvSpPr>
          <p:cNvPr id="27" name="TextBox 26"/>
          <p:cNvSpPr txBox="1"/>
          <p:nvPr/>
        </p:nvSpPr>
        <p:spPr>
          <a:xfrm>
            <a:off x="3337560" y="5852160"/>
            <a:ext cx="2377440" cy="237744"/>
          </a:xfrm>
          <a:prstGeom prst="rect">
            <a:avLst/>
          </a:prstGeom>
          <a:noFill/>
        </p:spPr>
        <p:txBody>
          <a:bodyPr wrap="square" anchor="t" lIns="0" rIns="0" tIns="0" bIns="0">
            <a:spAutoFit/>
          </a:bodyPr>
          <a:lstStyle/>
          <a:p>
            <a:pPr algn="l">
              <a:lnSpc>
                <a:spcPct val="115000"/>
              </a:lnSpc>
              <a:spcAft>
                <a:spcPts val="400"/>
              </a:spcAft>
            </a:pPr>
            <a:r>
              <a:rPr sz="1050" b="0">
                <a:solidFill>
                  <a:srgbClr val="61708A"/>
                </a:solidFill>
                <a:latin typeface="Consolas"/>
              </a:rPr>
              <a:t>0246AL241124</a:t>
            </a:r>
          </a:p>
        </p:txBody>
      </p:sp>
      <p:sp>
        <p:nvSpPr>
          <p:cNvPr id="28" name="TextBox 27"/>
          <p:cNvSpPr txBox="1"/>
          <p:nvPr/>
        </p:nvSpPr>
        <p:spPr>
          <a:xfrm>
            <a:off x="5852160" y="5596128"/>
            <a:ext cx="2377440" cy="256032"/>
          </a:xfrm>
          <a:prstGeom prst="rect">
            <a:avLst/>
          </a:prstGeom>
          <a:noFill/>
        </p:spPr>
        <p:txBody>
          <a:bodyPr wrap="square" anchor="t" lIns="0" rIns="0" tIns="0" bIns="0">
            <a:spAutoFit/>
          </a:bodyPr>
          <a:lstStyle/>
          <a:p>
            <a:pPr algn="l">
              <a:lnSpc>
                <a:spcPct val="115000"/>
              </a:lnSpc>
              <a:spcAft>
                <a:spcPts val="400"/>
              </a:spcAft>
            </a:pPr>
            <a:r>
              <a:rPr sz="1300" b="1">
                <a:solidFill>
                  <a:srgbClr val="E6EDF7"/>
                </a:solidFill>
                <a:latin typeface="Segoe UI"/>
              </a:rPr>
              <a:t>Archi Singh Rajput</a:t>
            </a:r>
          </a:p>
        </p:txBody>
      </p:sp>
      <p:sp>
        <p:nvSpPr>
          <p:cNvPr id="29" name="TextBox 28"/>
          <p:cNvSpPr txBox="1"/>
          <p:nvPr/>
        </p:nvSpPr>
        <p:spPr>
          <a:xfrm>
            <a:off x="5852160" y="5852160"/>
            <a:ext cx="2377440" cy="237744"/>
          </a:xfrm>
          <a:prstGeom prst="rect">
            <a:avLst/>
          </a:prstGeom>
          <a:noFill/>
        </p:spPr>
        <p:txBody>
          <a:bodyPr wrap="square" anchor="t" lIns="0" rIns="0" tIns="0" bIns="0">
            <a:spAutoFit/>
          </a:bodyPr>
          <a:lstStyle/>
          <a:p>
            <a:pPr algn="l">
              <a:lnSpc>
                <a:spcPct val="115000"/>
              </a:lnSpc>
              <a:spcAft>
                <a:spcPts val="400"/>
              </a:spcAft>
            </a:pPr>
            <a:r>
              <a:rPr sz="1050" b="0">
                <a:solidFill>
                  <a:srgbClr val="61708A"/>
                </a:solidFill>
                <a:latin typeface="Consolas"/>
              </a:rPr>
              <a:t>0246CS240174</a:t>
            </a:r>
          </a:p>
        </p:txBody>
      </p:sp>
      <p:sp>
        <p:nvSpPr>
          <p:cNvPr id="30" name="TextBox 29"/>
          <p:cNvSpPr txBox="1"/>
          <p:nvPr/>
        </p:nvSpPr>
        <p:spPr>
          <a:xfrm>
            <a:off x="8366760" y="5596128"/>
            <a:ext cx="2377440" cy="256032"/>
          </a:xfrm>
          <a:prstGeom prst="rect">
            <a:avLst/>
          </a:prstGeom>
          <a:noFill/>
        </p:spPr>
        <p:txBody>
          <a:bodyPr wrap="square" anchor="t" lIns="0" rIns="0" tIns="0" bIns="0">
            <a:spAutoFit/>
          </a:bodyPr>
          <a:lstStyle/>
          <a:p>
            <a:pPr algn="l">
              <a:lnSpc>
                <a:spcPct val="115000"/>
              </a:lnSpc>
              <a:spcAft>
                <a:spcPts val="400"/>
              </a:spcAft>
            </a:pPr>
            <a:r>
              <a:rPr sz="1300" b="1">
                <a:solidFill>
                  <a:srgbClr val="E6EDF7"/>
                </a:solidFill>
                <a:latin typeface="Segoe UI"/>
              </a:rPr>
              <a:t>Kartik Jain</a:t>
            </a:r>
          </a:p>
        </p:txBody>
      </p:sp>
      <p:sp>
        <p:nvSpPr>
          <p:cNvPr id="31" name="TextBox 30"/>
          <p:cNvSpPr txBox="1"/>
          <p:nvPr/>
        </p:nvSpPr>
        <p:spPr>
          <a:xfrm>
            <a:off x="8366760" y="5852160"/>
            <a:ext cx="2377440" cy="237744"/>
          </a:xfrm>
          <a:prstGeom prst="rect">
            <a:avLst/>
          </a:prstGeom>
          <a:noFill/>
        </p:spPr>
        <p:txBody>
          <a:bodyPr wrap="square" anchor="t" lIns="0" rIns="0" tIns="0" bIns="0">
            <a:spAutoFit/>
          </a:bodyPr>
          <a:lstStyle/>
          <a:p>
            <a:pPr algn="l">
              <a:lnSpc>
                <a:spcPct val="115000"/>
              </a:lnSpc>
              <a:spcAft>
                <a:spcPts val="400"/>
              </a:spcAft>
            </a:pPr>
            <a:r>
              <a:rPr sz="1050" b="0">
                <a:solidFill>
                  <a:srgbClr val="61708A"/>
                </a:solidFill>
                <a:latin typeface="Consolas"/>
              </a:rPr>
              <a:t>0246AL241094</a:t>
            </a:r>
          </a:p>
        </p:txBody>
      </p:sp>
      <p:sp>
        <p:nvSpPr>
          <p:cNvPr id="32" name="TextBox 31"/>
          <p:cNvSpPr txBox="1"/>
          <p:nvPr/>
        </p:nvSpPr>
        <p:spPr>
          <a:xfrm>
            <a:off x="822960" y="6272784"/>
            <a:ext cx="10515600" cy="274320"/>
          </a:xfrm>
          <a:prstGeom prst="rect">
            <a:avLst/>
          </a:prstGeom>
          <a:noFill/>
        </p:spPr>
        <p:txBody>
          <a:bodyPr wrap="square" anchor="t" lIns="0" rIns="0" tIns="0" bIns="0">
            <a:spAutoFit/>
          </a:bodyPr>
          <a:lstStyle/>
          <a:p>
            <a:pPr algn="l">
              <a:lnSpc>
                <a:spcPct val="115000"/>
              </a:lnSpc>
              <a:spcAft>
                <a:spcPts val="400"/>
              </a:spcAft>
            </a:pPr>
            <a:r>
              <a:rPr sz="1100" b="0">
                <a:solidFill>
                  <a:srgbClr val="61708A"/>
                </a:solidFill>
                <a:latin typeface="Segoe UI"/>
              </a:rPr>
              <a:t>Team BODHI   ·   CyberShield Hackathon 2026 - Problem Statement 2   ·   In association with Bank of India and IIT Hyderabad</a:t>
            </a:r>
          </a:p>
        </p:txBody>
      </p:sp>
      <p:sp>
        <p:nvSpPr>
          <p:cNvPr id="33" name="TextBox 32"/>
          <p:cNvSpPr txBox="1"/>
          <p:nvPr/>
        </p:nvSpPr>
        <p:spPr>
          <a:xfrm>
            <a:off x="822960" y="6492240"/>
            <a:ext cx="10515600" cy="274320"/>
          </a:xfrm>
          <a:prstGeom prst="rect">
            <a:avLst/>
          </a:prstGeom>
          <a:noFill/>
        </p:spPr>
        <p:txBody>
          <a:bodyPr wrap="square" anchor="t" lIns="0" rIns="0" tIns="0" bIns="0">
            <a:spAutoFit/>
          </a:bodyPr>
          <a:lstStyle/>
          <a:p>
            <a:pPr algn="l">
              <a:lnSpc>
                <a:spcPct val="115000"/>
              </a:lnSpc>
              <a:spcAft>
                <a:spcPts val="400"/>
              </a:spcAft>
            </a:pPr>
            <a:r>
              <a:rPr sz="1050" b="0">
                <a:solidFill>
                  <a:srgbClr val="61708A"/>
                </a:solidFill>
                <a:latin typeface="Consolas"/>
              </a:rPr>
              <a:t/>
            </a:r>
            <a:r>
              <a:rPr sz="1050">
                <a:solidFill>
                  <a:srgbClr val="4DA3FF"/>
                </a:solidFill>
                <a:latin typeface="Consolas"/>
                <a:hlinkClick r:id="rId2"/>
              </a:rPr>
              <a:t>github.com/archirajpoot/Bodhi_Mule_Hunter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THE PROBLEM</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A mule account is a normal account</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Real KYC. Real customer. Payments clear. Nothing about the account is anomalous — only the shape of the money moving through it, and the company it keeps.</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920240"/>
            <a:ext cx="5257800" cy="3200400"/>
          </a:xfrm>
          <a:prstGeom prst="roundRect">
            <a:avLst>
              <a:gd name="adj" fmla="val 4000"/>
            </a:avLst>
          </a:prstGeom>
          <a:solidFill>
            <a:srgbClr val="121826"/>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67128"/>
            <a:ext cx="4754880" cy="365760"/>
          </a:xfrm>
          <a:prstGeom prst="rect">
            <a:avLst/>
          </a:prstGeom>
          <a:noFill/>
        </p:spPr>
        <p:txBody>
          <a:bodyPr wrap="square" anchor="t" lIns="0" rIns="0" tIns="0" bIns="0">
            <a:spAutoFit/>
          </a:bodyPr>
          <a:lstStyle/>
          <a:p>
            <a:pPr algn="l">
              <a:lnSpc>
                <a:spcPct val="115000"/>
              </a:lnSpc>
              <a:spcAft>
                <a:spcPts val="400"/>
              </a:spcAft>
            </a:pPr>
            <a:r>
              <a:rPr sz="1100" b="1">
                <a:solidFill>
                  <a:srgbClr val="61708A"/>
                </a:solidFill>
                <a:latin typeface="Segoe UI"/>
              </a:rPr>
              <a:t>HOW A MULE RING ACTUALLY WORKS</a:t>
            </a:r>
          </a:p>
        </p:txBody>
      </p:sp>
      <p:sp>
        <p:nvSpPr>
          <p:cNvPr id="9" name="TextBox 8"/>
          <p:cNvSpPr txBox="1"/>
          <p:nvPr/>
        </p:nvSpPr>
        <p:spPr>
          <a:xfrm>
            <a:off x="914400" y="2624328"/>
            <a:ext cx="1234440" cy="274320"/>
          </a:xfrm>
          <a:prstGeom prst="rect">
            <a:avLst/>
          </a:prstGeom>
          <a:noFill/>
        </p:spPr>
        <p:txBody>
          <a:bodyPr wrap="square" anchor="t" lIns="0" rIns="0" tIns="0" bIns="0">
            <a:spAutoFit/>
          </a:bodyPr>
          <a:lstStyle/>
          <a:p>
            <a:pPr algn="l">
              <a:lnSpc>
                <a:spcPct val="115000"/>
              </a:lnSpc>
              <a:spcAft>
                <a:spcPts val="400"/>
              </a:spcAft>
            </a:pPr>
            <a:r>
              <a:rPr sz="1300" b="1">
                <a:solidFill>
                  <a:srgbClr val="4DA3FF"/>
                </a:solidFill>
                <a:latin typeface="Segoe UI"/>
              </a:rPr>
              <a:t>1  Victims</a:t>
            </a:r>
          </a:p>
        </p:txBody>
      </p:sp>
      <p:sp>
        <p:nvSpPr>
          <p:cNvPr id="10" name="TextBox 9"/>
          <p:cNvSpPr txBox="1"/>
          <p:nvPr/>
        </p:nvSpPr>
        <p:spPr>
          <a:xfrm>
            <a:off x="2148840" y="2624328"/>
            <a:ext cx="3520440" cy="548640"/>
          </a:xfrm>
          <a:prstGeom prst="rect">
            <a:avLst/>
          </a:prstGeom>
          <a:noFill/>
        </p:spPr>
        <p:txBody>
          <a:bodyPr wrap="square" anchor="t" lIns="0" rIns="0" tIns="0" bIns="0">
            <a:spAutoFit/>
          </a:bodyPr>
          <a:lstStyle/>
          <a:p>
            <a:pPr algn="l">
              <a:lnSpc>
                <a:spcPct val="120000"/>
              </a:lnSpc>
              <a:spcAft>
                <a:spcPts val="400"/>
              </a:spcAft>
            </a:pPr>
            <a:r>
              <a:rPr sz="1250" b="0">
                <a:solidFill>
                  <a:srgbClr val="8FA3C0"/>
                </a:solidFill>
                <a:latin typeface="Segoe UI"/>
              </a:rPr>
              <a:t>40 defrauded people push money into one collector, in 90 minutes</a:t>
            </a:r>
          </a:p>
        </p:txBody>
      </p:sp>
      <p:sp>
        <p:nvSpPr>
          <p:cNvPr id="11" name="TextBox 10"/>
          <p:cNvSpPr txBox="1"/>
          <p:nvPr/>
        </p:nvSpPr>
        <p:spPr>
          <a:xfrm>
            <a:off x="914400" y="3191256"/>
            <a:ext cx="1234440" cy="274320"/>
          </a:xfrm>
          <a:prstGeom prst="rect">
            <a:avLst/>
          </a:prstGeom>
          <a:noFill/>
        </p:spPr>
        <p:txBody>
          <a:bodyPr wrap="square" anchor="t" lIns="0" rIns="0" tIns="0" bIns="0">
            <a:spAutoFit/>
          </a:bodyPr>
          <a:lstStyle/>
          <a:p>
            <a:pPr algn="l">
              <a:lnSpc>
                <a:spcPct val="115000"/>
              </a:lnSpc>
              <a:spcAft>
                <a:spcPts val="400"/>
              </a:spcAft>
            </a:pPr>
            <a:r>
              <a:rPr sz="1300" b="1">
                <a:solidFill>
                  <a:srgbClr val="4DA3FF"/>
                </a:solidFill>
                <a:latin typeface="Segoe UI"/>
              </a:rPr>
              <a:t>2  Layering</a:t>
            </a:r>
          </a:p>
        </p:txBody>
      </p:sp>
      <p:sp>
        <p:nvSpPr>
          <p:cNvPr id="12" name="TextBox 11"/>
          <p:cNvSpPr txBox="1"/>
          <p:nvPr/>
        </p:nvSpPr>
        <p:spPr>
          <a:xfrm>
            <a:off x="2148840" y="3191256"/>
            <a:ext cx="3520440" cy="548640"/>
          </a:xfrm>
          <a:prstGeom prst="rect">
            <a:avLst/>
          </a:prstGeom>
          <a:noFill/>
        </p:spPr>
        <p:txBody>
          <a:bodyPr wrap="square" anchor="t" lIns="0" rIns="0" tIns="0" bIns="0">
            <a:spAutoFit/>
          </a:bodyPr>
          <a:lstStyle/>
          <a:p>
            <a:pPr algn="l">
              <a:lnSpc>
                <a:spcPct val="120000"/>
              </a:lnSpc>
              <a:spcAft>
                <a:spcPts val="400"/>
              </a:spcAft>
            </a:pPr>
            <a:r>
              <a:rPr sz="1250" b="0">
                <a:solidFill>
                  <a:srgbClr val="8FA3C0"/>
                </a:solidFill>
                <a:latin typeface="Segoe UI"/>
              </a:rPr>
              <a:t>A → B → C → D within minutes, each hop keeping 2–10%</a:t>
            </a:r>
          </a:p>
        </p:txBody>
      </p:sp>
      <p:sp>
        <p:nvSpPr>
          <p:cNvPr id="13" name="TextBox 12"/>
          <p:cNvSpPr txBox="1"/>
          <p:nvPr/>
        </p:nvSpPr>
        <p:spPr>
          <a:xfrm>
            <a:off x="914400" y="3758184"/>
            <a:ext cx="1234440" cy="274320"/>
          </a:xfrm>
          <a:prstGeom prst="rect">
            <a:avLst/>
          </a:prstGeom>
          <a:noFill/>
        </p:spPr>
        <p:txBody>
          <a:bodyPr wrap="square" anchor="t" lIns="0" rIns="0" tIns="0" bIns="0">
            <a:spAutoFit/>
          </a:bodyPr>
          <a:lstStyle/>
          <a:p>
            <a:pPr algn="l">
              <a:lnSpc>
                <a:spcPct val="115000"/>
              </a:lnSpc>
              <a:spcAft>
                <a:spcPts val="400"/>
              </a:spcAft>
            </a:pPr>
            <a:r>
              <a:rPr sz="1300" b="1">
                <a:solidFill>
                  <a:srgbClr val="4DA3FF"/>
                </a:solidFill>
                <a:latin typeface="Segoe UI"/>
              </a:rPr>
              <a:t>3  Structuring</a:t>
            </a:r>
          </a:p>
        </p:txBody>
      </p:sp>
      <p:sp>
        <p:nvSpPr>
          <p:cNvPr id="14" name="TextBox 13"/>
          <p:cNvSpPr txBox="1"/>
          <p:nvPr/>
        </p:nvSpPr>
        <p:spPr>
          <a:xfrm>
            <a:off x="2148840" y="3758184"/>
            <a:ext cx="3520440" cy="548640"/>
          </a:xfrm>
          <a:prstGeom prst="rect">
            <a:avLst/>
          </a:prstGeom>
          <a:noFill/>
        </p:spPr>
        <p:txBody>
          <a:bodyPr wrap="square" anchor="t" lIns="0" rIns="0" tIns="0" bIns="0">
            <a:spAutoFit/>
          </a:bodyPr>
          <a:lstStyle/>
          <a:p>
            <a:pPr algn="l">
              <a:lnSpc>
                <a:spcPct val="120000"/>
              </a:lnSpc>
              <a:spcAft>
                <a:spcPts val="400"/>
              </a:spcAft>
            </a:pPr>
            <a:r>
              <a:rPr sz="1250" b="0">
                <a:solidFill>
                  <a:srgbClr val="8FA3C0"/>
                </a:solidFill>
                <a:latin typeface="Segoe UI"/>
              </a:rPr>
              <a:t>Split into transfers parked just under the reporting limit</a:t>
            </a:r>
          </a:p>
        </p:txBody>
      </p:sp>
      <p:sp>
        <p:nvSpPr>
          <p:cNvPr id="15" name="TextBox 14"/>
          <p:cNvSpPr txBox="1"/>
          <p:nvPr/>
        </p:nvSpPr>
        <p:spPr>
          <a:xfrm>
            <a:off x="914400" y="4325112"/>
            <a:ext cx="1234440" cy="274320"/>
          </a:xfrm>
          <a:prstGeom prst="rect">
            <a:avLst/>
          </a:prstGeom>
          <a:noFill/>
        </p:spPr>
        <p:txBody>
          <a:bodyPr wrap="square" anchor="t" lIns="0" rIns="0" tIns="0" bIns="0">
            <a:spAutoFit/>
          </a:bodyPr>
          <a:lstStyle/>
          <a:p>
            <a:pPr algn="l">
              <a:lnSpc>
                <a:spcPct val="115000"/>
              </a:lnSpc>
              <a:spcAft>
                <a:spcPts val="400"/>
              </a:spcAft>
            </a:pPr>
            <a:r>
              <a:rPr sz="1300" b="1">
                <a:solidFill>
                  <a:srgbClr val="4DA3FF"/>
                </a:solidFill>
                <a:latin typeface="Segoe UI"/>
              </a:rPr>
              <a:t>4  Cash-out</a:t>
            </a:r>
          </a:p>
        </p:txBody>
      </p:sp>
      <p:sp>
        <p:nvSpPr>
          <p:cNvPr id="16" name="TextBox 15"/>
          <p:cNvSpPr txBox="1"/>
          <p:nvPr/>
        </p:nvSpPr>
        <p:spPr>
          <a:xfrm>
            <a:off x="2148840" y="4325112"/>
            <a:ext cx="3520440" cy="548640"/>
          </a:xfrm>
          <a:prstGeom prst="rect">
            <a:avLst/>
          </a:prstGeom>
          <a:noFill/>
        </p:spPr>
        <p:txBody>
          <a:bodyPr wrap="square" anchor="t" lIns="0" rIns="0" tIns="0" bIns="0">
            <a:spAutoFit/>
          </a:bodyPr>
          <a:lstStyle/>
          <a:p>
            <a:pPr algn="l">
              <a:lnSpc>
                <a:spcPct val="120000"/>
              </a:lnSpc>
              <a:spcAft>
                <a:spcPts val="400"/>
              </a:spcAft>
            </a:pPr>
            <a:r>
              <a:rPr sz="1250" b="0">
                <a:solidFill>
                  <a:srgbClr val="8FA3C0"/>
                </a:solidFill>
                <a:latin typeface="Segoe UI"/>
              </a:rPr>
              <a:t>Drained via ATM/AePS at 03:12 — out of the banking system</a:t>
            </a:r>
          </a:p>
        </p:txBody>
      </p:sp>
      <p:sp>
        <p:nvSpPr>
          <p:cNvPr id="17" name="Rounded Rectangle 16"/>
          <p:cNvSpPr/>
          <p:nvPr/>
        </p:nvSpPr>
        <p:spPr>
          <a:xfrm>
            <a:off x="6263640" y="1920240"/>
            <a:ext cx="5257800" cy="3200400"/>
          </a:xfrm>
          <a:prstGeom prst="roundRect">
            <a:avLst>
              <a:gd name="adj" fmla="val 4000"/>
            </a:avLst>
          </a:prstGeom>
          <a:solidFill>
            <a:srgbClr val="121826"/>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2167128"/>
            <a:ext cx="4754880" cy="365760"/>
          </a:xfrm>
          <a:prstGeom prst="rect">
            <a:avLst/>
          </a:prstGeom>
          <a:noFill/>
        </p:spPr>
        <p:txBody>
          <a:bodyPr wrap="square" anchor="t" lIns="0" rIns="0" tIns="0" bIns="0">
            <a:spAutoFit/>
          </a:bodyPr>
          <a:lstStyle/>
          <a:p>
            <a:pPr algn="l">
              <a:lnSpc>
                <a:spcPct val="115000"/>
              </a:lnSpc>
              <a:spcAft>
                <a:spcPts val="400"/>
              </a:spcAft>
            </a:pPr>
            <a:r>
              <a:rPr sz="1100" b="1">
                <a:solidFill>
                  <a:srgbClr val="61708A"/>
                </a:solidFill>
                <a:latin typeface="Segoe UI"/>
              </a:rPr>
              <a:t>WHY TODAY'S RULE ENGINES FAIL</a:t>
            </a:r>
          </a:p>
        </p:txBody>
      </p:sp>
      <p:sp>
        <p:nvSpPr>
          <p:cNvPr id="19" name="TextBox 18"/>
          <p:cNvSpPr txBox="1"/>
          <p:nvPr/>
        </p:nvSpPr>
        <p:spPr>
          <a:xfrm>
            <a:off x="6537960" y="2560320"/>
            <a:ext cx="4754880" cy="1463040"/>
          </a:xfrm>
          <a:prstGeom prst="rect">
            <a:avLst/>
          </a:prstGeom>
          <a:noFill/>
        </p:spPr>
        <p:txBody>
          <a:bodyPr wrap="square" anchor="t" lIns="0" rIns="0" tIns="0" bIns="0">
            <a:spAutoFit/>
          </a:bodyPr>
          <a:lstStyle/>
          <a:p>
            <a:pPr algn="l">
              <a:lnSpc>
                <a:spcPct val="130000"/>
              </a:lnSpc>
              <a:spcAft>
                <a:spcPts val="400"/>
              </a:spcAft>
            </a:pPr>
            <a:r>
              <a:rPr sz="1350" b="0">
                <a:solidFill>
                  <a:srgbClr val="8FA3C0"/>
                </a:solidFill>
                <a:latin typeface="Segoe UI"/>
              </a:rPr>
              <a:t>They score accounts in isolation, so they cannot express “this account's counterparties are themselves suspicious” or “these forty credits arrived in ninety minutes”. Lacking the vocabulary, they compensate with sensitivity.</a:t>
            </a:r>
          </a:p>
        </p:txBody>
      </p:sp>
      <p:sp>
        <p:nvSpPr>
          <p:cNvPr id="20" name="Rounded Rectangle 19"/>
          <p:cNvSpPr/>
          <p:nvPr/>
        </p:nvSpPr>
        <p:spPr>
          <a:xfrm>
            <a:off x="6537960" y="3931920"/>
            <a:ext cx="2286000" cy="100584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65976" y="4059936"/>
            <a:ext cx="2029968" cy="457200"/>
          </a:xfrm>
          <a:prstGeom prst="rect">
            <a:avLst/>
          </a:prstGeom>
          <a:noFill/>
        </p:spPr>
        <p:txBody>
          <a:bodyPr wrap="square" anchor="t" lIns="0" rIns="0" tIns="0" bIns="0">
            <a:spAutoFit/>
          </a:bodyPr>
          <a:lstStyle/>
          <a:p>
            <a:pPr algn="ctr">
              <a:lnSpc>
                <a:spcPct val="115000"/>
              </a:lnSpc>
              <a:spcAft>
                <a:spcPts val="400"/>
              </a:spcAft>
            </a:pPr>
            <a:r>
              <a:rPr sz="2800" b="1">
                <a:solidFill>
                  <a:srgbClr val="FF8C42"/>
                </a:solidFill>
                <a:latin typeface="Segoe UI"/>
              </a:rPr>
              <a:t>9,647</a:t>
            </a:r>
          </a:p>
        </p:txBody>
      </p:sp>
      <p:sp>
        <p:nvSpPr>
          <p:cNvPr id="22" name="TextBox 21"/>
          <p:cNvSpPr txBox="1"/>
          <p:nvPr/>
        </p:nvSpPr>
        <p:spPr>
          <a:xfrm>
            <a:off x="6629400" y="4572000"/>
            <a:ext cx="210312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ALERTS RAISED</a:t>
            </a:r>
          </a:p>
        </p:txBody>
      </p:sp>
      <p:sp>
        <p:nvSpPr>
          <p:cNvPr id="23" name="Rounded Rectangle 22"/>
          <p:cNvSpPr/>
          <p:nvPr/>
        </p:nvSpPr>
        <p:spPr>
          <a:xfrm>
            <a:off x="9052560" y="3931920"/>
            <a:ext cx="2240280" cy="100584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0576" y="4059936"/>
            <a:ext cx="1984248" cy="457200"/>
          </a:xfrm>
          <a:prstGeom prst="rect">
            <a:avLst/>
          </a:prstGeom>
          <a:noFill/>
        </p:spPr>
        <p:txBody>
          <a:bodyPr wrap="square" anchor="t" lIns="0" rIns="0" tIns="0" bIns="0">
            <a:spAutoFit/>
          </a:bodyPr>
          <a:lstStyle/>
          <a:p>
            <a:pPr algn="ctr">
              <a:lnSpc>
                <a:spcPct val="115000"/>
              </a:lnSpc>
              <a:spcAft>
                <a:spcPts val="400"/>
              </a:spcAft>
            </a:pPr>
            <a:r>
              <a:rPr sz="2800" b="1">
                <a:solidFill>
                  <a:srgbClr val="FF4D5E"/>
                </a:solidFill>
                <a:latin typeface="Segoe UI"/>
              </a:rPr>
              <a:t>1.33%</a:t>
            </a:r>
          </a:p>
        </p:txBody>
      </p:sp>
      <p:sp>
        <p:nvSpPr>
          <p:cNvPr id="25" name="TextBox 24"/>
          <p:cNvSpPr txBox="1"/>
          <p:nvPr/>
        </p:nvSpPr>
        <p:spPr>
          <a:xfrm>
            <a:off x="9144000" y="4572000"/>
            <a:ext cx="205740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PRECISION</a:t>
            </a:r>
          </a:p>
        </p:txBody>
      </p:sp>
      <p:sp>
        <p:nvSpPr>
          <p:cNvPr id="26" name="TextBox 25"/>
          <p:cNvSpPr txBox="1"/>
          <p:nvPr/>
        </p:nvSpPr>
        <p:spPr>
          <a:xfrm>
            <a:off x="640080" y="5989320"/>
            <a:ext cx="10972800" cy="365760"/>
          </a:xfrm>
          <a:prstGeom prst="rect">
            <a:avLst/>
          </a:prstGeom>
          <a:noFill/>
        </p:spPr>
        <p:txBody>
          <a:bodyPr wrap="square" anchor="t" lIns="0" rIns="0" tIns="0" bIns="0">
            <a:spAutoFit/>
          </a:bodyPr>
          <a:lstStyle/>
          <a:p>
            <a:pPr algn="l">
              <a:lnSpc>
                <a:spcPct val="115000"/>
              </a:lnSpc>
              <a:spcAft>
                <a:spcPts val="400"/>
              </a:spcAft>
            </a:pPr>
            <a:r>
              <a:rPr sz="1500" b="1">
                <a:solidFill>
                  <a:srgbClr val="E6EDF7"/>
                </a:solidFill>
                <a:latin typeface="Segoe UI"/>
              </a:rPr>
              <a:t>99 of every 100 investigations are wasted. That is the number we set out to fix.</a:t>
            </a:r>
          </a:p>
        </p:txBody>
      </p:sp>
      <p:sp>
        <p:nvSpPr>
          <p:cNvPr id="27" name="TextBox 26"/>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28" name="TextBox 27"/>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2"/>
              </a:rPr>
              <a:t>github.com/archirajpoot/Bodhi_Mule_Hunter</a:t>
            </a:r>
            <a:r>
              <a:rPr sz="950">
                <a:solidFill>
                  <a:srgbClr val="61708A"/>
                </a:solidFill>
                <a:latin typeface="Consolas"/>
              </a:rPr>
              <a:t>   ·   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THE CORE INSIGHT</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Aggregates destroy the signal that matters</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The same monthly totals describe a shopkeeper and a mule. Only the ordering separates them — and no aggregate preserves order.</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11680"/>
            <a:ext cx="5257800" cy="228600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40280"/>
            <a:ext cx="4754880" cy="320040"/>
          </a:xfrm>
          <a:prstGeom prst="rect">
            <a:avLst/>
          </a:prstGeom>
          <a:noFill/>
        </p:spPr>
        <p:txBody>
          <a:bodyPr wrap="square" anchor="t" lIns="0" rIns="0" tIns="0" bIns="0">
            <a:spAutoFit/>
          </a:bodyPr>
          <a:lstStyle/>
          <a:p>
            <a:pPr algn="l">
              <a:lnSpc>
                <a:spcPct val="115000"/>
              </a:lnSpc>
              <a:spcAft>
                <a:spcPts val="400"/>
              </a:spcAft>
            </a:pPr>
            <a:r>
              <a:rPr sz="1200" b="1">
                <a:solidFill>
                  <a:srgbClr val="2ECC9B"/>
                </a:solidFill>
                <a:latin typeface="Segoe UI"/>
              </a:rPr>
              <a:t>SHOPKEEPER</a:t>
            </a:r>
          </a:p>
        </p:txBody>
      </p:sp>
      <p:sp>
        <p:nvSpPr>
          <p:cNvPr id="9" name="TextBox 8"/>
          <p:cNvSpPr txBox="1"/>
          <p:nvPr/>
        </p:nvSpPr>
        <p:spPr>
          <a:xfrm>
            <a:off x="914400" y="2651760"/>
            <a:ext cx="4754880" cy="1371600"/>
          </a:xfrm>
          <a:prstGeom prst="rect">
            <a:avLst/>
          </a:prstGeom>
          <a:noFill/>
        </p:spPr>
        <p:txBody>
          <a:bodyPr wrap="square" anchor="t" lIns="0" rIns="0" tIns="0" bIns="0">
            <a:spAutoFit/>
          </a:bodyPr>
          <a:lstStyle/>
          <a:p>
            <a:pPr algn="l">
              <a:lnSpc>
                <a:spcPct val="135000"/>
              </a:lnSpc>
              <a:spcAft>
                <a:spcPts val="400"/>
              </a:spcAft>
            </a:pPr>
            <a:r>
              <a:rPr sz="1400" b="0">
                <a:solidFill>
                  <a:srgbClr val="8FA3C0"/>
                </a:solidFill>
                <a:latin typeface="Segoe UI"/>
              </a:rPr>
              <a:t>“Received ₹4 lakh from 38 payers over the month.”
Spread across weeks. Money rests. Counterparties repeat.</a:t>
            </a:r>
          </a:p>
        </p:txBody>
      </p:sp>
      <p:sp>
        <p:nvSpPr>
          <p:cNvPr id="10" name="Rounded Rectangle 9"/>
          <p:cNvSpPr/>
          <p:nvPr/>
        </p:nvSpPr>
        <p:spPr>
          <a:xfrm>
            <a:off x="6263640" y="2011680"/>
            <a:ext cx="5257800" cy="228600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240280"/>
            <a:ext cx="4754880" cy="320040"/>
          </a:xfrm>
          <a:prstGeom prst="rect">
            <a:avLst/>
          </a:prstGeom>
          <a:noFill/>
        </p:spPr>
        <p:txBody>
          <a:bodyPr wrap="square" anchor="t" lIns="0" rIns="0" tIns="0" bIns="0">
            <a:spAutoFit/>
          </a:bodyPr>
          <a:lstStyle/>
          <a:p>
            <a:pPr algn="l">
              <a:lnSpc>
                <a:spcPct val="115000"/>
              </a:lnSpc>
              <a:spcAft>
                <a:spcPts val="400"/>
              </a:spcAft>
            </a:pPr>
            <a:r>
              <a:rPr sz="1200" b="1">
                <a:solidFill>
                  <a:srgbClr val="FF4D5E"/>
                </a:solidFill>
                <a:latin typeface="Segoe UI"/>
              </a:rPr>
              <a:t>MULE</a:t>
            </a:r>
          </a:p>
        </p:txBody>
      </p:sp>
      <p:sp>
        <p:nvSpPr>
          <p:cNvPr id="12" name="TextBox 11"/>
          <p:cNvSpPr txBox="1"/>
          <p:nvPr/>
        </p:nvSpPr>
        <p:spPr>
          <a:xfrm>
            <a:off x="6537960" y="2651760"/>
            <a:ext cx="4754880" cy="1463040"/>
          </a:xfrm>
          <a:prstGeom prst="rect">
            <a:avLst/>
          </a:prstGeom>
          <a:noFill/>
        </p:spPr>
        <p:txBody>
          <a:bodyPr wrap="square" anchor="t" lIns="0" rIns="0" tIns="0" bIns="0">
            <a:spAutoFit/>
          </a:bodyPr>
          <a:lstStyle/>
          <a:p>
            <a:pPr algn="l">
              <a:lnSpc>
                <a:spcPct val="135000"/>
              </a:lnSpc>
              <a:spcAft>
                <a:spcPts val="400"/>
              </a:spcAft>
            </a:pPr>
            <a:r>
              <a:rPr sz="1400" b="0">
                <a:solidFill>
                  <a:srgbClr val="8FA3C0"/>
                </a:solidFill>
                <a:latin typeface="Segoe UI"/>
              </a:rPr>
              <a:t>“Received ₹4 lakh from 38 payers between 14:10 and 15:40, then withdrew ₹3.8 lakh in nineteen ATM visits beginning at 03:12.”</a:t>
            </a:r>
          </a:p>
        </p:txBody>
      </p:sp>
      <p:sp>
        <p:nvSpPr>
          <p:cNvPr id="13" name="TextBox 12"/>
          <p:cNvSpPr txBox="1"/>
          <p:nvPr/>
        </p:nvSpPr>
        <p:spPr>
          <a:xfrm>
            <a:off x="640080" y="5029200"/>
            <a:ext cx="10972800" cy="411480"/>
          </a:xfrm>
          <a:prstGeom prst="rect">
            <a:avLst/>
          </a:prstGeom>
          <a:noFill/>
        </p:spPr>
        <p:txBody>
          <a:bodyPr wrap="square" anchor="t" lIns="0" rIns="0" tIns="0" bIns="0">
            <a:spAutoFit/>
          </a:bodyPr>
          <a:lstStyle/>
          <a:p>
            <a:pPr algn="l">
              <a:lnSpc>
                <a:spcPct val="115000"/>
              </a:lnSpc>
              <a:spcAft>
                <a:spcPts val="400"/>
              </a:spcAft>
            </a:pPr>
            <a:r>
              <a:rPr sz="1900" b="1">
                <a:solidFill>
                  <a:srgbClr val="E6EDF7"/>
                </a:solidFill>
                <a:latin typeface="Segoe UI"/>
              </a:rPr>
              <a:t>Identical aggregates. Completely different sequence.</a:t>
            </a:r>
          </a:p>
        </p:txBody>
      </p:sp>
      <p:sp>
        <p:nvSpPr>
          <p:cNvPr id="14" name="TextBox 13"/>
          <p:cNvSpPr txBox="1"/>
          <p:nvPr/>
        </p:nvSpPr>
        <p:spPr>
          <a:xfrm>
            <a:off x="640080" y="5532120"/>
            <a:ext cx="10972800" cy="731520"/>
          </a:xfrm>
          <a:prstGeom prst="rect">
            <a:avLst/>
          </a:prstGeom>
          <a:noFill/>
        </p:spPr>
        <p:txBody>
          <a:bodyPr wrap="square" anchor="t" lIns="0" rIns="0" tIns="0" bIns="0">
            <a:spAutoFit/>
          </a:bodyPr>
          <a:lstStyle/>
          <a:p>
            <a:pPr algn="l">
              <a:lnSpc>
                <a:spcPct val="130000"/>
              </a:lnSpc>
              <a:spcAft>
                <a:spcPts val="400"/>
              </a:spcAft>
            </a:pPr>
            <a:r>
              <a:rPr sz="1400" b="0">
                <a:solidFill>
                  <a:srgbClr val="8FA3C0"/>
                </a:solidFill>
                <a:latin typeface="Segoe UI"/>
              </a:rPr>
              <a:t>So the ensemble is not three flavours of the same tabular model. It is a tabular model, a graph neural network and a temporal model — each seeing something the other two structurally cannot.</a:t>
            </a:r>
          </a:p>
        </p:txBody>
      </p:sp>
      <p:sp>
        <p:nvSpPr>
          <p:cNvPr id="15" name="TextBox 14"/>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16" name="TextBox 15"/>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2"/>
              </a:rPr>
              <a:t>github.com/archirajpoot/Bodhi_Mule_Hunter</a:t>
            </a:r>
            <a:r>
              <a:rPr sz="950">
                <a:solidFill>
                  <a:srgbClr val="61708A"/>
                </a:solidFill>
                <a:latin typeface="Consolas"/>
              </a:rPr>
              <a:t>   ·   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ARCHITECTURE</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Nine layers, each owned by a named agent</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Declared input/output contracts, so the provenance of every decision is recoverable from the audit trail.</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874520"/>
            <a:ext cx="10881360" cy="1298448"/>
          </a:xfrm>
          <a:prstGeom prst="roundRect">
            <a:avLst>
              <a:gd name="adj" fmla="val 4000"/>
            </a:avLst>
          </a:prstGeom>
          <a:solidFill>
            <a:srgbClr val="121826"/>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984248"/>
            <a:ext cx="1828800" cy="274320"/>
          </a:xfrm>
          <a:prstGeom prst="rect">
            <a:avLst/>
          </a:prstGeom>
          <a:noFill/>
        </p:spPr>
        <p:txBody>
          <a:bodyPr wrap="square" anchor="t" lIns="0" rIns="0" tIns="0" bIns="0">
            <a:spAutoFit/>
          </a:bodyPr>
          <a:lstStyle/>
          <a:p>
            <a:pPr algn="l">
              <a:lnSpc>
                <a:spcPct val="115000"/>
              </a:lnSpc>
              <a:spcAft>
                <a:spcPts val="400"/>
              </a:spcAft>
            </a:pPr>
            <a:r>
              <a:rPr sz="950" b="1">
                <a:solidFill>
                  <a:srgbClr val="4DA3FF"/>
                </a:solidFill>
                <a:latin typeface="Segoe UI"/>
              </a:rPr>
              <a:t>INGEST &amp; ENRICH</a:t>
            </a:r>
          </a:p>
        </p:txBody>
      </p:sp>
      <p:sp>
        <p:nvSpPr>
          <p:cNvPr id="9" name="TextBox 8"/>
          <p:cNvSpPr txBox="1"/>
          <p:nvPr/>
        </p:nvSpPr>
        <p:spPr>
          <a:xfrm>
            <a:off x="841248" y="2276856"/>
            <a:ext cx="384048" cy="256032"/>
          </a:xfrm>
          <a:prstGeom prst="rect">
            <a:avLst/>
          </a:prstGeom>
          <a:noFill/>
        </p:spPr>
        <p:txBody>
          <a:bodyPr wrap="square" anchor="t" lIns="0" rIns="0" tIns="0" bIns="0">
            <a:spAutoFit/>
          </a:bodyPr>
          <a:lstStyle/>
          <a:p>
            <a:pPr algn="l">
              <a:lnSpc>
                <a:spcPct val="115000"/>
              </a:lnSpc>
              <a:spcAft>
                <a:spcPts val="400"/>
              </a:spcAft>
            </a:pPr>
            <a:r>
              <a:rPr sz="1200" b="1">
                <a:solidFill>
                  <a:srgbClr val="4DA3FF"/>
                </a:solidFill>
                <a:latin typeface="Consolas"/>
              </a:rPr>
              <a:t>L1</a:t>
            </a:r>
          </a:p>
        </p:txBody>
      </p:sp>
      <p:sp>
        <p:nvSpPr>
          <p:cNvPr id="10" name="TextBox 9"/>
          <p:cNvSpPr txBox="1"/>
          <p:nvPr/>
        </p:nvSpPr>
        <p:spPr>
          <a:xfrm>
            <a:off x="1325880" y="2276856"/>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Transaction ingestion</a:t>
            </a:r>
          </a:p>
        </p:txBody>
      </p:sp>
      <p:sp>
        <p:nvSpPr>
          <p:cNvPr id="11" name="TextBox 10"/>
          <p:cNvSpPr txBox="1"/>
          <p:nvPr/>
        </p:nvSpPr>
        <p:spPr>
          <a:xfrm>
            <a:off x="3794760" y="2276856"/>
            <a:ext cx="7498079" cy="256032"/>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UPI · IMPS · NEFT · RTGS · AePS · ATM · card + NCRP tickets + RBI feeds</a:t>
            </a:r>
          </a:p>
        </p:txBody>
      </p:sp>
      <p:sp>
        <p:nvSpPr>
          <p:cNvPr id="12" name="TextBox 11"/>
          <p:cNvSpPr txBox="1"/>
          <p:nvPr/>
        </p:nvSpPr>
        <p:spPr>
          <a:xfrm>
            <a:off x="841248" y="2551176"/>
            <a:ext cx="384048" cy="256032"/>
          </a:xfrm>
          <a:prstGeom prst="rect">
            <a:avLst/>
          </a:prstGeom>
          <a:noFill/>
        </p:spPr>
        <p:txBody>
          <a:bodyPr wrap="square" anchor="t" lIns="0" rIns="0" tIns="0" bIns="0">
            <a:spAutoFit/>
          </a:bodyPr>
          <a:lstStyle/>
          <a:p>
            <a:pPr algn="l">
              <a:lnSpc>
                <a:spcPct val="115000"/>
              </a:lnSpc>
              <a:spcAft>
                <a:spcPts val="400"/>
              </a:spcAft>
            </a:pPr>
            <a:r>
              <a:rPr sz="1200" b="1">
                <a:solidFill>
                  <a:srgbClr val="4DA3FF"/>
                </a:solidFill>
                <a:latin typeface="Consolas"/>
              </a:rPr>
              <a:t>L2</a:t>
            </a:r>
          </a:p>
        </p:txBody>
      </p:sp>
      <p:sp>
        <p:nvSpPr>
          <p:cNvPr id="13" name="TextBox 12"/>
          <p:cNvSpPr txBox="1"/>
          <p:nvPr/>
        </p:nvSpPr>
        <p:spPr>
          <a:xfrm>
            <a:off x="1325880" y="2551176"/>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Feature engineering</a:t>
            </a:r>
          </a:p>
        </p:txBody>
      </p:sp>
      <p:sp>
        <p:nvSpPr>
          <p:cNvPr id="14" name="TextBox 13"/>
          <p:cNvSpPr txBox="1"/>
          <p:nvPr/>
        </p:nvSpPr>
        <p:spPr>
          <a:xfrm>
            <a:off x="3794760" y="2551176"/>
            <a:ext cx="7498079" cy="256032"/>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60 features: velocity, fan-in/out, dormancy, burst, structuring, device reuse</a:t>
            </a:r>
          </a:p>
        </p:txBody>
      </p:sp>
      <p:sp>
        <p:nvSpPr>
          <p:cNvPr id="15" name="TextBox 14"/>
          <p:cNvSpPr txBox="1"/>
          <p:nvPr/>
        </p:nvSpPr>
        <p:spPr>
          <a:xfrm>
            <a:off x="841248" y="2825496"/>
            <a:ext cx="384048" cy="256032"/>
          </a:xfrm>
          <a:prstGeom prst="rect">
            <a:avLst/>
          </a:prstGeom>
          <a:noFill/>
        </p:spPr>
        <p:txBody>
          <a:bodyPr wrap="square" anchor="t" lIns="0" rIns="0" tIns="0" bIns="0">
            <a:spAutoFit/>
          </a:bodyPr>
          <a:lstStyle/>
          <a:p>
            <a:pPr algn="l">
              <a:lnSpc>
                <a:spcPct val="115000"/>
              </a:lnSpc>
              <a:spcAft>
                <a:spcPts val="400"/>
              </a:spcAft>
            </a:pPr>
            <a:r>
              <a:rPr sz="1200" b="1">
                <a:solidFill>
                  <a:srgbClr val="4DA3FF"/>
                </a:solidFill>
                <a:latin typeface="Consolas"/>
              </a:rPr>
              <a:t>L3</a:t>
            </a:r>
          </a:p>
        </p:txBody>
      </p:sp>
      <p:sp>
        <p:nvSpPr>
          <p:cNvPr id="16" name="TextBox 15"/>
          <p:cNvSpPr txBox="1"/>
          <p:nvPr/>
        </p:nvSpPr>
        <p:spPr>
          <a:xfrm>
            <a:off x="1325880" y="2825496"/>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Graph construction</a:t>
            </a:r>
          </a:p>
        </p:txBody>
      </p:sp>
      <p:sp>
        <p:nvSpPr>
          <p:cNvPr id="17" name="TextBox 16"/>
          <p:cNvSpPr txBox="1"/>
          <p:nvPr/>
        </p:nvSpPr>
        <p:spPr>
          <a:xfrm>
            <a:off x="3794760" y="2825496"/>
            <a:ext cx="7498079" cy="256032"/>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accounts × devices × IPs × VPAs, shared-identifier cliques capped</a:t>
            </a:r>
          </a:p>
        </p:txBody>
      </p:sp>
      <p:sp>
        <p:nvSpPr>
          <p:cNvPr id="18" name="Rounded Rectangle 17"/>
          <p:cNvSpPr/>
          <p:nvPr/>
        </p:nvSpPr>
        <p:spPr>
          <a:xfrm>
            <a:off x="640080" y="3319272"/>
            <a:ext cx="10881360" cy="1298448"/>
          </a:xfrm>
          <a:prstGeom prst="roundRect">
            <a:avLst>
              <a:gd name="adj" fmla="val 4000"/>
            </a:avLst>
          </a:prstGeom>
          <a:solidFill>
            <a:srgbClr val="121826"/>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3429000"/>
            <a:ext cx="1828800" cy="274320"/>
          </a:xfrm>
          <a:prstGeom prst="rect">
            <a:avLst/>
          </a:prstGeom>
          <a:noFill/>
        </p:spPr>
        <p:txBody>
          <a:bodyPr wrap="square" anchor="t" lIns="0" rIns="0" tIns="0" bIns="0">
            <a:spAutoFit/>
          </a:bodyPr>
          <a:lstStyle/>
          <a:p>
            <a:pPr algn="l">
              <a:lnSpc>
                <a:spcPct val="115000"/>
              </a:lnSpc>
              <a:spcAft>
                <a:spcPts val="400"/>
              </a:spcAft>
            </a:pPr>
            <a:r>
              <a:rPr sz="950" b="1">
                <a:solidFill>
                  <a:srgbClr val="7D5CFF"/>
                </a:solidFill>
                <a:latin typeface="Segoe UI"/>
              </a:rPr>
              <a:t>DETECT</a:t>
            </a:r>
          </a:p>
        </p:txBody>
      </p:sp>
      <p:sp>
        <p:nvSpPr>
          <p:cNvPr id="20" name="TextBox 19"/>
          <p:cNvSpPr txBox="1"/>
          <p:nvPr/>
        </p:nvSpPr>
        <p:spPr>
          <a:xfrm>
            <a:off x="841248" y="3721608"/>
            <a:ext cx="384048" cy="256032"/>
          </a:xfrm>
          <a:prstGeom prst="rect">
            <a:avLst/>
          </a:prstGeom>
          <a:noFill/>
        </p:spPr>
        <p:txBody>
          <a:bodyPr wrap="square" anchor="t" lIns="0" rIns="0" tIns="0" bIns="0">
            <a:spAutoFit/>
          </a:bodyPr>
          <a:lstStyle/>
          <a:p>
            <a:pPr algn="l">
              <a:lnSpc>
                <a:spcPct val="115000"/>
              </a:lnSpc>
              <a:spcAft>
                <a:spcPts val="400"/>
              </a:spcAft>
            </a:pPr>
            <a:r>
              <a:rPr sz="1200" b="1">
                <a:solidFill>
                  <a:srgbClr val="7D5CFF"/>
                </a:solidFill>
                <a:latin typeface="Consolas"/>
              </a:rPr>
              <a:t>L4</a:t>
            </a:r>
          </a:p>
        </p:txBody>
      </p:sp>
      <p:sp>
        <p:nvSpPr>
          <p:cNvPr id="21" name="TextBox 20"/>
          <p:cNvSpPr txBox="1"/>
          <p:nvPr/>
        </p:nvSpPr>
        <p:spPr>
          <a:xfrm>
            <a:off x="1325880" y="3721608"/>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XGBoost screening</a:t>
            </a:r>
          </a:p>
        </p:txBody>
      </p:sp>
      <p:sp>
        <p:nvSpPr>
          <p:cNvPr id="22" name="TextBox 21"/>
          <p:cNvSpPr txBox="1"/>
          <p:nvPr/>
        </p:nvSpPr>
        <p:spPr>
          <a:xfrm>
            <a:off x="3794760" y="3721608"/>
            <a:ext cx="7498079" cy="256032"/>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tabular behaviour → exact TreeSHAP attributions</a:t>
            </a:r>
          </a:p>
        </p:txBody>
      </p:sp>
      <p:sp>
        <p:nvSpPr>
          <p:cNvPr id="23" name="TextBox 22"/>
          <p:cNvSpPr txBox="1"/>
          <p:nvPr/>
        </p:nvSpPr>
        <p:spPr>
          <a:xfrm>
            <a:off x="841248" y="3995928"/>
            <a:ext cx="384048" cy="256032"/>
          </a:xfrm>
          <a:prstGeom prst="rect">
            <a:avLst/>
          </a:prstGeom>
          <a:noFill/>
        </p:spPr>
        <p:txBody>
          <a:bodyPr wrap="square" anchor="t" lIns="0" rIns="0" tIns="0" bIns="0">
            <a:spAutoFit/>
          </a:bodyPr>
          <a:lstStyle/>
          <a:p>
            <a:pPr algn="l">
              <a:lnSpc>
                <a:spcPct val="115000"/>
              </a:lnSpc>
              <a:spcAft>
                <a:spcPts val="400"/>
              </a:spcAft>
            </a:pPr>
            <a:r>
              <a:rPr sz="1200" b="1">
                <a:solidFill>
                  <a:srgbClr val="7D5CFF"/>
                </a:solidFill>
                <a:latin typeface="Consolas"/>
              </a:rPr>
              <a:t>L5</a:t>
            </a:r>
          </a:p>
        </p:txBody>
      </p:sp>
      <p:sp>
        <p:nvSpPr>
          <p:cNvPr id="24" name="TextBox 23"/>
          <p:cNvSpPr txBox="1"/>
          <p:nvPr/>
        </p:nvSpPr>
        <p:spPr>
          <a:xfrm>
            <a:off x="1325880" y="3995928"/>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GraphSAGE</a:t>
            </a:r>
          </a:p>
        </p:txBody>
      </p:sp>
      <p:sp>
        <p:nvSpPr>
          <p:cNvPr id="25" name="TextBox 24"/>
          <p:cNvSpPr txBox="1"/>
          <p:nvPr/>
        </p:nvSpPr>
        <p:spPr>
          <a:xfrm>
            <a:off x="3794760" y="3995928"/>
            <a:ext cx="7498079" cy="256032"/>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network structure → rings, device farms, multi-hop layering</a:t>
            </a:r>
          </a:p>
        </p:txBody>
      </p:sp>
      <p:sp>
        <p:nvSpPr>
          <p:cNvPr id="26" name="TextBox 25"/>
          <p:cNvSpPr txBox="1"/>
          <p:nvPr/>
        </p:nvSpPr>
        <p:spPr>
          <a:xfrm>
            <a:off x="841248" y="4270248"/>
            <a:ext cx="384048" cy="256032"/>
          </a:xfrm>
          <a:prstGeom prst="rect">
            <a:avLst/>
          </a:prstGeom>
          <a:noFill/>
        </p:spPr>
        <p:txBody>
          <a:bodyPr wrap="square" anchor="t" lIns="0" rIns="0" tIns="0" bIns="0">
            <a:spAutoFit/>
          </a:bodyPr>
          <a:lstStyle/>
          <a:p>
            <a:pPr algn="l">
              <a:lnSpc>
                <a:spcPct val="115000"/>
              </a:lnSpc>
              <a:spcAft>
                <a:spcPts val="400"/>
              </a:spcAft>
            </a:pPr>
            <a:r>
              <a:rPr sz="1200" b="1">
                <a:solidFill>
                  <a:srgbClr val="7D5CFF"/>
                </a:solidFill>
                <a:latin typeface="Consolas"/>
              </a:rPr>
              <a:t>L6</a:t>
            </a:r>
          </a:p>
        </p:txBody>
      </p:sp>
      <p:sp>
        <p:nvSpPr>
          <p:cNvPr id="27" name="TextBox 26"/>
          <p:cNvSpPr txBox="1"/>
          <p:nvPr/>
        </p:nvSpPr>
        <p:spPr>
          <a:xfrm>
            <a:off x="1325880" y="4270248"/>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Temporal graph network</a:t>
            </a:r>
          </a:p>
        </p:txBody>
      </p:sp>
      <p:sp>
        <p:nvSpPr>
          <p:cNvPr id="28" name="TextBox 27"/>
          <p:cNvSpPr txBox="1"/>
          <p:nvPr/>
        </p:nvSpPr>
        <p:spPr>
          <a:xfrm>
            <a:off x="3794760" y="4270248"/>
            <a:ext cx="7498079" cy="256032"/>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event ordering → smurfing, dormant bursts, rapid routing</a:t>
            </a:r>
          </a:p>
        </p:txBody>
      </p:sp>
      <p:sp>
        <p:nvSpPr>
          <p:cNvPr id="29" name="Rounded Rectangle 28"/>
          <p:cNvSpPr/>
          <p:nvPr/>
        </p:nvSpPr>
        <p:spPr>
          <a:xfrm>
            <a:off x="640080" y="4764024"/>
            <a:ext cx="10881360" cy="1298448"/>
          </a:xfrm>
          <a:prstGeom prst="roundRect">
            <a:avLst>
              <a:gd name="adj" fmla="val 4000"/>
            </a:avLst>
          </a:prstGeom>
          <a:solidFill>
            <a:srgbClr val="121826"/>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4873752"/>
            <a:ext cx="1828800" cy="274320"/>
          </a:xfrm>
          <a:prstGeom prst="rect">
            <a:avLst/>
          </a:prstGeom>
          <a:noFill/>
        </p:spPr>
        <p:txBody>
          <a:bodyPr wrap="square" anchor="t" lIns="0" rIns="0" tIns="0" bIns="0">
            <a:spAutoFit/>
          </a:bodyPr>
          <a:lstStyle/>
          <a:p>
            <a:pPr algn="l">
              <a:lnSpc>
                <a:spcPct val="115000"/>
              </a:lnSpc>
              <a:spcAft>
                <a:spcPts val="400"/>
              </a:spcAft>
            </a:pPr>
            <a:r>
              <a:rPr sz="950" b="1">
                <a:solidFill>
                  <a:srgbClr val="2ECC9B"/>
                </a:solidFill>
                <a:latin typeface="Segoe UI"/>
              </a:rPr>
              <a:t>DECIDE &amp; ACT</a:t>
            </a:r>
          </a:p>
        </p:txBody>
      </p:sp>
      <p:sp>
        <p:nvSpPr>
          <p:cNvPr id="31" name="TextBox 30"/>
          <p:cNvSpPr txBox="1"/>
          <p:nvPr/>
        </p:nvSpPr>
        <p:spPr>
          <a:xfrm>
            <a:off x="841248" y="5166360"/>
            <a:ext cx="384048" cy="256032"/>
          </a:xfrm>
          <a:prstGeom prst="rect">
            <a:avLst/>
          </a:prstGeom>
          <a:noFill/>
        </p:spPr>
        <p:txBody>
          <a:bodyPr wrap="square" anchor="t" lIns="0" rIns="0" tIns="0" bIns="0">
            <a:spAutoFit/>
          </a:bodyPr>
          <a:lstStyle/>
          <a:p>
            <a:pPr algn="l">
              <a:lnSpc>
                <a:spcPct val="115000"/>
              </a:lnSpc>
              <a:spcAft>
                <a:spcPts val="400"/>
              </a:spcAft>
            </a:pPr>
            <a:r>
              <a:rPr sz="1200" b="1">
                <a:solidFill>
                  <a:srgbClr val="2ECC9B"/>
                </a:solidFill>
                <a:latin typeface="Consolas"/>
              </a:rPr>
              <a:t>L7</a:t>
            </a:r>
          </a:p>
        </p:txBody>
      </p:sp>
      <p:sp>
        <p:nvSpPr>
          <p:cNvPr id="32" name="TextBox 31"/>
          <p:cNvSpPr txBox="1"/>
          <p:nvPr/>
        </p:nvSpPr>
        <p:spPr>
          <a:xfrm>
            <a:off x="1325880" y="5166360"/>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Risk fusion</a:t>
            </a:r>
          </a:p>
        </p:txBody>
      </p:sp>
      <p:sp>
        <p:nvSpPr>
          <p:cNvPr id="33" name="TextBox 32"/>
          <p:cNvSpPr txBox="1"/>
          <p:nvPr/>
        </p:nvSpPr>
        <p:spPr>
          <a:xfrm>
            <a:off x="3794760" y="5166360"/>
            <a:ext cx="7498079" cy="256032"/>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monotone non-negative blend, isotonic calibrated 0–100</a:t>
            </a:r>
          </a:p>
        </p:txBody>
      </p:sp>
      <p:sp>
        <p:nvSpPr>
          <p:cNvPr id="34" name="TextBox 33"/>
          <p:cNvSpPr txBox="1"/>
          <p:nvPr/>
        </p:nvSpPr>
        <p:spPr>
          <a:xfrm>
            <a:off x="841248" y="5440680"/>
            <a:ext cx="384048" cy="256032"/>
          </a:xfrm>
          <a:prstGeom prst="rect">
            <a:avLst/>
          </a:prstGeom>
          <a:noFill/>
        </p:spPr>
        <p:txBody>
          <a:bodyPr wrap="square" anchor="t" lIns="0" rIns="0" tIns="0" bIns="0">
            <a:spAutoFit/>
          </a:bodyPr>
          <a:lstStyle/>
          <a:p>
            <a:pPr algn="l">
              <a:lnSpc>
                <a:spcPct val="115000"/>
              </a:lnSpc>
              <a:spcAft>
                <a:spcPts val="400"/>
              </a:spcAft>
            </a:pPr>
            <a:r>
              <a:rPr sz="1200" b="1">
                <a:solidFill>
                  <a:srgbClr val="2ECC9B"/>
                </a:solidFill>
                <a:latin typeface="Consolas"/>
              </a:rPr>
              <a:t>L8</a:t>
            </a:r>
          </a:p>
        </p:txBody>
      </p:sp>
      <p:sp>
        <p:nvSpPr>
          <p:cNvPr id="35" name="TextBox 34"/>
          <p:cNvSpPr txBox="1"/>
          <p:nvPr/>
        </p:nvSpPr>
        <p:spPr>
          <a:xfrm>
            <a:off x="1325880" y="5440680"/>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Explainability</a:t>
            </a:r>
          </a:p>
        </p:txBody>
      </p:sp>
      <p:sp>
        <p:nvSpPr>
          <p:cNvPr id="36" name="TextBox 35"/>
          <p:cNvSpPr txBox="1"/>
          <p:nvPr/>
        </p:nvSpPr>
        <p:spPr>
          <a:xfrm>
            <a:off x="3794760" y="5440680"/>
            <a:ext cx="7498079" cy="256032"/>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TreeSHAP + GNNExplainer + plain-English narrative</a:t>
            </a:r>
          </a:p>
        </p:txBody>
      </p:sp>
      <p:sp>
        <p:nvSpPr>
          <p:cNvPr id="37" name="TextBox 36"/>
          <p:cNvSpPr txBox="1"/>
          <p:nvPr/>
        </p:nvSpPr>
        <p:spPr>
          <a:xfrm>
            <a:off x="841248" y="5715000"/>
            <a:ext cx="384048" cy="256032"/>
          </a:xfrm>
          <a:prstGeom prst="rect">
            <a:avLst/>
          </a:prstGeom>
          <a:noFill/>
        </p:spPr>
        <p:txBody>
          <a:bodyPr wrap="square" anchor="t" lIns="0" rIns="0" tIns="0" bIns="0">
            <a:spAutoFit/>
          </a:bodyPr>
          <a:lstStyle/>
          <a:p>
            <a:pPr algn="l">
              <a:lnSpc>
                <a:spcPct val="115000"/>
              </a:lnSpc>
              <a:spcAft>
                <a:spcPts val="400"/>
              </a:spcAft>
            </a:pPr>
            <a:r>
              <a:rPr sz="1200" b="1">
                <a:solidFill>
                  <a:srgbClr val="2ECC9B"/>
                </a:solidFill>
                <a:latin typeface="Consolas"/>
              </a:rPr>
              <a:t>L9</a:t>
            </a:r>
          </a:p>
        </p:txBody>
      </p:sp>
      <p:sp>
        <p:nvSpPr>
          <p:cNvPr id="38" name="TextBox 37"/>
          <p:cNvSpPr txBox="1"/>
          <p:nvPr/>
        </p:nvSpPr>
        <p:spPr>
          <a:xfrm>
            <a:off x="1325880" y="5715000"/>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Alerting &amp; kill-switch</a:t>
            </a:r>
          </a:p>
        </p:txBody>
      </p:sp>
      <p:sp>
        <p:nvSpPr>
          <p:cNvPr id="39" name="TextBox 38"/>
          <p:cNvSpPr txBox="1"/>
          <p:nvPr/>
        </p:nvSpPr>
        <p:spPr>
          <a:xfrm>
            <a:off x="3794760" y="5715000"/>
            <a:ext cx="7498079" cy="256032"/>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proportionate, corroborated, reversible, audited</a:t>
            </a:r>
          </a:p>
        </p:txBody>
      </p:sp>
      <p:sp>
        <p:nvSpPr>
          <p:cNvPr id="40" name="TextBox 39"/>
          <p:cNvSpPr txBox="1"/>
          <p:nvPr/>
        </p:nvSpPr>
        <p:spPr>
          <a:xfrm>
            <a:off x="640080" y="6126480"/>
            <a:ext cx="10972800" cy="320040"/>
          </a:xfrm>
          <a:prstGeom prst="rect">
            <a:avLst/>
          </a:prstGeom>
          <a:noFill/>
        </p:spPr>
        <p:txBody>
          <a:bodyPr wrap="square" anchor="t" lIns="0" rIns="0" tIns="0" bIns="0">
            <a:spAutoFit/>
          </a:bodyPr>
          <a:lstStyle/>
          <a:p>
            <a:pPr algn="l">
              <a:lnSpc>
                <a:spcPct val="125000"/>
              </a:lnSpc>
              <a:spcAft>
                <a:spcPts val="400"/>
              </a:spcAft>
            </a:pPr>
            <a:r>
              <a:rPr sz="1200" b="0">
                <a:solidFill>
                  <a:srgbClr val="61708A"/>
                </a:solidFill>
                <a:latin typeface="Segoe UI"/>
              </a:rPr>
              <a:t>BODHI SHIELD (APK static triage) feeds extracted UPI handles and beneficiary accounts into Layer 3 — priming the graph before the first victim installs the trojan.</a:t>
            </a:r>
          </a:p>
        </p:txBody>
      </p:sp>
      <p:sp>
        <p:nvSpPr>
          <p:cNvPr id="41" name="TextBox 40"/>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42" name="TextBox 41"/>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2"/>
              </a:rPr>
              <a:t>github.com/archirajpoot/Bodhi_Mule_Hunter</a:t>
            </a:r>
            <a:r>
              <a:rPr sz="950">
                <a:solidFill>
                  <a:srgbClr val="61708A"/>
                </a:solidFill>
                <a:latin typeface="Consolas"/>
              </a:rPr>
              <a:t>   ·   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LAYERS 4–6</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Three views that cannot see each other's evidence</a:t>
            </a:r>
          </a:p>
        </p:txBody>
      </p:sp>
      <p:sp>
        <p:nvSpPr>
          <p:cNvPr id="5" name="Rectangle 4"/>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435608"/>
            <a:ext cx="3520440" cy="3429000"/>
          </a:xfrm>
          <a:prstGeom prst="roundRect">
            <a:avLst>
              <a:gd name="adj" fmla="val 4000"/>
            </a:avLst>
          </a:prstGeom>
          <a:solidFill>
            <a:srgbClr val="121826"/>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64208"/>
            <a:ext cx="3017520" cy="228600"/>
          </a:xfrm>
          <a:prstGeom prst="rect">
            <a:avLst/>
          </a:prstGeom>
          <a:noFill/>
        </p:spPr>
        <p:txBody>
          <a:bodyPr wrap="square" anchor="t" lIns="0" rIns="0" tIns="0" bIns="0">
            <a:spAutoFit/>
          </a:bodyPr>
          <a:lstStyle/>
          <a:p>
            <a:pPr algn="l">
              <a:lnSpc>
                <a:spcPct val="115000"/>
              </a:lnSpc>
              <a:spcAft>
                <a:spcPts val="400"/>
              </a:spcAft>
            </a:pPr>
            <a:r>
              <a:rPr sz="950" b="1">
                <a:solidFill>
                  <a:srgbClr val="4DA3FF"/>
                </a:solidFill>
                <a:latin typeface="Segoe UI"/>
              </a:rPr>
              <a:t>LAYER 4</a:t>
            </a:r>
          </a:p>
        </p:txBody>
      </p:sp>
      <p:sp>
        <p:nvSpPr>
          <p:cNvPr id="8" name="TextBox 7"/>
          <p:cNvSpPr txBox="1"/>
          <p:nvPr/>
        </p:nvSpPr>
        <p:spPr>
          <a:xfrm>
            <a:off x="896112" y="1920240"/>
            <a:ext cx="3017520" cy="365760"/>
          </a:xfrm>
          <a:prstGeom prst="rect">
            <a:avLst/>
          </a:prstGeom>
          <a:noFill/>
        </p:spPr>
        <p:txBody>
          <a:bodyPr wrap="square" anchor="t" lIns="0" rIns="0" tIns="0" bIns="0">
            <a:spAutoFit/>
          </a:bodyPr>
          <a:lstStyle/>
          <a:p>
            <a:pPr algn="l">
              <a:lnSpc>
                <a:spcPct val="115000"/>
              </a:lnSpc>
              <a:spcAft>
                <a:spcPts val="400"/>
              </a:spcAft>
            </a:pPr>
            <a:r>
              <a:rPr sz="2100" b="1">
                <a:solidFill>
                  <a:srgbClr val="E6EDF7"/>
                </a:solidFill>
                <a:latin typeface="Segoe UI"/>
              </a:rPr>
              <a:t>XGBoost</a:t>
            </a:r>
          </a:p>
        </p:txBody>
      </p:sp>
      <p:sp>
        <p:nvSpPr>
          <p:cNvPr id="9" name="TextBox 8"/>
          <p:cNvSpPr txBox="1"/>
          <p:nvPr/>
        </p:nvSpPr>
        <p:spPr>
          <a:xfrm>
            <a:off x="896112" y="2441448"/>
            <a:ext cx="3017520" cy="182880"/>
          </a:xfrm>
          <a:prstGeom prst="rect">
            <a:avLst/>
          </a:prstGeom>
          <a:noFill/>
        </p:spPr>
        <p:txBody>
          <a:bodyPr wrap="square" anchor="t" lIns="0" rIns="0" tIns="0" bIns="0">
            <a:spAutoFit/>
          </a:bodyPr>
          <a:lstStyle/>
          <a:p>
            <a:pPr algn="l">
              <a:lnSpc>
                <a:spcPct val="115000"/>
              </a:lnSpc>
              <a:spcAft>
                <a:spcPts val="400"/>
              </a:spcAft>
            </a:pPr>
            <a:r>
              <a:rPr sz="850" b="1">
                <a:solidFill>
                  <a:srgbClr val="61708A"/>
                </a:solidFill>
                <a:latin typeface="Segoe UI"/>
              </a:rPr>
              <a:t>SEES</a:t>
            </a:r>
          </a:p>
        </p:txBody>
      </p:sp>
      <p:sp>
        <p:nvSpPr>
          <p:cNvPr id="10" name="TextBox 9"/>
          <p:cNvSpPr txBox="1"/>
          <p:nvPr/>
        </p:nvSpPr>
        <p:spPr>
          <a:xfrm>
            <a:off x="896112" y="2642616"/>
            <a:ext cx="3017520" cy="502920"/>
          </a:xfrm>
          <a:prstGeom prst="rect">
            <a:avLst/>
          </a:prstGeom>
          <a:noFill/>
        </p:spPr>
        <p:txBody>
          <a:bodyPr wrap="square" anchor="t" lIns="0" rIns="0" tIns="0" bIns="0">
            <a:spAutoFit/>
          </a:bodyPr>
          <a:lstStyle/>
          <a:p>
            <a:pPr algn="l">
              <a:lnSpc>
                <a:spcPct val="120000"/>
              </a:lnSpc>
              <a:spcAft>
                <a:spcPts val="400"/>
              </a:spcAft>
            </a:pPr>
            <a:r>
              <a:rPr sz="1200" b="0">
                <a:solidFill>
                  <a:srgbClr val="8FA3C0"/>
                </a:solidFill>
                <a:latin typeface="Segoe UI"/>
              </a:rPr>
              <a:t>Aggregates per account</a:t>
            </a:r>
          </a:p>
        </p:txBody>
      </p:sp>
      <p:sp>
        <p:nvSpPr>
          <p:cNvPr id="11" name="TextBox 10"/>
          <p:cNvSpPr txBox="1"/>
          <p:nvPr/>
        </p:nvSpPr>
        <p:spPr>
          <a:xfrm>
            <a:off x="896112" y="3191256"/>
            <a:ext cx="3017520" cy="182880"/>
          </a:xfrm>
          <a:prstGeom prst="rect">
            <a:avLst/>
          </a:prstGeom>
          <a:noFill/>
        </p:spPr>
        <p:txBody>
          <a:bodyPr wrap="square" anchor="t" lIns="0" rIns="0" tIns="0" bIns="0">
            <a:spAutoFit/>
          </a:bodyPr>
          <a:lstStyle/>
          <a:p>
            <a:pPr algn="l">
              <a:lnSpc>
                <a:spcPct val="115000"/>
              </a:lnSpc>
              <a:spcAft>
                <a:spcPts val="400"/>
              </a:spcAft>
            </a:pPr>
            <a:r>
              <a:rPr sz="850" b="1">
                <a:solidFill>
                  <a:srgbClr val="61708A"/>
                </a:solidFill>
                <a:latin typeface="Segoe UI"/>
              </a:rPr>
              <a:t>CATCHES</a:t>
            </a:r>
          </a:p>
        </p:txBody>
      </p:sp>
      <p:sp>
        <p:nvSpPr>
          <p:cNvPr id="12" name="TextBox 11"/>
          <p:cNvSpPr txBox="1"/>
          <p:nvPr/>
        </p:nvSpPr>
        <p:spPr>
          <a:xfrm>
            <a:off x="896112" y="3392424"/>
            <a:ext cx="3017520" cy="502920"/>
          </a:xfrm>
          <a:prstGeom prst="rect">
            <a:avLst/>
          </a:prstGeom>
          <a:noFill/>
        </p:spPr>
        <p:txBody>
          <a:bodyPr wrap="square" anchor="t" lIns="0" rIns="0" tIns="0" bIns="0">
            <a:spAutoFit/>
          </a:bodyPr>
          <a:lstStyle/>
          <a:p>
            <a:pPr algn="l">
              <a:lnSpc>
                <a:spcPct val="120000"/>
              </a:lnSpc>
              <a:spcAft>
                <a:spcPts val="400"/>
              </a:spcAft>
            </a:pPr>
            <a:r>
              <a:rPr sz="1200" b="0">
                <a:solidFill>
                  <a:srgbClr val="8FA3C0"/>
                </a:solidFill>
                <a:latin typeface="Segoe UI"/>
              </a:rPr>
              <a:t>Volume, ratios, cash-out share, structuring</a:t>
            </a:r>
          </a:p>
        </p:txBody>
      </p:sp>
      <p:sp>
        <p:nvSpPr>
          <p:cNvPr id="13" name="TextBox 12"/>
          <p:cNvSpPr txBox="1"/>
          <p:nvPr/>
        </p:nvSpPr>
        <p:spPr>
          <a:xfrm>
            <a:off x="896112" y="3941064"/>
            <a:ext cx="3017520" cy="182880"/>
          </a:xfrm>
          <a:prstGeom prst="rect">
            <a:avLst/>
          </a:prstGeom>
          <a:noFill/>
        </p:spPr>
        <p:txBody>
          <a:bodyPr wrap="square" anchor="t" lIns="0" rIns="0" tIns="0" bIns="0">
            <a:spAutoFit/>
          </a:bodyPr>
          <a:lstStyle/>
          <a:p>
            <a:pPr algn="l">
              <a:lnSpc>
                <a:spcPct val="115000"/>
              </a:lnSpc>
              <a:spcAft>
                <a:spcPts val="400"/>
              </a:spcAft>
            </a:pPr>
            <a:r>
              <a:rPr sz="850" b="1">
                <a:solidFill>
                  <a:srgbClr val="61708A"/>
                </a:solidFill>
                <a:latin typeface="Segoe UI"/>
              </a:rPr>
              <a:t>BLIND TO</a:t>
            </a:r>
          </a:p>
        </p:txBody>
      </p:sp>
      <p:sp>
        <p:nvSpPr>
          <p:cNvPr id="14" name="TextBox 13"/>
          <p:cNvSpPr txBox="1"/>
          <p:nvPr/>
        </p:nvSpPr>
        <p:spPr>
          <a:xfrm>
            <a:off x="896112" y="4142232"/>
            <a:ext cx="3017520" cy="502920"/>
          </a:xfrm>
          <a:prstGeom prst="rect">
            <a:avLst/>
          </a:prstGeom>
          <a:noFill/>
        </p:spPr>
        <p:txBody>
          <a:bodyPr wrap="square" anchor="t" lIns="0" rIns="0" tIns="0" bIns="0">
            <a:spAutoFit/>
          </a:bodyPr>
          <a:lstStyle/>
          <a:p>
            <a:pPr algn="l">
              <a:lnSpc>
                <a:spcPct val="120000"/>
              </a:lnSpc>
              <a:spcAft>
                <a:spcPts val="400"/>
              </a:spcAft>
            </a:pPr>
            <a:r>
              <a:rPr sz="1200" b="0">
                <a:solidFill>
                  <a:srgbClr val="FF8C42"/>
                </a:solidFill>
                <a:latin typeface="Segoe UI"/>
              </a:rPr>
              <a:t>Who the counterparties are</a:t>
            </a:r>
          </a:p>
        </p:txBody>
      </p:sp>
      <p:sp>
        <p:nvSpPr>
          <p:cNvPr id="15" name="TextBox 14"/>
          <p:cNvSpPr txBox="1"/>
          <p:nvPr/>
        </p:nvSpPr>
        <p:spPr>
          <a:xfrm>
            <a:off x="896112" y="4453128"/>
            <a:ext cx="3017520" cy="274320"/>
          </a:xfrm>
          <a:prstGeom prst="rect">
            <a:avLst/>
          </a:prstGeom>
          <a:noFill/>
        </p:spPr>
        <p:txBody>
          <a:bodyPr wrap="square" anchor="t" lIns="0" rIns="0" tIns="0" bIns="0">
            <a:spAutoFit/>
          </a:bodyPr>
          <a:lstStyle/>
          <a:p>
            <a:pPr algn="l">
              <a:lnSpc>
                <a:spcPct val="115000"/>
              </a:lnSpc>
              <a:spcAft>
                <a:spcPts val="400"/>
              </a:spcAft>
            </a:pPr>
            <a:r>
              <a:rPr sz="1300" b="1">
                <a:solidFill>
                  <a:srgbClr val="4DA3FF"/>
                </a:solidFill>
                <a:latin typeface="Consolas"/>
              </a:rPr>
              <a:t>AUC 0.9946</a:t>
            </a:r>
          </a:p>
        </p:txBody>
      </p:sp>
      <p:sp>
        <p:nvSpPr>
          <p:cNvPr id="16" name="Rounded Rectangle 15"/>
          <p:cNvSpPr/>
          <p:nvPr/>
        </p:nvSpPr>
        <p:spPr>
          <a:xfrm>
            <a:off x="4325112" y="1435608"/>
            <a:ext cx="3520440" cy="3429000"/>
          </a:xfrm>
          <a:prstGeom prst="roundRect">
            <a:avLst>
              <a:gd name="adj" fmla="val 4000"/>
            </a:avLst>
          </a:prstGeom>
          <a:solidFill>
            <a:srgbClr val="121826"/>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1664208"/>
            <a:ext cx="3017520" cy="228600"/>
          </a:xfrm>
          <a:prstGeom prst="rect">
            <a:avLst/>
          </a:prstGeom>
          <a:noFill/>
        </p:spPr>
        <p:txBody>
          <a:bodyPr wrap="square" anchor="t" lIns="0" rIns="0" tIns="0" bIns="0">
            <a:spAutoFit/>
          </a:bodyPr>
          <a:lstStyle/>
          <a:p>
            <a:pPr algn="l">
              <a:lnSpc>
                <a:spcPct val="115000"/>
              </a:lnSpc>
              <a:spcAft>
                <a:spcPts val="400"/>
              </a:spcAft>
            </a:pPr>
            <a:r>
              <a:rPr sz="950" b="1">
                <a:solidFill>
                  <a:srgbClr val="7D5CFF"/>
                </a:solidFill>
                <a:latin typeface="Segoe UI"/>
              </a:rPr>
              <a:t>LAYER 5</a:t>
            </a:r>
          </a:p>
        </p:txBody>
      </p:sp>
      <p:sp>
        <p:nvSpPr>
          <p:cNvPr id="18" name="TextBox 17"/>
          <p:cNvSpPr txBox="1"/>
          <p:nvPr/>
        </p:nvSpPr>
        <p:spPr>
          <a:xfrm>
            <a:off x="4581144" y="1920240"/>
            <a:ext cx="3017520" cy="365760"/>
          </a:xfrm>
          <a:prstGeom prst="rect">
            <a:avLst/>
          </a:prstGeom>
          <a:noFill/>
        </p:spPr>
        <p:txBody>
          <a:bodyPr wrap="square" anchor="t" lIns="0" rIns="0" tIns="0" bIns="0">
            <a:spAutoFit/>
          </a:bodyPr>
          <a:lstStyle/>
          <a:p>
            <a:pPr algn="l">
              <a:lnSpc>
                <a:spcPct val="115000"/>
              </a:lnSpc>
              <a:spcAft>
                <a:spcPts val="400"/>
              </a:spcAft>
            </a:pPr>
            <a:r>
              <a:rPr sz="2100" b="1">
                <a:solidFill>
                  <a:srgbClr val="E6EDF7"/>
                </a:solidFill>
                <a:latin typeface="Segoe UI"/>
              </a:rPr>
              <a:t>GraphSAGE</a:t>
            </a:r>
          </a:p>
        </p:txBody>
      </p:sp>
      <p:sp>
        <p:nvSpPr>
          <p:cNvPr id="19" name="TextBox 18"/>
          <p:cNvSpPr txBox="1"/>
          <p:nvPr/>
        </p:nvSpPr>
        <p:spPr>
          <a:xfrm>
            <a:off x="4581144" y="2441448"/>
            <a:ext cx="3017520" cy="182880"/>
          </a:xfrm>
          <a:prstGeom prst="rect">
            <a:avLst/>
          </a:prstGeom>
          <a:noFill/>
        </p:spPr>
        <p:txBody>
          <a:bodyPr wrap="square" anchor="t" lIns="0" rIns="0" tIns="0" bIns="0">
            <a:spAutoFit/>
          </a:bodyPr>
          <a:lstStyle/>
          <a:p>
            <a:pPr algn="l">
              <a:lnSpc>
                <a:spcPct val="115000"/>
              </a:lnSpc>
              <a:spcAft>
                <a:spcPts val="400"/>
              </a:spcAft>
            </a:pPr>
            <a:r>
              <a:rPr sz="850" b="1">
                <a:solidFill>
                  <a:srgbClr val="61708A"/>
                </a:solidFill>
                <a:latin typeface="Segoe UI"/>
              </a:rPr>
              <a:t>SEES</a:t>
            </a:r>
          </a:p>
        </p:txBody>
      </p:sp>
      <p:sp>
        <p:nvSpPr>
          <p:cNvPr id="20" name="TextBox 19"/>
          <p:cNvSpPr txBox="1"/>
          <p:nvPr/>
        </p:nvSpPr>
        <p:spPr>
          <a:xfrm>
            <a:off x="4581144" y="2642616"/>
            <a:ext cx="3017520" cy="502920"/>
          </a:xfrm>
          <a:prstGeom prst="rect">
            <a:avLst/>
          </a:prstGeom>
          <a:noFill/>
        </p:spPr>
        <p:txBody>
          <a:bodyPr wrap="square" anchor="t" lIns="0" rIns="0" tIns="0" bIns="0">
            <a:spAutoFit/>
          </a:bodyPr>
          <a:lstStyle/>
          <a:p>
            <a:pPr algn="l">
              <a:lnSpc>
                <a:spcPct val="120000"/>
              </a:lnSpc>
              <a:spcAft>
                <a:spcPts val="400"/>
              </a:spcAft>
            </a:pPr>
            <a:r>
              <a:rPr sz="1200" b="0">
                <a:solidFill>
                  <a:srgbClr val="8FA3C0"/>
                </a:solidFill>
                <a:latin typeface="Segoe UI"/>
              </a:rPr>
              <a:t>Two-hop neighbourhood</a:t>
            </a:r>
          </a:p>
        </p:txBody>
      </p:sp>
      <p:sp>
        <p:nvSpPr>
          <p:cNvPr id="21" name="TextBox 20"/>
          <p:cNvSpPr txBox="1"/>
          <p:nvPr/>
        </p:nvSpPr>
        <p:spPr>
          <a:xfrm>
            <a:off x="4581144" y="3191256"/>
            <a:ext cx="3017520" cy="182880"/>
          </a:xfrm>
          <a:prstGeom prst="rect">
            <a:avLst/>
          </a:prstGeom>
          <a:noFill/>
        </p:spPr>
        <p:txBody>
          <a:bodyPr wrap="square" anchor="t" lIns="0" rIns="0" tIns="0" bIns="0">
            <a:spAutoFit/>
          </a:bodyPr>
          <a:lstStyle/>
          <a:p>
            <a:pPr algn="l">
              <a:lnSpc>
                <a:spcPct val="115000"/>
              </a:lnSpc>
              <a:spcAft>
                <a:spcPts val="400"/>
              </a:spcAft>
            </a:pPr>
            <a:r>
              <a:rPr sz="850" b="1">
                <a:solidFill>
                  <a:srgbClr val="61708A"/>
                </a:solidFill>
                <a:latin typeface="Segoe UI"/>
              </a:rPr>
              <a:t>CATCHES</a:t>
            </a:r>
          </a:p>
        </p:txBody>
      </p:sp>
      <p:sp>
        <p:nvSpPr>
          <p:cNvPr id="22" name="TextBox 21"/>
          <p:cNvSpPr txBox="1"/>
          <p:nvPr/>
        </p:nvSpPr>
        <p:spPr>
          <a:xfrm>
            <a:off x="4581144" y="3392424"/>
            <a:ext cx="3017520" cy="502920"/>
          </a:xfrm>
          <a:prstGeom prst="rect">
            <a:avLst/>
          </a:prstGeom>
          <a:noFill/>
        </p:spPr>
        <p:txBody>
          <a:bodyPr wrap="square" anchor="t" lIns="0" rIns="0" tIns="0" bIns="0">
            <a:spAutoFit/>
          </a:bodyPr>
          <a:lstStyle/>
          <a:p>
            <a:pPr algn="l">
              <a:lnSpc>
                <a:spcPct val="120000"/>
              </a:lnSpc>
              <a:spcAft>
                <a:spcPts val="400"/>
              </a:spcAft>
            </a:pPr>
            <a:r>
              <a:rPr sz="1200" b="0">
                <a:solidFill>
                  <a:srgbClr val="8FA3C0"/>
                </a:solidFill>
                <a:latin typeface="Segoe UI"/>
              </a:rPr>
              <a:t>Rings, device farms, multi-hop layering</a:t>
            </a:r>
          </a:p>
        </p:txBody>
      </p:sp>
      <p:sp>
        <p:nvSpPr>
          <p:cNvPr id="23" name="TextBox 22"/>
          <p:cNvSpPr txBox="1"/>
          <p:nvPr/>
        </p:nvSpPr>
        <p:spPr>
          <a:xfrm>
            <a:off x="4581144" y="3941064"/>
            <a:ext cx="3017520" cy="182880"/>
          </a:xfrm>
          <a:prstGeom prst="rect">
            <a:avLst/>
          </a:prstGeom>
          <a:noFill/>
        </p:spPr>
        <p:txBody>
          <a:bodyPr wrap="square" anchor="t" lIns="0" rIns="0" tIns="0" bIns="0">
            <a:spAutoFit/>
          </a:bodyPr>
          <a:lstStyle/>
          <a:p>
            <a:pPr algn="l">
              <a:lnSpc>
                <a:spcPct val="115000"/>
              </a:lnSpc>
              <a:spcAft>
                <a:spcPts val="400"/>
              </a:spcAft>
            </a:pPr>
            <a:r>
              <a:rPr sz="850" b="1">
                <a:solidFill>
                  <a:srgbClr val="61708A"/>
                </a:solidFill>
                <a:latin typeface="Segoe UI"/>
              </a:rPr>
              <a:t>BLIND TO</a:t>
            </a:r>
          </a:p>
        </p:txBody>
      </p:sp>
      <p:sp>
        <p:nvSpPr>
          <p:cNvPr id="24" name="TextBox 23"/>
          <p:cNvSpPr txBox="1"/>
          <p:nvPr/>
        </p:nvSpPr>
        <p:spPr>
          <a:xfrm>
            <a:off x="4581144" y="4142232"/>
            <a:ext cx="3017520" cy="502920"/>
          </a:xfrm>
          <a:prstGeom prst="rect">
            <a:avLst/>
          </a:prstGeom>
          <a:noFill/>
        </p:spPr>
        <p:txBody>
          <a:bodyPr wrap="square" anchor="t" lIns="0" rIns="0" tIns="0" bIns="0">
            <a:spAutoFit/>
          </a:bodyPr>
          <a:lstStyle/>
          <a:p>
            <a:pPr algn="l">
              <a:lnSpc>
                <a:spcPct val="120000"/>
              </a:lnSpc>
              <a:spcAft>
                <a:spcPts val="400"/>
              </a:spcAft>
            </a:pPr>
            <a:r>
              <a:rPr sz="1200" b="0">
                <a:solidFill>
                  <a:srgbClr val="FF8C42"/>
                </a:solidFill>
                <a:latin typeface="Segoe UI"/>
              </a:rPr>
              <a:t>When things happened</a:t>
            </a:r>
          </a:p>
        </p:txBody>
      </p:sp>
      <p:sp>
        <p:nvSpPr>
          <p:cNvPr id="25" name="TextBox 24"/>
          <p:cNvSpPr txBox="1"/>
          <p:nvPr/>
        </p:nvSpPr>
        <p:spPr>
          <a:xfrm>
            <a:off x="4581144" y="4453128"/>
            <a:ext cx="3017520" cy="274320"/>
          </a:xfrm>
          <a:prstGeom prst="rect">
            <a:avLst/>
          </a:prstGeom>
          <a:noFill/>
        </p:spPr>
        <p:txBody>
          <a:bodyPr wrap="square" anchor="t" lIns="0" rIns="0" tIns="0" bIns="0">
            <a:spAutoFit/>
          </a:bodyPr>
          <a:lstStyle/>
          <a:p>
            <a:pPr algn="l">
              <a:lnSpc>
                <a:spcPct val="115000"/>
              </a:lnSpc>
              <a:spcAft>
                <a:spcPts val="400"/>
              </a:spcAft>
            </a:pPr>
            <a:r>
              <a:rPr sz="1300" b="1">
                <a:solidFill>
                  <a:srgbClr val="7D5CFF"/>
                </a:solidFill>
                <a:latin typeface="Consolas"/>
              </a:rPr>
              <a:t>AUC 0.9962</a:t>
            </a:r>
          </a:p>
        </p:txBody>
      </p:sp>
      <p:sp>
        <p:nvSpPr>
          <p:cNvPr id="26" name="Rounded Rectangle 25"/>
          <p:cNvSpPr/>
          <p:nvPr/>
        </p:nvSpPr>
        <p:spPr>
          <a:xfrm>
            <a:off x="8010144" y="1435608"/>
            <a:ext cx="3520440" cy="3429000"/>
          </a:xfrm>
          <a:prstGeom prst="roundRect">
            <a:avLst>
              <a:gd name="adj" fmla="val 4000"/>
            </a:avLst>
          </a:prstGeom>
          <a:solidFill>
            <a:srgbClr val="121826"/>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6176" y="1664208"/>
            <a:ext cx="3017520" cy="228600"/>
          </a:xfrm>
          <a:prstGeom prst="rect">
            <a:avLst/>
          </a:prstGeom>
          <a:noFill/>
        </p:spPr>
        <p:txBody>
          <a:bodyPr wrap="square" anchor="t" lIns="0" rIns="0" tIns="0" bIns="0">
            <a:spAutoFit/>
          </a:bodyPr>
          <a:lstStyle/>
          <a:p>
            <a:pPr algn="l">
              <a:lnSpc>
                <a:spcPct val="115000"/>
              </a:lnSpc>
              <a:spcAft>
                <a:spcPts val="400"/>
              </a:spcAft>
            </a:pPr>
            <a:r>
              <a:rPr sz="950" b="1">
                <a:solidFill>
                  <a:srgbClr val="2ECC9B"/>
                </a:solidFill>
                <a:latin typeface="Segoe UI"/>
              </a:rPr>
              <a:t>LAYER 6</a:t>
            </a:r>
          </a:p>
        </p:txBody>
      </p:sp>
      <p:sp>
        <p:nvSpPr>
          <p:cNvPr id="28" name="TextBox 27"/>
          <p:cNvSpPr txBox="1"/>
          <p:nvPr/>
        </p:nvSpPr>
        <p:spPr>
          <a:xfrm>
            <a:off x="8266176" y="1920240"/>
            <a:ext cx="3017520" cy="365760"/>
          </a:xfrm>
          <a:prstGeom prst="rect">
            <a:avLst/>
          </a:prstGeom>
          <a:noFill/>
        </p:spPr>
        <p:txBody>
          <a:bodyPr wrap="square" anchor="t" lIns="0" rIns="0" tIns="0" bIns="0">
            <a:spAutoFit/>
          </a:bodyPr>
          <a:lstStyle/>
          <a:p>
            <a:pPr algn="l">
              <a:lnSpc>
                <a:spcPct val="115000"/>
              </a:lnSpc>
              <a:spcAft>
                <a:spcPts val="400"/>
              </a:spcAft>
            </a:pPr>
            <a:r>
              <a:rPr sz="2100" b="1">
                <a:solidFill>
                  <a:srgbClr val="E6EDF7"/>
                </a:solidFill>
                <a:latin typeface="Segoe UI"/>
              </a:rPr>
              <a:t>Temporal GNN</a:t>
            </a:r>
          </a:p>
        </p:txBody>
      </p:sp>
      <p:sp>
        <p:nvSpPr>
          <p:cNvPr id="29" name="TextBox 28"/>
          <p:cNvSpPr txBox="1"/>
          <p:nvPr/>
        </p:nvSpPr>
        <p:spPr>
          <a:xfrm>
            <a:off x="8266176" y="2441448"/>
            <a:ext cx="3017520" cy="182880"/>
          </a:xfrm>
          <a:prstGeom prst="rect">
            <a:avLst/>
          </a:prstGeom>
          <a:noFill/>
        </p:spPr>
        <p:txBody>
          <a:bodyPr wrap="square" anchor="t" lIns="0" rIns="0" tIns="0" bIns="0">
            <a:spAutoFit/>
          </a:bodyPr>
          <a:lstStyle/>
          <a:p>
            <a:pPr algn="l">
              <a:lnSpc>
                <a:spcPct val="115000"/>
              </a:lnSpc>
              <a:spcAft>
                <a:spcPts val="400"/>
              </a:spcAft>
            </a:pPr>
            <a:r>
              <a:rPr sz="850" b="1">
                <a:solidFill>
                  <a:srgbClr val="61708A"/>
                </a:solidFill>
                <a:latin typeface="Segoe UI"/>
              </a:rPr>
              <a:t>SEES</a:t>
            </a:r>
          </a:p>
        </p:txBody>
      </p:sp>
      <p:sp>
        <p:nvSpPr>
          <p:cNvPr id="30" name="TextBox 29"/>
          <p:cNvSpPr txBox="1"/>
          <p:nvPr/>
        </p:nvSpPr>
        <p:spPr>
          <a:xfrm>
            <a:off x="8266176" y="2642616"/>
            <a:ext cx="3017520" cy="502920"/>
          </a:xfrm>
          <a:prstGeom prst="rect">
            <a:avLst/>
          </a:prstGeom>
          <a:noFill/>
        </p:spPr>
        <p:txBody>
          <a:bodyPr wrap="square" anchor="t" lIns="0" rIns="0" tIns="0" bIns="0">
            <a:spAutoFit/>
          </a:bodyPr>
          <a:lstStyle/>
          <a:p>
            <a:pPr algn="l">
              <a:lnSpc>
                <a:spcPct val="120000"/>
              </a:lnSpc>
              <a:spcAft>
                <a:spcPts val="400"/>
              </a:spcAft>
            </a:pPr>
            <a:r>
              <a:rPr sz="1200" b="0">
                <a:solidFill>
                  <a:srgbClr val="8FA3C0"/>
                </a:solidFill>
                <a:latin typeface="Segoe UI"/>
              </a:rPr>
              <a:t>Last 64 events, in order</a:t>
            </a:r>
          </a:p>
        </p:txBody>
      </p:sp>
      <p:sp>
        <p:nvSpPr>
          <p:cNvPr id="31" name="TextBox 30"/>
          <p:cNvSpPr txBox="1"/>
          <p:nvPr/>
        </p:nvSpPr>
        <p:spPr>
          <a:xfrm>
            <a:off x="8266176" y="3191256"/>
            <a:ext cx="3017520" cy="182880"/>
          </a:xfrm>
          <a:prstGeom prst="rect">
            <a:avLst/>
          </a:prstGeom>
          <a:noFill/>
        </p:spPr>
        <p:txBody>
          <a:bodyPr wrap="square" anchor="t" lIns="0" rIns="0" tIns="0" bIns="0">
            <a:spAutoFit/>
          </a:bodyPr>
          <a:lstStyle/>
          <a:p>
            <a:pPr algn="l">
              <a:lnSpc>
                <a:spcPct val="115000"/>
              </a:lnSpc>
              <a:spcAft>
                <a:spcPts val="400"/>
              </a:spcAft>
            </a:pPr>
            <a:r>
              <a:rPr sz="850" b="1">
                <a:solidFill>
                  <a:srgbClr val="61708A"/>
                </a:solidFill>
                <a:latin typeface="Segoe UI"/>
              </a:rPr>
              <a:t>CATCHES</a:t>
            </a:r>
          </a:p>
        </p:txBody>
      </p:sp>
      <p:sp>
        <p:nvSpPr>
          <p:cNvPr id="32" name="TextBox 31"/>
          <p:cNvSpPr txBox="1"/>
          <p:nvPr/>
        </p:nvSpPr>
        <p:spPr>
          <a:xfrm>
            <a:off x="8266176" y="3392424"/>
            <a:ext cx="3017520" cy="502920"/>
          </a:xfrm>
          <a:prstGeom prst="rect">
            <a:avLst/>
          </a:prstGeom>
          <a:noFill/>
        </p:spPr>
        <p:txBody>
          <a:bodyPr wrap="square" anchor="t" lIns="0" rIns="0" tIns="0" bIns="0">
            <a:spAutoFit/>
          </a:bodyPr>
          <a:lstStyle/>
          <a:p>
            <a:pPr algn="l">
              <a:lnSpc>
                <a:spcPct val="120000"/>
              </a:lnSpc>
              <a:spcAft>
                <a:spcPts val="400"/>
              </a:spcAft>
            </a:pPr>
            <a:r>
              <a:rPr sz="1200" b="0">
                <a:solidFill>
                  <a:srgbClr val="8FA3C0"/>
                </a:solidFill>
                <a:latin typeface="Segoe UI"/>
              </a:rPr>
              <a:t>Smurfing, dormant bursts, rapid routing</a:t>
            </a:r>
          </a:p>
        </p:txBody>
      </p:sp>
      <p:sp>
        <p:nvSpPr>
          <p:cNvPr id="33" name="TextBox 32"/>
          <p:cNvSpPr txBox="1"/>
          <p:nvPr/>
        </p:nvSpPr>
        <p:spPr>
          <a:xfrm>
            <a:off x="8266176" y="3941064"/>
            <a:ext cx="3017520" cy="182880"/>
          </a:xfrm>
          <a:prstGeom prst="rect">
            <a:avLst/>
          </a:prstGeom>
          <a:noFill/>
        </p:spPr>
        <p:txBody>
          <a:bodyPr wrap="square" anchor="t" lIns="0" rIns="0" tIns="0" bIns="0">
            <a:spAutoFit/>
          </a:bodyPr>
          <a:lstStyle/>
          <a:p>
            <a:pPr algn="l">
              <a:lnSpc>
                <a:spcPct val="115000"/>
              </a:lnSpc>
              <a:spcAft>
                <a:spcPts val="400"/>
              </a:spcAft>
            </a:pPr>
            <a:r>
              <a:rPr sz="850" b="1">
                <a:solidFill>
                  <a:srgbClr val="61708A"/>
                </a:solidFill>
                <a:latin typeface="Segoe UI"/>
              </a:rPr>
              <a:t>BLIND TO</a:t>
            </a:r>
          </a:p>
        </p:txBody>
      </p:sp>
      <p:sp>
        <p:nvSpPr>
          <p:cNvPr id="34" name="TextBox 33"/>
          <p:cNvSpPr txBox="1"/>
          <p:nvPr/>
        </p:nvSpPr>
        <p:spPr>
          <a:xfrm>
            <a:off x="8266176" y="4142232"/>
            <a:ext cx="3017520" cy="502920"/>
          </a:xfrm>
          <a:prstGeom prst="rect">
            <a:avLst/>
          </a:prstGeom>
          <a:noFill/>
        </p:spPr>
        <p:txBody>
          <a:bodyPr wrap="square" anchor="t" lIns="0" rIns="0" tIns="0" bIns="0">
            <a:spAutoFit/>
          </a:bodyPr>
          <a:lstStyle/>
          <a:p>
            <a:pPr algn="l">
              <a:lnSpc>
                <a:spcPct val="120000"/>
              </a:lnSpc>
              <a:spcAft>
                <a:spcPts val="400"/>
              </a:spcAft>
            </a:pPr>
            <a:r>
              <a:rPr sz="1200" b="0">
                <a:solidFill>
                  <a:srgbClr val="FF8C42"/>
                </a:solidFill>
                <a:latin typeface="Segoe UI"/>
              </a:rPr>
              <a:t>Anything outside the account</a:t>
            </a:r>
          </a:p>
        </p:txBody>
      </p:sp>
      <p:sp>
        <p:nvSpPr>
          <p:cNvPr id="35" name="TextBox 34"/>
          <p:cNvSpPr txBox="1"/>
          <p:nvPr/>
        </p:nvSpPr>
        <p:spPr>
          <a:xfrm>
            <a:off x="8266176" y="4453128"/>
            <a:ext cx="3017520" cy="274320"/>
          </a:xfrm>
          <a:prstGeom prst="rect">
            <a:avLst/>
          </a:prstGeom>
          <a:noFill/>
        </p:spPr>
        <p:txBody>
          <a:bodyPr wrap="square" anchor="t" lIns="0" rIns="0" tIns="0" bIns="0">
            <a:spAutoFit/>
          </a:bodyPr>
          <a:lstStyle/>
          <a:p>
            <a:pPr algn="l">
              <a:lnSpc>
                <a:spcPct val="115000"/>
              </a:lnSpc>
              <a:spcAft>
                <a:spcPts val="400"/>
              </a:spcAft>
            </a:pPr>
            <a:r>
              <a:rPr sz="1300" b="1">
                <a:solidFill>
                  <a:srgbClr val="2ECC9B"/>
                </a:solidFill>
                <a:latin typeface="Consolas"/>
              </a:rPr>
              <a:t>AUC 0.9628</a:t>
            </a:r>
          </a:p>
        </p:txBody>
      </p:sp>
      <p:sp>
        <p:nvSpPr>
          <p:cNvPr id="36" name="Rounded Rectangle 35"/>
          <p:cNvSpPr/>
          <p:nvPr/>
        </p:nvSpPr>
        <p:spPr>
          <a:xfrm>
            <a:off x="640080" y="5532120"/>
            <a:ext cx="10881360" cy="749808"/>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669280"/>
            <a:ext cx="10332720" cy="502920"/>
          </a:xfrm>
          <a:prstGeom prst="rect">
            <a:avLst/>
          </a:prstGeom>
          <a:noFill/>
        </p:spPr>
        <p:txBody>
          <a:bodyPr wrap="square" anchor="t" lIns="0" rIns="0" tIns="0" bIns="0">
            <a:spAutoFit/>
          </a:bodyPr>
          <a:lstStyle/>
          <a:p>
            <a:pPr algn="l">
              <a:lnSpc>
                <a:spcPct val="125000"/>
              </a:lnSpc>
              <a:spcAft>
                <a:spcPts val="400"/>
              </a:spcAft>
            </a:pPr>
            <a:r>
              <a:rPr sz="1250" b="0">
                <a:solidFill>
                  <a:srgbClr val="8FA3C0"/>
                </a:solidFill>
                <a:latin typeface="Segoe UI"/>
              </a:rPr>
              <a:t>Both neural layers are implemented in NumPy with hand-derived gradients — no PyTorch, no CUDA, no 2 GB of wheels. Every analytic gradient is verified against central finite differences in the test suite, so “hand-rolled” does not mean “unverified”.</a:t>
            </a:r>
          </a:p>
        </p:txBody>
      </p:sp>
      <p:sp>
        <p:nvSpPr>
          <p:cNvPr id="38" name="TextBox 37"/>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39" name="TextBox 38"/>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2"/>
              </a:rPr>
              <a:t>github.com/archirajpoot/Bodhi_Mule_Hunter</a:t>
            </a:r>
            <a:r>
              <a:rPr sz="950">
                <a:solidFill>
                  <a:srgbClr val="61708A"/>
                </a:solidFill>
                <a:latin typeface="Consolas"/>
              </a:rPr>
              <a:t>   ·   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LAYER 7</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Fusion: two properties that are not negotiable</a:t>
            </a:r>
          </a:p>
        </p:txBody>
      </p:sp>
      <p:sp>
        <p:nvSpPr>
          <p:cNvPr id="5" name="Rectangle 4"/>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481328"/>
            <a:ext cx="5349240" cy="2148840"/>
          </a:xfrm>
          <a:prstGeom prst="roundRect">
            <a:avLst>
              <a:gd name="adj" fmla="val 4000"/>
            </a:avLst>
          </a:prstGeom>
          <a:solidFill>
            <a:srgbClr val="121826"/>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9928"/>
            <a:ext cx="4846320" cy="32004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MONOTONICITY</a:t>
            </a:r>
          </a:p>
        </p:txBody>
      </p:sp>
      <p:sp>
        <p:nvSpPr>
          <p:cNvPr id="8" name="TextBox 7"/>
          <p:cNvSpPr txBox="1"/>
          <p:nvPr/>
        </p:nvSpPr>
        <p:spPr>
          <a:xfrm>
            <a:off x="914400" y="2075688"/>
            <a:ext cx="4846320" cy="1371600"/>
          </a:xfrm>
          <a:prstGeom prst="rect">
            <a:avLst/>
          </a:prstGeom>
          <a:noFill/>
        </p:spPr>
        <p:txBody>
          <a:bodyPr wrap="square" anchor="t" lIns="0" rIns="0" tIns="0" bIns="0">
            <a:spAutoFit/>
          </a:bodyPr>
          <a:lstStyle/>
          <a:p>
            <a:pPr algn="l">
              <a:lnSpc>
                <a:spcPct val="130000"/>
              </a:lnSpc>
              <a:spcAft>
                <a:spcPts val="400"/>
              </a:spcAft>
            </a:pPr>
            <a:r>
              <a:rPr sz="1300" b="0">
                <a:solidFill>
                  <a:srgbClr val="8FA3C0"/>
                </a:solidFill>
                <a:latin typeface="Segoe UI"/>
              </a:rPr>
              <a:t>Blend weights are constrained non-negative, so more evidence can never lower a score. An unconstrained stacker on a small fold reliably learns “higher temporal score means safer” — indefensible to an investigator, unshippable past a regulator.</a:t>
            </a:r>
          </a:p>
        </p:txBody>
      </p:sp>
      <p:sp>
        <p:nvSpPr>
          <p:cNvPr id="9" name="Rounded Rectangle 8"/>
          <p:cNvSpPr/>
          <p:nvPr/>
        </p:nvSpPr>
        <p:spPr>
          <a:xfrm>
            <a:off x="6172200" y="1481328"/>
            <a:ext cx="5349240" cy="2148840"/>
          </a:xfrm>
          <a:prstGeom prst="roundRect">
            <a:avLst>
              <a:gd name="adj" fmla="val 4000"/>
            </a:avLst>
          </a:prstGeom>
          <a:solidFill>
            <a:srgbClr val="121826"/>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09928"/>
            <a:ext cx="4846320" cy="320040"/>
          </a:xfrm>
          <a:prstGeom prst="rect">
            <a:avLst/>
          </a:prstGeom>
          <a:noFill/>
        </p:spPr>
        <p:txBody>
          <a:bodyPr wrap="square" anchor="t" lIns="0" rIns="0" tIns="0" bIns="0">
            <a:spAutoFit/>
          </a:bodyPr>
          <a:lstStyle/>
          <a:p>
            <a:pPr algn="l">
              <a:lnSpc>
                <a:spcPct val="115000"/>
              </a:lnSpc>
              <a:spcAft>
                <a:spcPts val="400"/>
              </a:spcAft>
            </a:pPr>
            <a:r>
              <a:rPr sz="1100" b="1">
                <a:solidFill>
                  <a:srgbClr val="2ECC9B"/>
                </a:solidFill>
                <a:latin typeface="Segoe UI"/>
              </a:rPr>
              <a:t>CALIBRATION</a:t>
            </a:r>
          </a:p>
        </p:txBody>
      </p:sp>
      <p:sp>
        <p:nvSpPr>
          <p:cNvPr id="11" name="TextBox 10"/>
          <p:cNvSpPr txBox="1"/>
          <p:nvPr/>
        </p:nvSpPr>
        <p:spPr>
          <a:xfrm>
            <a:off x="6446520" y="2075688"/>
            <a:ext cx="4846320" cy="1005840"/>
          </a:xfrm>
          <a:prstGeom prst="rect">
            <a:avLst/>
          </a:prstGeom>
          <a:noFill/>
        </p:spPr>
        <p:txBody>
          <a:bodyPr wrap="square" anchor="t" lIns="0" rIns="0" tIns="0" bIns="0">
            <a:spAutoFit/>
          </a:bodyPr>
          <a:lstStyle/>
          <a:p>
            <a:pPr algn="l">
              <a:lnSpc>
                <a:spcPct val="130000"/>
              </a:lnSpc>
              <a:spcAft>
                <a:spcPts val="400"/>
              </a:spcAft>
            </a:pPr>
            <a:r>
              <a:rPr sz="1300" b="0">
                <a:solidFill>
                  <a:srgbClr val="8FA3C0"/>
                </a:solidFill>
                <a:latin typeface="Segoe UI"/>
              </a:rPr>
              <a:t>The score drives an automated kill-switch at 85, so it has to mean what it says. Isotonic regression maps the blend onto observed frequencies.</a:t>
            </a:r>
          </a:p>
        </p:txBody>
      </p:sp>
      <p:sp>
        <p:nvSpPr>
          <p:cNvPr id="12" name="Rounded Rectangle 11"/>
          <p:cNvSpPr/>
          <p:nvPr/>
        </p:nvSpPr>
        <p:spPr>
          <a:xfrm>
            <a:off x="6446520" y="2779776"/>
            <a:ext cx="2331720" cy="749808"/>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74536" y="2907792"/>
            <a:ext cx="2075688" cy="457200"/>
          </a:xfrm>
          <a:prstGeom prst="rect">
            <a:avLst/>
          </a:prstGeom>
          <a:noFill/>
        </p:spPr>
        <p:txBody>
          <a:bodyPr wrap="square" anchor="t" lIns="0" rIns="0" tIns="0" bIns="0">
            <a:spAutoFit/>
          </a:bodyPr>
          <a:lstStyle/>
          <a:p>
            <a:pPr algn="ctr">
              <a:lnSpc>
                <a:spcPct val="115000"/>
              </a:lnSpc>
              <a:spcAft>
                <a:spcPts val="400"/>
              </a:spcAft>
            </a:pPr>
            <a:r>
              <a:rPr sz="2000" b="1">
                <a:solidFill>
                  <a:srgbClr val="2ECC9B"/>
                </a:solidFill>
                <a:latin typeface="Segoe UI"/>
              </a:rPr>
              <a:t>0.00125</a:t>
            </a:r>
          </a:p>
        </p:txBody>
      </p:sp>
      <p:sp>
        <p:nvSpPr>
          <p:cNvPr id="14" name="TextBox 13"/>
          <p:cNvSpPr txBox="1"/>
          <p:nvPr/>
        </p:nvSpPr>
        <p:spPr>
          <a:xfrm>
            <a:off x="6537960" y="3163824"/>
            <a:ext cx="214884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BRIER SCORE</a:t>
            </a:r>
          </a:p>
        </p:txBody>
      </p:sp>
      <p:sp>
        <p:nvSpPr>
          <p:cNvPr id="15" name="Rounded Rectangle 14"/>
          <p:cNvSpPr/>
          <p:nvPr/>
        </p:nvSpPr>
        <p:spPr>
          <a:xfrm>
            <a:off x="8961120" y="2779776"/>
            <a:ext cx="2331720" cy="749808"/>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89136" y="2907792"/>
            <a:ext cx="2075688" cy="457200"/>
          </a:xfrm>
          <a:prstGeom prst="rect">
            <a:avLst/>
          </a:prstGeom>
          <a:noFill/>
        </p:spPr>
        <p:txBody>
          <a:bodyPr wrap="square" anchor="t" lIns="0" rIns="0" tIns="0" bIns="0">
            <a:spAutoFit/>
          </a:bodyPr>
          <a:lstStyle/>
          <a:p>
            <a:pPr algn="ctr">
              <a:lnSpc>
                <a:spcPct val="115000"/>
              </a:lnSpc>
              <a:spcAft>
                <a:spcPts val="400"/>
              </a:spcAft>
            </a:pPr>
            <a:r>
              <a:rPr sz="2000" b="1">
                <a:solidFill>
                  <a:srgbClr val="2ECC9B"/>
                </a:solidFill>
                <a:latin typeface="Segoe UI"/>
              </a:rPr>
              <a:t>0.0047</a:t>
            </a:r>
          </a:p>
        </p:txBody>
      </p:sp>
      <p:sp>
        <p:nvSpPr>
          <p:cNvPr id="17" name="TextBox 16"/>
          <p:cNvSpPr txBox="1"/>
          <p:nvPr/>
        </p:nvSpPr>
        <p:spPr>
          <a:xfrm>
            <a:off x="9052560" y="3163824"/>
            <a:ext cx="214884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EXPECTED CALIB. ERROR</a:t>
            </a:r>
          </a:p>
        </p:txBody>
      </p:sp>
      <p:sp>
        <p:nvSpPr>
          <p:cNvPr id="18" name="Rounded Rectangle 17"/>
          <p:cNvSpPr/>
          <p:nvPr/>
        </p:nvSpPr>
        <p:spPr>
          <a:xfrm>
            <a:off x="640080" y="4617720"/>
            <a:ext cx="10881360" cy="141732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800600"/>
            <a:ext cx="10332720" cy="274320"/>
          </a:xfrm>
          <a:prstGeom prst="rect">
            <a:avLst/>
          </a:prstGeom>
          <a:noFill/>
        </p:spPr>
        <p:txBody>
          <a:bodyPr wrap="square" anchor="t" lIns="0" rIns="0" tIns="0" bIns="0">
            <a:spAutoFit/>
          </a:bodyPr>
          <a:lstStyle/>
          <a:p>
            <a:pPr algn="l">
              <a:lnSpc>
                <a:spcPct val="115000"/>
              </a:lnSpc>
              <a:spcAft>
                <a:spcPts val="400"/>
              </a:spcAft>
            </a:pPr>
            <a:r>
              <a:rPr sz="1100" b="1">
                <a:solidFill>
                  <a:srgbClr val="61708A"/>
                </a:solidFill>
                <a:latin typeface="Segoe UI"/>
              </a:rPr>
              <a:t>FOUR FOLDS, NOT THREE</a:t>
            </a:r>
          </a:p>
        </p:txBody>
      </p:sp>
      <p:sp>
        <p:nvSpPr>
          <p:cNvPr id="20" name="TextBox 19"/>
          <p:cNvSpPr txBox="1"/>
          <p:nvPr/>
        </p:nvSpPr>
        <p:spPr>
          <a:xfrm>
            <a:off x="914400" y="5138928"/>
            <a:ext cx="2468880" cy="274320"/>
          </a:xfrm>
          <a:prstGeom prst="rect">
            <a:avLst/>
          </a:prstGeom>
          <a:noFill/>
        </p:spPr>
        <p:txBody>
          <a:bodyPr wrap="square" anchor="t" lIns="0" rIns="0" tIns="0" bIns="0">
            <a:spAutoFit/>
          </a:bodyPr>
          <a:lstStyle/>
          <a:p>
            <a:pPr algn="l">
              <a:lnSpc>
                <a:spcPct val="115000"/>
              </a:lnSpc>
              <a:spcAft>
                <a:spcPts val="400"/>
              </a:spcAft>
            </a:pPr>
            <a:r>
              <a:rPr sz="1500" b="1">
                <a:solidFill>
                  <a:srgbClr val="4DA3FF"/>
                </a:solidFill>
                <a:latin typeface="Consolas"/>
              </a:rPr>
              <a:t>train</a:t>
            </a:r>
          </a:p>
        </p:txBody>
      </p:sp>
      <p:sp>
        <p:nvSpPr>
          <p:cNvPr id="21" name="TextBox 20"/>
          <p:cNvSpPr txBox="1"/>
          <p:nvPr/>
        </p:nvSpPr>
        <p:spPr>
          <a:xfrm>
            <a:off x="914400" y="5440680"/>
            <a:ext cx="2468880" cy="365760"/>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fits the base models</a:t>
            </a:r>
          </a:p>
        </p:txBody>
      </p:sp>
      <p:sp>
        <p:nvSpPr>
          <p:cNvPr id="22" name="TextBox 21"/>
          <p:cNvSpPr txBox="1"/>
          <p:nvPr/>
        </p:nvSpPr>
        <p:spPr>
          <a:xfrm>
            <a:off x="3520440" y="5138928"/>
            <a:ext cx="2468880" cy="274320"/>
          </a:xfrm>
          <a:prstGeom prst="rect">
            <a:avLst/>
          </a:prstGeom>
          <a:noFill/>
        </p:spPr>
        <p:txBody>
          <a:bodyPr wrap="square" anchor="t" lIns="0" rIns="0" tIns="0" bIns="0">
            <a:spAutoFit/>
          </a:bodyPr>
          <a:lstStyle/>
          <a:p>
            <a:pPr algn="l">
              <a:lnSpc>
                <a:spcPct val="115000"/>
              </a:lnSpc>
              <a:spcAft>
                <a:spcPts val="400"/>
              </a:spcAft>
            </a:pPr>
            <a:r>
              <a:rPr sz="1500" b="1">
                <a:solidFill>
                  <a:srgbClr val="7D5CFF"/>
                </a:solidFill>
                <a:latin typeface="Consolas"/>
              </a:rPr>
              <a:t>val</a:t>
            </a:r>
          </a:p>
        </p:txBody>
      </p:sp>
      <p:sp>
        <p:nvSpPr>
          <p:cNvPr id="23" name="TextBox 22"/>
          <p:cNvSpPr txBox="1"/>
          <p:nvPr/>
        </p:nvSpPr>
        <p:spPr>
          <a:xfrm>
            <a:off x="3520440" y="5440680"/>
            <a:ext cx="2468880" cy="365760"/>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early-stops them</a:t>
            </a:r>
          </a:p>
        </p:txBody>
      </p:sp>
      <p:sp>
        <p:nvSpPr>
          <p:cNvPr id="24" name="TextBox 23"/>
          <p:cNvSpPr txBox="1"/>
          <p:nvPr/>
        </p:nvSpPr>
        <p:spPr>
          <a:xfrm>
            <a:off x="6126480" y="5138928"/>
            <a:ext cx="2468880" cy="274320"/>
          </a:xfrm>
          <a:prstGeom prst="rect">
            <a:avLst/>
          </a:prstGeom>
          <a:noFill/>
        </p:spPr>
        <p:txBody>
          <a:bodyPr wrap="square" anchor="t" lIns="0" rIns="0" tIns="0" bIns="0">
            <a:spAutoFit/>
          </a:bodyPr>
          <a:lstStyle/>
          <a:p>
            <a:pPr algn="l">
              <a:lnSpc>
                <a:spcPct val="115000"/>
              </a:lnSpc>
              <a:spcAft>
                <a:spcPts val="400"/>
              </a:spcAft>
            </a:pPr>
            <a:r>
              <a:rPr sz="1500" b="1">
                <a:solidFill>
                  <a:srgbClr val="2ECC9B"/>
                </a:solidFill>
                <a:latin typeface="Consolas"/>
              </a:rPr>
              <a:t>fuse</a:t>
            </a:r>
          </a:p>
        </p:txBody>
      </p:sp>
      <p:sp>
        <p:nvSpPr>
          <p:cNvPr id="25" name="TextBox 24"/>
          <p:cNvSpPr txBox="1"/>
          <p:nvPr/>
        </p:nvSpPr>
        <p:spPr>
          <a:xfrm>
            <a:off x="6126480" y="5440680"/>
            <a:ext cx="2468880" cy="365760"/>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fits the Layer-7 blend</a:t>
            </a:r>
          </a:p>
        </p:txBody>
      </p:sp>
      <p:sp>
        <p:nvSpPr>
          <p:cNvPr id="26" name="TextBox 25"/>
          <p:cNvSpPr txBox="1"/>
          <p:nvPr/>
        </p:nvSpPr>
        <p:spPr>
          <a:xfrm>
            <a:off x="8732520" y="5138928"/>
            <a:ext cx="2468880" cy="274320"/>
          </a:xfrm>
          <a:prstGeom prst="rect">
            <a:avLst/>
          </a:prstGeom>
          <a:noFill/>
        </p:spPr>
        <p:txBody>
          <a:bodyPr wrap="square" anchor="t" lIns="0" rIns="0" tIns="0" bIns="0">
            <a:spAutoFit/>
          </a:bodyPr>
          <a:lstStyle/>
          <a:p>
            <a:pPr algn="l">
              <a:lnSpc>
                <a:spcPct val="115000"/>
              </a:lnSpc>
              <a:spcAft>
                <a:spcPts val="400"/>
              </a:spcAft>
            </a:pPr>
            <a:r>
              <a:rPr sz="1500" b="1">
                <a:solidFill>
                  <a:srgbClr val="FF8C42"/>
                </a:solidFill>
                <a:latin typeface="Consolas"/>
              </a:rPr>
              <a:t>test</a:t>
            </a:r>
          </a:p>
        </p:txBody>
      </p:sp>
      <p:sp>
        <p:nvSpPr>
          <p:cNvPr id="27" name="TextBox 26"/>
          <p:cNvSpPr txBox="1"/>
          <p:nvPr/>
        </p:nvSpPr>
        <p:spPr>
          <a:xfrm>
            <a:off x="8732520" y="5440680"/>
            <a:ext cx="2468880" cy="365760"/>
          </a:xfrm>
          <a:prstGeom prst="rect">
            <a:avLst/>
          </a:prstGeom>
          <a:noFill/>
        </p:spPr>
        <p:txBody>
          <a:bodyPr wrap="square" anchor="t" lIns="0" rIns="0" tIns="0" bIns="0">
            <a:spAutoFit/>
          </a:bodyPr>
          <a:lstStyle/>
          <a:p>
            <a:pPr algn="l">
              <a:lnSpc>
                <a:spcPct val="115000"/>
              </a:lnSpc>
              <a:spcAft>
                <a:spcPts val="400"/>
              </a:spcAft>
            </a:pPr>
            <a:r>
              <a:rPr sz="1150" b="0">
                <a:solidFill>
                  <a:srgbClr val="8FA3C0"/>
                </a:solidFill>
                <a:latin typeface="Segoe UI"/>
              </a:rPr>
              <a:t>touched exactly once</a:t>
            </a:r>
          </a:p>
        </p:txBody>
      </p:sp>
      <p:sp>
        <p:nvSpPr>
          <p:cNvPr id="28" name="TextBox 27"/>
          <p:cNvSpPr txBox="1"/>
          <p:nvPr/>
        </p:nvSpPr>
        <p:spPr>
          <a:xfrm>
            <a:off x="640080" y="6263640"/>
            <a:ext cx="10972800" cy="274320"/>
          </a:xfrm>
          <a:prstGeom prst="rect">
            <a:avLst/>
          </a:prstGeom>
          <a:noFill/>
        </p:spPr>
        <p:txBody>
          <a:bodyPr wrap="square" anchor="t" lIns="0" rIns="0" tIns="0" bIns="0">
            <a:spAutoFit/>
          </a:bodyPr>
          <a:lstStyle/>
          <a:p>
            <a:pPr algn="l">
              <a:lnSpc>
                <a:spcPct val="115000"/>
              </a:lnSpc>
              <a:spcAft>
                <a:spcPts val="400"/>
              </a:spcAft>
            </a:pPr>
            <a:r>
              <a:rPr sz="1150" b="0">
                <a:solidFill>
                  <a:srgbClr val="61708A"/>
                </a:solidFill>
                <a:latin typeface="Segoe UI"/>
              </a:rPr>
              <a:t>A stacker fitted on the fold that early-stopped its own inputs inherits their optimism — and came out worse than the best single layer.</a:t>
            </a:r>
          </a:p>
        </p:txBody>
      </p:sp>
      <p:sp>
        <p:nvSpPr>
          <p:cNvPr id="29" name="TextBox 28"/>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30" name="TextBox 29"/>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2"/>
              </a:rPr>
              <a:t>github.com/archirajpoot/Bodhi_Mule_Hunter</a:t>
            </a:r>
            <a:r>
              <a:rPr sz="950">
                <a:solidFill>
                  <a:srgbClr val="61708A"/>
                </a:solidFill>
                <a:latin typeface="Consolas"/>
              </a:rPr>
              <a:t>   ·   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RESULTS</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Every layer, on held-out data</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12,000 accounts · 834,738 transactions · 151 mules (1.26%) · 21 rings</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2651760" cy="274320"/>
          </a:xfrm>
          <a:prstGeom prst="rect">
            <a:avLst/>
          </a:prstGeom>
          <a:noFill/>
        </p:spPr>
        <p:txBody>
          <a:bodyPr wrap="square" anchor="t" lIns="0" rIns="0" tIns="0" bIns="0">
            <a:spAutoFit/>
          </a:bodyPr>
          <a:lstStyle/>
          <a:p>
            <a:pPr algn="l">
              <a:lnSpc>
                <a:spcPct val="115000"/>
              </a:lnSpc>
              <a:spcAft>
                <a:spcPts val="400"/>
              </a:spcAft>
            </a:pPr>
            <a:r>
              <a:rPr sz="950" b="1">
                <a:solidFill>
                  <a:srgbClr val="61708A"/>
                </a:solidFill>
                <a:latin typeface="Segoe UI"/>
              </a:rPr>
              <a:t>LAYER</a:t>
            </a:r>
          </a:p>
        </p:txBody>
      </p:sp>
      <p:sp>
        <p:nvSpPr>
          <p:cNvPr id="8" name="TextBox 7"/>
          <p:cNvSpPr txBox="1"/>
          <p:nvPr/>
        </p:nvSpPr>
        <p:spPr>
          <a:xfrm>
            <a:off x="3291840" y="1920240"/>
            <a:ext cx="1005840" cy="274320"/>
          </a:xfrm>
          <a:prstGeom prst="rect">
            <a:avLst/>
          </a:prstGeom>
          <a:noFill/>
        </p:spPr>
        <p:txBody>
          <a:bodyPr wrap="square" anchor="t" lIns="0" rIns="0" tIns="0" bIns="0">
            <a:spAutoFit/>
          </a:bodyPr>
          <a:lstStyle/>
          <a:p>
            <a:pPr algn="r">
              <a:lnSpc>
                <a:spcPct val="115000"/>
              </a:lnSpc>
              <a:spcAft>
                <a:spcPts val="400"/>
              </a:spcAft>
            </a:pPr>
            <a:r>
              <a:rPr sz="950" b="1">
                <a:solidFill>
                  <a:srgbClr val="61708A"/>
                </a:solidFill>
                <a:latin typeface="Segoe UI"/>
              </a:rPr>
              <a:t>ROC-AUC</a:t>
            </a:r>
          </a:p>
        </p:txBody>
      </p:sp>
      <p:sp>
        <p:nvSpPr>
          <p:cNvPr id="9" name="TextBox 8"/>
          <p:cNvSpPr txBox="1"/>
          <p:nvPr/>
        </p:nvSpPr>
        <p:spPr>
          <a:xfrm>
            <a:off x="4297680" y="1920240"/>
            <a:ext cx="1005840" cy="274320"/>
          </a:xfrm>
          <a:prstGeom prst="rect">
            <a:avLst/>
          </a:prstGeom>
          <a:noFill/>
        </p:spPr>
        <p:txBody>
          <a:bodyPr wrap="square" anchor="t" lIns="0" rIns="0" tIns="0" bIns="0">
            <a:spAutoFit/>
          </a:bodyPr>
          <a:lstStyle/>
          <a:p>
            <a:pPr algn="r">
              <a:lnSpc>
                <a:spcPct val="115000"/>
              </a:lnSpc>
              <a:spcAft>
                <a:spcPts val="400"/>
              </a:spcAft>
            </a:pPr>
            <a:r>
              <a:rPr sz="950" b="1">
                <a:solidFill>
                  <a:srgbClr val="61708A"/>
                </a:solidFill>
                <a:latin typeface="Segoe UI"/>
              </a:rPr>
              <a:t>PR-AUC</a:t>
            </a:r>
          </a:p>
        </p:txBody>
      </p:sp>
      <p:sp>
        <p:nvSpPr>
          <p:cNvPr id="10" name="TextBox 9"/>
          <p:cNvSpPr txBox="1"/>
          <p:nvPr/>
        </p:nvSpPr>
        <p:spPr>
          <a:xfrm>
            <a:off x="5303520" y="1920240"/>
            <a:ext cx="914400" cy="274320"/>
          </a:xfrm>
          <a:prstGeom prst="rect">
            <a:avLst/>
          </a:prstGeom>
          <a:noFill/>
        </p:spPr>
        <p:txBody>
          <a:bodyPr wrap="square" anchor="t" lIns="0" rIns="0" tIns="0" bIns="0">
            <a:spAutoFit/>
          </a:bodyPr>
          <a:lstStyle/>
          <a:p>
            <a:pPr algn="r">
              <a:lnSpc>
                <a:spcPct val="115000"/>
              </a:lnSpc>
              <a:spcAft>
                <a:spcPts val="400"/>
              </a:spcAft>
            </a:pPr>
            <a:r>
              <a:rPr sz="950" b="1">
                <a:solidFill>
                  <a:srgbClr val="61708A"/>
                </a:solidFill>
                <a:latin typeface="Segoe UI"/>
              </a:rPr>
              <a:t>P@1%</a:t>
            </a:r>
          </a:p>
        </p:txBody>
      </p:sp>
      <p:sp>
        <p:nvSpPr>
          <p:cNvPr id="11" name="TextBox 10"/>
          <p:cNvSpPr txBox="1"/>
          <p:nvPr/>
        </p:nvSpPr>
        <p:spPr>
          <a:xfrm>
            <a:off x="6217920" y="1920240"/>
            <a:ext cx="914400" cy="274320"/>
          </a:xfrm>
          <a:prstGeom prst="rect">
            <a:avLst/>
          </a:prstGeom>
          <a:noFill/>
        </p:spPr>
        <p:txBody>
          <a:bodyPr wrap="square" anchor="t" lIns="0" rIns="0" tIns="0" bIns="0">
            <a:spAutoFit/>
          </a:bodyPr>
          <a:lstStyle/>
          <a:p>
            <a:pPr algn="r">
              <a:lnSpc>
                <a:spcPct val="115000"/>
              </a:lnSpc>
              <a:spcAft>
                <a:spcPts val="400"/>
              </a:spcAft>
            </a:pPr>
            <a:r>
              <a:rPr sz="950" b="1">
                <a:solidFill>
                  <a:srgbClr val="61708A"/>
                </a:solidFill>
                <a:latin typeface="Segoe UI"/>
              </a:rPr>
              <a:t>R@1%</a:t>
            </a:r>
          </a:p>
        </p:txBody>
      </p:sp>
      <p:sp>
        <p:nvSpPr>
          <p:cNvPr id="12" name="Rectangle 11"/>
          <p:cNvSpPr/>
          <p:nvPr/>
        </p:nvSpPr>
        <p:spPr>
          <a:xfrm>
            <a:off x="640080" y="2176272"/>
            <a:ext cx="6492240" cy="12700"/>
          </a:xfrm>
          <a:prstGeom prst="rect">
            <a:avLst/>
          </a:prstGeom>
          <a:solidFill>
            <a:srgbClr val="23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86000"/>
            <a:ext cx="2651760" cy="393192"/>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XGBoost (L4)</a:t>
            </a:r>
          </a:p>
        </p:txBody>
      </p:sp>
      <p:sp>
        <p:nvSpPr>
          <p:cNvPr id="14" name="TextBox 13"/>
          <p:cNvSpPr txBox="1"/>
          <p:nvPr/>
        </p:nvSpPr>
        <p:spPr>
          <a:xfrm>
            <a:off x="3291840" y="2286000"/>
            <a:ext cx="100584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0.9946</a:t>
            </a:r>
          </a:p>
        </p:txBody>
      </p:sp>
      <p:sp>
        <p:nvSpPr>
          <p:cNvPr id="15" name="TextBox 14"/>
          <p:cNvSpPr txBox="1"/>
          <p:nvPr/>
        </p:nvSpPr>
        <p:spPr>
          <a:xfrm>
            <a:off x="4297680" y="2286000"/>
            <a:ext cx="100584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0.9540</a:t>
            </a:r>
          </a:p>
        </p:txBody>
      </p:sp>
      <p:sp>
        <p:nvSpPr>
          <p:cNvPr id="16" name="TextBox 15"/>
          <p:cNvSpPr txBox="1"/>
          <p:nvPr/>
        </p:nvSpPr>
        <p:spPr>
          <a:xfrm>
            <a:off x="5303520" y="2286000"/>
            <a:ext cx="91440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0.983</a:t>
            </a:r>
          </a:p>
        </p:txBody>
      </p:sp>
      <p:sp>
        <p:nvSpPr>
          <p:cNvPr id="17" name="TextBox 16"/>
          <p:cNvSpPr txBox="1"/>
          <p:nvPr/>
        </p:nvSpPr>
        <p:spPr>
          <a:xfrm>
            <a:off x="6217920" y="2286000"/>
            <a:ext cx="91440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0.781</a:t>
            </a:r>
          </a:p>
        </p:txBody>
      </p:sp>
      <p:sp>
        <p:nvSpPr>
          <p:cNvPr id="18" name="TextBox 17"/>
          <p:cNvSpPr txBox="1"/>
          <p:nvPr/>
        </p:nvSpPr>
        <p:spPr>
          <a:xfrm>
            <a:off x="640080" y="2679192"/>
            <a:ext cx="2651760" cy="393192"/>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GraphSAGE (L5)</a:t>
            </a:r>
          </a:p>
        </p:txBody>
      </p:sp>
      <p:sp>
        <p:nvSpPr>
          <p:cNvPr id="19" name="TextBox 18"/>
          <p:cNvSpPr txBox="1"/>
          <p:nvPr/>
        </p:nvSpPr>
        <p:spPr>
          <a:xfrm>
            <a:off x="3291840" y="2679192"/>
            <a:ext cx="100584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0.9962</a:t>
            </a:r>
          </a:p>
        </p:txBody>
      </p:sp>
      <p:sp>
        <p:nvSpPr>
          <p:cNvPr id="20" name="TextBox 19"/>
          <p:cNvSpPr txBox="1"/>
          <p:nvPr/>
        </p:nvSpPr>
        <p:spPr>
          <a:xfrm>
            <a:off x="4297680" y="2679192"/>
            <a:ext cx="100584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0.9481</a:t>
            </a:r>
          </a:p>
        </p:txBody>
      </p:sp>
      <p:sp>
        <p:nvSpPr>
          <p:cNvPr id="21" name="TextBox 20"/>
          <p:cNvSpPr txBox="1"/>
          <p:nvPr/>
        </p:nvSpPr>
        <p:spPr>
          <a:xfrm>
            <a:off x="5303520" y="2679192"/>
            <a:ext cx="91440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0.983</a:t>
            </a:r>
          </a:p>
        </p:txBody>
      </p:sp>
      <p:sp>
        <p:nvSpPr>
          <p:cNvPr id="22" name="TextBox 21"/>
          <p:cNvSpPr txBox="1"/>
          <p:nvPr/>
        </p:nvSpPr>
        <p:spPr>
          <a:xfrm>
            <a:off x="6217920" y="2679192"/>
            <a:ext cx="91440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0.781</a:t>
            </a:r>
          </a:p>
        </p:txBody>
      </p:sp>
      <p:sp>
        <p:nvSpPr>
          <p:cNvPr id="23" name="TextBox 22"/>
          <p:cNvSpPr txBox="1"/>
          <p:nvPr/>
        </p:nvSpPr>
        <p:spPr>
          <a:xfrm>
            <a:off x="640080" y="3072384"/>
            <a:ext cx="2651760" cy="393192"/>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TGN (L6)</a:t>
            </a:r>
          </a:p>
        </p:txBody>
      </p:sp>
      <p:sp>
        <p:nvSpPr>
          <p:cNvPr id="24" name="TextBox 23"/>
          <p:cNvSpPr txBox="1"/>
          <p:nvPr/>
        </p:nvSpPr>
        <p:spPr>
          <a:xfrm>
            <a:off x="3291840" y="3072384"/>
            <a:ext cx="100584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0.9628</a:t>
            </a:r>
          </a:p>
        </p:txBody>
      </p:sp>
      <p:sp>
        <p:nvSpPr>
          <p:cNvPr id="25" name="TextBox 24"/>
          <p:cNvSpPr txBox="1"/>
          <p:nvPr/>
        </p:nvSpPr>
        <p:spPr>
          <a:xfrm>
            <a:off x="4297680" y="3072384"/>
            <a:ext cx="100584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0.8036</a:t>
            </a:r>
          </a:p>
        </p:txBody>
      </p:sp>
      <p:sp>
        <p:nvSpPr>
          <p:cNvPr id="26" name="TextBox 25"/>
          <p:cNvSpPr txBox="1"/>
          <p:nvPr/>
        </p:nvSpPr>
        <p:spPr>
          <a:xfrm>
            <a:off x="5303520" y="3072384"/>
            <a:ext cx="91440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0.892</a:t>
            </a:r>
          </a:p>
        </p:txBody>
      </p:sp>
      <p:sp>
        <p:nvSpPr>
          <p:cNvPr id="27" name="TextBox 26"/>
          <p:cNvSpPr txBox="1"/>
          <p:nvPr/>
        </p:nvSpPr>
        <p:spPr>
          <a:xfrm>
            <a:off x="6217920" y="3072384"/>
            <a:ext cx="91440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0.709</a:t>
            </a:r>
          </a:p>
        </p:txBody>
      </p:sp>
      <p:sp>
        <p:nvSpPr>
          <p:cNvPr id="28" name="TextBox 27"/>
          <p:cNvSpPr txBox="1"/>
          <p:nvPr/>
        </p:nvSpPr>
        <p:spPr>
          <a:xfrm>
            <a:off x="640080" y="3465576"/>
            <a:ext cx="2651760" cy="393192"/>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Intelligence</a:t>
            </a:r>
          </a:p>
        </p:txBody>
      </p:sp>
      <p:sp>
        <p:nvSpPr>
          <p:cNvPr id="29" name="TextBox 28"/>
          <p:cNvSpPr txBox="1"/>
          <p:nvPr/>
        </p:nvSpPr>
        <p:spPr>
          <a:xfrm>
            <a:off x="3291840" y="3465576"/>
            <a:ext cx="100584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0.6883</a:t>
            </a:r>
          </a:p>
        </p:txBody>
      </p:sp>
      <p:sp>
        <p:nvSpPr>
          <p:cNvPr id="30" name="TextBox 29"/>
          <p:cNvSpPr txBox="1"/>
          <p:nvPr/>
        </p:nvSpPr>
        <p:spPr>
          <a:xfrm>
            <a:off x="4297680" y="3465576"/>
            <a:ext cx="100584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0.3774</a:t>
            </a:r>
          </a:p>
        </p:txBody>
      </p:sp>
      <p:sp>
        <p:nvSpPr>
          <p:cNvPr id="31" name="TextBox 30"/>
          <p:cNvSpPr txBox="1"/>
          <p:nvPr/>
        </p:nvSpPr>
        <p:spPr>
          <a:xfrm>
            <a:off x="5303520" y="3465576"/>
            <a:ext cx="91440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0.475</a:t>
            </a:r>
          </a:p>
        </p:txBody>
      </p:sp>
      <p:sp>
        <p:nvSpPr>
          <p:cNvPr id="32" name="TextBox 31"/>
          <p:cNvSpPr txBox="1"/>
          <p:nvPr/>
        </p:nvSpPr>
        <p:spPr>
          <a:xfrm>
            <a:off x="6217920" y="3465576"/>
            <a:ext cx="914400" cy="39319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0.378</a:t>
            </a:r>
          </a:p>
        </p:txBody>
      </p:sp>
      <p:sp>
        <p:nvSpPr>
          <p:cNvPr id="33" name="Rounded Rectangle 32"/>
          <p:cNvSpPr/>
          <p:nvPr/>
        </p:nvSpPr>
        <p:spPr>
          <a:xfrm>
            <a:off x="548640" y="3813048"/>
            <a:ext cx="6675120" cy="411480"/>
          </a:xfrm>
          <a:prstGeom prst="roundRect">
            <a:avLst>
              <a:gd name="adj" fmla="val 4000"/>
            </a:avLst>
          </a:prstGeom>
          <a:solidFill>
            <a:srgbClr val="182031"/>
          </a:solidFill>
          <a:ln w="12700">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3858768"/>
            <a:ext cx="2651760" cy="393192"/>
          </a:xfrm>
          <a:prstGeom prst="rect">
            <a:avLst/>
          </a:prstGeom>
          <a:noFill/>
        </p:spPr>
        <p:txBody>
          <a:bodyPr wrap="square" anchor="t" lIns="0" rIns="0" tIns="0" bIns="0">
            <a:spAutoFit/>
          </a:bodyPr>
          <a:lstStyle/>
          <a:p>
            <a:pPr algn="l">
              <a:lnSpc>
                <a:spcPct val="115000"/>
              </a:lnSpc>
              <a:spcAft>
                <a:spcPts val="400"/>
              </a:spcAft>
            </a:pPr>
            <a:r>
              <a:rPr sz="1200" b="1">
                <a:solidFill>
                  <a:srgbClr val="E6EDF7"/>
                </a:solidFill>
                <a:latin typeface="Segoe UI"/>
              </a:rPr>
              <a:t>Fused (L7)</a:t>
            </a:r>
          </a:p>
        </p:txBody>
      </p:sp>
      <p:sp>
        <p:nvSpPr>
          <p:cNvPr id="35" name="TextBox 34"/>
          <p:cNvSpPr txBox="1"/>
          <p:nvPr/>
        </p:nvSpPr>
        <p:spPr>
          <a:xfrm>
            <a:off x="3291840" y="3858768"/>
            <a:ext cx="1005840" cy="393192"/>
          </a:xfrm>
          <a:prstGeom prst="rect">
            <a:avLst/>
          </a:prstGeom>
          <a:noFill/>
        </p:spPr>
        <p:txBody>
          <a:bodyPr wrap="square" anchor="t" lIns="0" rIns="0" tIns="0" bIns="0">
            <a:spAutoFit/>
          </a:bodyPr>
          <a:lstStyle/>
          <a:p>
            <a:pPr algn="r">
              <a:lnSpc>
                <a:spcPct val="115000"/>
              </a:lnSpc>
              <a:spcAft>
                <a:spcPts val="400"/>
              </a:spcAft>
            </a:pPr>
            <a:r>
              <a:rPr sz="1200" b="1">
                <a:solidFill>
                  <a:srgbClr val="E6EDF7"/>
                </a:solidFill>
                <a:latin typeface="Segoe UI"/>
              </a:rPr>
              <a:t>0.9966</a:t>
            </a:r>
          </a:p>
        </p:txBody>
      </p:sp>
      <p:sp>
        <p:nvSpPr>
          <p:cNvPr id="36" name="TextBox 35"/>
          <p:cNvSpPr txBox="1"/>
          <p:nvPr/>
        </p:nvSpPr>
        <p:spPr>
          <a:xfrm>
            <a:off x="4297680" y="3858768"/>
            <a:ext cx="1005840" cy="393192"/>
          </a:xfrm>
          <a:prstGeom prst="rect">
            <a:avLst/>
          </a:prstGeom>
          <a:noFill/>
        </p:spPr>
        <p:txBody>
          <a:bodyPr wrap="square" anchor="t" lIns="0" rIns="0" tIns="0" bIns="0">
            <a:spAutoFit/>
          </a:bodyPr>
          <a:lstStyle/>
          <a:p>
            <a:pPr algn="r">
              <a:lnSpc>
                <a:spcPct val="115000"/>
              </a:lnSpc>
              <a:spcAft>
                <a:spcPts val="400"/>
              </a:spcAft>
            </a:pPr>
            <a:r>
              <a:rPr sz="1200" b="1">
                <a:solidFill>
                  <a:srgbClr val="E6EDF7"/>
                </a:solidFill>
                <a:latin typeface="Segoe UI"/>
              </a:rPr>
              <a:t>0.9707</a:t>
            </a:r>
          </a:p>
        </p:txBody>
      </p:sp>
      <p:sp>
        <p:nvSpPr>
          <p:cNvPr id="37" name="TextBox 36"/>
          <p:cNvSpPr txBox="1"/>
          <p:nvPr/>
        </p:nvSpPr>
        <p:spPr>
          <a:xfrm>
            <a:off x="5303520" y="3858768"/>
            <a:ext cx="914400" cy="393192"/>
          </a:xfrm>
          <a:prstGeom prst="rect">
            <a:avLst/>
          </a:prstGeom>
          <a:noFill/>
        </p:spPr>
        <p:txBody>
          <a:bodyPr wrap="square" anchor="t" lIns="0" rIns="0" tIns="0" bIns="0">
            <a:spAutoFit/>
          </a:bodyPr>
          <a:lstStyle/>
          <a:p>
            <a:pPr algn="r">
              <a:lnSpc>
                <a:spcPct val="115000"/>
              </a:lnSpc>
              <a:spcAft>
                <a:spcPts val="400"/>
              </a:spcAft>
            </a:pPr>
            <a:r>
              <a:rPr sz="1200" b="1">
                <a:solidFill>
                  <a:srgbClr val="E6EDF7"/>
                </a:solidFill>
                <a:latin typeface="Segoe UI"/>
              </a:rPr>
              <a:t>0.992</a:t>
            </a:r>
          </a:p>
        </p:txBody>
      </p:sp>
      <p:sp>
        <p:nvSpPr>
          <p:cNvPr id="38" name="TextBox 37"/>
          <p:cNvSpPr txBox="1"/>
          <p:nvPr/>
        </p:nvSpPr>
        <p:spPr>
          <a:xfrm>
            <a:off x="6217920" y="3858768"/>
            <a:ext cx="914400" cy="393192"/>
          </a:xfrm>
          <a:prstGeom prst="rect">
            <a:avLst/>
          </a:prstGeom>
          <a:noFill/>
        </p:spPr>
        <p:txBody>
          <a:bodyPr wrap="square" anchor="t" lIns="0" rIns="0" tIns="0" bIns="0">
            <a:spAutoFit/>
          </a:bodyPr>
          <a:lstStyle/>
          <a:p>
            <a:pPr algn="r">
              <a:lnSpc>
                <a:spcPct val="115000"/>
              </a:lnSpc>
              <a:spcAft>
                <a:spcPts val="400"/>
              </a:spcAft>
            </a:pPr>
            <a:r>
              <a:rPr sz="1200" b="1">
                <a:solidFill>
                  <a:srgbClr val="E6EDF7"/>
                </a:solidFill>
                <a:latin typeface="Segoe UI"/>
              </a:rPr>
              <a:t>0.788</a:t>
            </a:r>
          </a:p>
        </p:txBody>
      </p:sp>
      <p:pic>
        <p:nvPicPr>
          <p:cNvPr id="39" name="Picture 38" descr="roc_pr.png"/>
          <p:cNvPicPr>
            <a:picLocks noChangeAspect="1"/>
          </p:cNvPicPr>
          <p:nvPr/>
        </p:nvPicPr>
        <p:blipFill>
          <a:blip r:embed="rId2"/>
          <a:stretch>
            <a:fillRect/>
          </a:stretch>
        </p:blipFill>
        <p:spPr>
          <a:xfrm>
            <a:off x="7452360" y="1874520"/>
            <a:ext cx="4069080" cy="1709014"/>
          </a:xfrm>
          <a:prstGeom prst="rect">
            <a:avLst/>
          </a:prstGeom>
          <a:ln w="12700">
            <a:solidFill>
              <a:srgbClr val="23304A"/>
            </a:solidFill>
          </a:ln>
        </p:spPr>
      </p:pic>
      <p:sp>
        <p:nvSpPr>
          <p:cNvPr id="40" name="TextBox 39"/>
          <p:cNvSpPr txBox="1"/>
          <p:nvPr/>
        </p:nvSpPr>
        <p:spPr>
          <a:xfrm>
            <a:off x="640080" y="4892040"/>
            <a:ext cx="6492240" cy="320040"/>
          </a:xfrm>
          <a:prstGeom prst="rect">
            <a:avLst/>
          </a:prstGeom>
          <a:noFill/>
        </p:spPr>
        <p:txBody>
          <a:bodyPr wrap="square" anchor="t" lIns="0" rIns="0" tIns="0" bIns="0">
            <a:spAutoFit/>
          </a:bodyPr>
          <a:lstStyle/>
          <a:p>
            <a:pPr algn="l">
              <a:lnSpc>
                <a:spcPct val="125000"/>
              </a:lnSpc>
              <a:spcAft>
                <a:spcPts val="400"/>
              </a:spcAft>
            </a:pPr>
            <a:r>
              <a:rPr sz="1250" b="0">
                <a:solidFill>
                  <a:srgbClr val="8FA3C0"/>
                </a:solidFill>
                <a:latin typeface="Segoe UI"/>
              </a:rPr>
              <a:t>The fused model beats every individual view on both ranking metrics — which is the complementarity claim, measured.</a:t>
            </a:r>
          </a:p>
        </p:txBody>
      </p:sp>
      <p:sp>
        <p:nvSpPr>
          <p:cNvPr id="41" name="Rounded Rectangle 40"/>
          <p:cNvSpPr/>
          <p:nvPr/>
        </p:nvSpPr>
        <p:spPr>
          <a:xfrm>
            <a:off x="640080" y="5440680"/>
            <a:ext cx="2103120" cy="86868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568696"/>
            <a:ext cx="1847088" cy="457200"/>
          </a:xfrm>
          <a:prstGeom prst="rect">
            <a:avLst/>
          </a:prstGeom>
          <a:noFill/>
        </p:spPr>
        <p:txBody>
          <a:bodyPr wrap="square" anchor="t" lIns="0" rIns="0" tIns="0" bIns="0">
            <a:spAutoFit/>
          </a:bodyPr>
          <a:lstStyle/>
          <a:p>
            <a:pPr algn="ctr">
              <a:lnSpc>
                <a:spcPct val="115000"/>
              </a:lnSpc>
              <a:spcAft>
                <a:spcPts val="400"/>
              </a:spcAft>
            </a:pPr>
            <a:r>
              <a:rPr sz="2200" b="1">
                <a:solidFill>
                  <a:srgbClr val="2ECC9B"/>
                </a:solidFill>
                <a:latin typeface="Segoe UI"/>
              </a:rPr>
              <a:t>100%</a:t>
            </a:r>
          </a:p>
        </p:txBody>
      </p:sp>
      <p:sp>
        <p:nvSpPr>
          <p:cNvPr id="43" name="TextBox 42"/>
          <p:cNvSpPr txBox="1"/>
          <p:nvPr/>
        </p:nvSpPr>
        <p:spPr>
          <a:xfrm>
            <a:off x="731520" y="5943600"/>
            <a:ext cx="192024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OUT-OF-TIME RECALL</a:t>
            </a:r>
          </a:p>
        </p:txBody>
      </p:sp>
      <p:sp>
        <p:nvSpPr>
          <p:cNvPr id="44" name="Rounded Rectangle 43"/>
          <p:cNvSpPr/>
          <p:nvPr/>
        </p:nvSpPr>
        <p:spPr>
          <a:xfrm>
            <a:off x="2880360" y="5440680"/>
            <a:ext cx="2103120" cy="86868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008376" y="5568696"/>
            <a:ext cx="1847088" cy="457200"/>
          </a:xfrm>
          <a:prstGeom prst="rect">
            <a:avLst/>
          </a:prstGeom>
          <a:noFill/>
        </p:spPr>
        <p:txBody>
          <a:bodyPr wrap="square" anchor="t" lIns="0" rIns="0" tIns="0" bIns="0">
            <a:spAutoFit/>
          </a:bodyPr>
          <a:lstStyle/>
          <a:p>
            <a:pPr algn="ctr">
              <a:lnSpc>
                <a:spcPct val="115000"/>
              </a:lnSpc>
              <a:spcAft>
                <a:spcPts val="400"/>
              </a:spcAft>
            </a:pPr>
            <a:r>
              <a:rPr sz="2200" b="1">
                <a:solidFill>
                  <a:srgbClr val="4DA3FF"/>
                </a:solidFill>
                <a:latin typeface="Segoe UI"/>
              </a:rPr>
              <a:t>64%</a:t>
            </a:r>
          </a:p>
        </p:txBody>
      </p:sp>
      <p:sp>
        <p:nvSpPr>
          <p:cNvPr id="46" name="TextBox 45"/>
          <p:cNvSpPr txBox="1"/>
          <p:nvPr/>
        </p:nvSpPr>
        <p:spPr>
          <a:xfrm>
            <a:off x="2971800" y="5943600"/>
            <a:ext cx="192024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NEVER IN ANY NCRP TICKET</a:t>
            </a:r>
          </a:p>
        </p:txBody>
      </p:sp>
      <p:sp>
        <p:nvSpPr>
          <p:cNvPr id="47" name="Rounded Rectangle 46"/>
          <p:cNvSpPr/>
          <p:nvPr/>
        </p:nvSpPr>
        <p:spPr>
          <a:xfrm>
            <a:off x="5120640" y="5440680"/>
            <a:ext cx="2103120" cy="86868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48656" y="5568696"/>
            <a:ext cx="1847088" cy="457200"/>
          </a:xfrm>
          <a:prstGeom prst="rect">
            <a:avLst/>
          </a:prstGeom>
          <a:noFill/>
        </p:spPr>
        <p:txBody>
          <a:bodyPr wrap="square" anchor="t" lIns="0" rIns="0" tIns="0" bIns="0">
            <a:spAutoFit/>
          </a:bodyPr>
          <a:lstStyle/>
          <a:p>
            <a:pPr algn="ctr">
              <a:lnSpc>
                <a:spcPct val="115000"/>
              </a:lnSpc>
              <a:spcAft>
                <a:spcPts val="400"/>
              </a:spcAft>
            </a:pPr>
            <a:r>
              <a:rPr sz="2200" b="1">
                <a:solidFill>
                  <a:srgbClr val="7D5CFF"/>
                </a:solidFill>
                <a:latin typeface="Segoe UI"/>
              </a:rPr>
              <a:t>0.113 ms</a:t>
            </a:r>
          </a:p>
        </p:txBody>
      </p:sp>
      <p:sp>
        <p:nvSpPr>
          <p:cNvPr id="49" name="TextBox 48"/>
          <p:cNvSpPr txBox="1"/>
          <p:nvPr/>
        </p:nvSpPr>
        <p:spPr>
          <a:xfrm>
            <a:off x="5212080" y="5943600"/>
            <a:ext cx="192024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INLINE DECISION P99</a:t>
            </a:r>
          </a:p>
        </p:txBody>
      </p:sp>
      <p:sp>
        <p:nvSpPr>
          <p:cNvPr id="50" name="TextBox 49"/>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51" name="TextBox 50"/>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3"/>
              </a:rPr>
              <a:t>github.com/archirajpoot/Bodhi_Mule_Hunter</a:t>
            </a:r>
            <a:r>
              <a:rPr sz="950">
                <a:solidFill>
                  <a:srgbClr val="61708A"/>
                </a:solidFill>
                <a:latin typeface="Consolas"/>
              </a:rPr>
              <a:t>   ·   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THE HEADLINE</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Versus the rule engine it replaces</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Compared at identical recall — because a system that alerts on everything can always claim to catch more.</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965960"/>
            <a:ext cx="5120640" cy="2834640"/>
          </a:xfrm>
          <a:prstGeom prst="roundRect">
            <a:avLst>
              <a:gd name="adj" fmla="val 4000"/>
            </a:avLst>
          </a:prstGeom>
          <a:solidFill>
            <a:srgbClr val="121826"/>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94560"/>
            <a:ext cx="4572000" cy="320040"/>
          </a:xfrm>
          <a:prstGeom prst="rect">
            <a:avLst/>
          </a:prstGeom>
          <a:noFill/>
        </p:spPr>
        <p:txBody>
          <a:bodyPr wrap="square" anchor="t" lIns="0" rIns="0" tIns="0" bIns="0">
            <a:spAutoFit/>
          </a:bodyPr>
          <a:lstStyle/>
          <a:p>
            <a:pPr algn="l">
              <a:lnSpc>
                <a:spcPct val="115000"/>
              </a:lnSpc>
              <a:spcAft>
                <a:spcPts val="400"/>
              </a:spcAft>
            </a:pPr>
            <a:r>
              <a:rPr sz="1100" b="1">
                <a:solidFill>
                  <a:srgbClr val="FF8C42"/>
                </a:solidFill>
                <a:latin typeface="Segoe UI"/>
              </a:rPr>
              <a:t>RULE ENGINE  ·  8 SCENARIOS</a:t>
            </a:r>
          </a:p>
        </p:txBody>
      </p:sp>
      <p:sp>
        <p:nvSpPr>
          <p:cNvPr id="9" name="TextBox 8"/>
          <p:cNvSpPr txBox="1"/>
          <p:nvPr/>
        </p:nvSpPr>
        <p:spPr>
          <a:xfrm>
            <a:off x="914400" y="2651760"/>
            <a:ext cx="2743200" cy="320040"/>
          </a:xfrm>
          <a:prstGeom prst="rect">
            <a:avLst/>
          </a:prstGeom>
          <a:noFill/>
        </p:spPr>
        <p:txBody>
          <a:bodyPr wrap="square" anchor="t" lIns="0" rIns="0" tIns="0" bIns="0">
            <a:spAutoFit/>
          </a:bodyPr>
          <a:lstStyle/>
          <a:p>
            <a:pPr algn="l">
              <a:lnSpc>
                <a:spcPct val="115000"/>
              </a:lnSpc>
              <a:spcAft>
                <a:spcPts val="400"/>
              </a:spcAft>
            </a:pPr>
            <a:r>
              <a:rPr sz="1400" b="0">
                <a:solidFill>
                  <a:srgbClr val="8FA3C0"/>
                </a:solidFill>
                <a:latin typeface="Segoe UI"/>
              </a:rPr>
              <a:t>Alerts raised</a:t>
            </a:r>
          </a:p>
        </p:txBody>
      </p:sp>
      <p:sp>
        <p:nvSpPr>
          <p:cNvPr id="10" name="TextBox 9"/>
          <p:cNvSpPr txBox="1"/>
          <p:nvPr/>
        </p:nvSpPr>
        <p:spPr>
          <a:xfrm>
            <a:off x="3657600" y="2651760"/>
            <a:ext cx="1828800" cy="320040"/>
          </a:xfrm>
          <a:prstGeom prst="rect">
            <a:avLst/>
          </a:prstGeom>
          <a:noFill/>
        </p:spPr>
        <p:txBody>
          <a:bodyPr wrap="square" anchor="t" lIns="0" rIns="0" tIns="0" bIns="0">
            <a:spAutoFit/>
          </a:bodyPr>
          <a:lstStyle/>
          <a:p>
            <a:pPr algn="r">
              <a:lnSpc>
                <a:spcPct val="115000"/>
              </a:lnSpc>
              <a:spcAft>
                <a:spcPts val="400"/>
              </a:spcAft>
            </a:pPr>
            <a:r>
              <a:rPr sz="1700" b="1">
                <a:solidFill>
                  <a:srgbClr val="E6EDF7"/>
                </a:solidFill>
                <a:latin typeface="Segoe UI"/>
              </a:rPr>
              <a:t>9,647</a:t>
            </a:r>
          </a:p>
        </p:txBody>
      </p:sp>
      <p:sp>
        <p:nvSpPr>
          <p:cNvPr id="11" name="TextBox 10"/>
          <p:cNvSpPr txBox="1"/>
          <p:nvPr/>
        </p:nvSpPr>
        <p:spPr>
          <a:xfrm>
            <a:off x="914400" y="3127248"/>
            <a:ext cx="2743200" cy="320040"/>
          </a:xfrm>
          <a:prstGeom prst="rect">
            <a:avLst/>
          </a:prstGeom>
          <a:noFill/>
        </p:spPr>
        <p:txBody>
          <a:bodyPr wrap="square" anchor="t" lIns="0" rIns="0" tIns="0" bIns="0">
            <a:spAutoFit/>
          </a:bodyPr>
          <a:lstStyle/>
          <a:p>
            <a:pPr algn="l">
              <a:lnSpc>
                <a:spcPct val="115000"/>
              </a:lnSpc>
              <a:spcAft>
                <a:spcPts val="400"/>
              </a:spcAft>
            </a:pPr>
            <a:r>
              <a:rPr sz="1400" b="0">
                <a:solidFill>
                  <a:srgbClr val="8FA3C0"/>
                </a:solidFill>
                <a:latin typeface="Segoe UI"/>
              </a:rPr>
              <a:t>True positives</a:t>
            </a:r>
          </a:p>
        </p:txBody>
      </p:sp>
      <p:sp>
        <p:nvSpPr>
          <p:cNvPr id="12" name="TextBox 11"/>
          <p:cNvSpPr txBox="1"/>
          <p:nvPr/>
        </p:nvSpPr>
        <p:spPr>
          <a:xfrm>
            <a:off x="3657600" y="3127248"/>
            <a:ext cx="1828800" cy="320040"/>
          </a:xfrm>
          <a:prstGeom prst="rect">
            <a:avLst/>
          </a:prstGeom>
          <a:noFill/>
        </p:spPr>
        <p:txBody>
          <a:bodyPr wrap="square" anchor="t" lIns="0" rIns="0" tIns="0" bIns="0">
            <a:spAutoFit/>
          </a:bodyPr>
          <a:lstStyle/>
          <a:p>
            <a:pPr algn="r">
              <a:lnSpc>
                <a:spcPct val="115000"/>
              </a:lnSpc>
              <a:spcAft>
                <a:spcPts val="400"/>
              </a:spcAft>
            </a:pPr>
            <a:r>
              <a:rPr sz="1700" b="1">
                <a:solidFill>
                  <a:srgbClr val="E6EDF7"/>
                </a:solidFill>
                <a:latin typeface="Segoe UI"/>
              </a:rPr>
              <a:t>128</a:t>
            </a:r>
          </a:p>
        </p:txBody>
      </p:sp>
      <p:sp>
        <p:nvSpPr>
          <p:cNvPr id="13" name="TextBox 12"/>
          <p:cNvSpPr txBox="1"/>
          <p:nvPr/>
        </p:nvSpPr>
        <p:spPr>
          <a:xfrm>
            <a:off x="914400" y="3602736"/>
            <a:ext cx="2743200" cy="320040"/>
          </a:xfrm>
          <a:prstGeom prst="rect">
            <a:avLst/>
          </a:prstGeom>
          <a:noFill/>
        </p:spPr>
        <p:txBody>
          <a:bodyPr wrap="square" anchor="t" lIns="0" rIns="0" tIns="0" bIns="0">
            <a:spAutoFit/>
          </a:bodyPr>
          <a:lstStyle/>
          <a:p>
            <a:pPr algn="l">
              <a:lnSpc>
                <a:spcPct val="115000"/>
              </a:lnSpc>
              <a:spcAft>
                <a:spcPts val="400"/>
              </a:spcAft>
            </a:pPr>
            <a:r>
              <a:rPr sz="1400" b="0">
                <a:solidFill>
                  <a:srgbClr val="8FA3C0"/>
                </a:solidFill>
                <a:latin typeface="Segoe UI"/>
              </a:rPr>
              <a:t>False positives</a:t>
            </a:r>
          </a:p>
        </p:txBody>
      </p:sp>
      <p:sp>
        <p:nvSpPr>
          <p:cNvPr id="14" name="TextBox 13"/>
          <p:cNvSpPr txBox="1"/>
          <p:nvPr/>
        </p:nvSpPr>
        <p:spPr>
          <a:xfrm>
            <a:off x="3657600" y="3602736"/>
            <a:ext cx="1828800" cy="320040"/>
          </a:xfrm>
          <a:prstGeom prst="rect">
            <a:avLst/>
          </a:prstGeom>
          <a:noFill/>
        </p:spPr>
        <p:txBody>
          <a:bodyPr wrap="square" anchor="t" lIns="0" rIns="0" tIns="0" bIns="0">
            <a:spAutoFit/>
          </a:bodyPr>
          <a:lstStyle/>
          <a:p>
            <a:pPr algn="r">
              <a:lnSpc>
                <a:spcPct val="115000"/>
              </a:lnSpc>
              <a:spcAft>
                <a:spcPts val="400"/>
              </a:spcAft>
            </a:pPr>
            <a:r>
              <a:rPr sz="1700" b="1">
                <a:solidFill>
                  <a:srgbClr val="FF4D5E"/>
                </a:solidFill>
                <a:latin typeface="Segoe UI"/>
              </a:rPr>
              <a:t>9,519</a:t>
            </a:r>
          </a:p>
        </p:txBody>
      </p:sp>
      <p:sp>
        <p:nvSpPr>
          <p:cNvPr id="15" name="TextBox 14"/>
          <p:cNvSpPr txBox="1"/>
          <p:nvPr/>
        </p:nvSpPr>
        <p:spPr>
          <a:xfrm>
            <a:off x="914400" y="4078224"/>
            <a:ext cx="2743200" cy="320040"/>
          </a:xfrm>
          <a:prstGeom prst="rect">
            <a:avLst/>
          </a:prstGeom>
          <a:noFill/>
        </p:spPr>
        <p:txBody>
          <a:bodyPr wrap="square" anchor="t" lIns="0" rIns="0" tIns="0" bIns="0">
            <a:spAutoFit/>
          </a:bodyPr>
          <a:lstStyle/>
          <a:p>
            <a:pPr algn="l">
              <a:lnSpc>
                <a:spcPct val="115000"/>
              </a:lnSpc>
              <a:spcAft>
                <a:spcPts val="400"/>
              </a:spcAft>
            </a:pPr>
            <a:r>
              <a:rPr sz="1400" b="0">
                <a:solidFill>
                  <a:srgbClr val="8FA3C0"/>
                </a:solidFill>
                <a:latin typeface="Segoe UI"/>
              </a:rPr>
              <a:t>Precision</a:t>
            </a:r>
          </a:p>
        </p:txBody>
      </p:sp>
      <p:sp>
        <p:nvSpPr>
          <p:cNvPr id="16" name="TextBox 15"/>
          <p:cNvSpPr txBox="1"/>
          <p:nvPr/>
        </p:nvSpPr>
        <p:spPr>
          <a:xfrm>
            <a:off x="3657600" y="4078224"/>
            <a:ext cx="1828800" cy="320040"/>
          </a:xfrm>
          <a:prstGeom prst="rect">
            <a:avLst/>
          </a:prstGeom>
          <a:noFill/>
        </p:spPr>
        <p:txBody>
          <a:bodyPr wrap="square" anchor="t" lIns="0" rIns="0" tIns="0" bIns="0">
            <a:spAutoFit/>
          </a:bodyPr>
          <a:lstStyle/>
          <a:p>
            <a:pPr algn="r">
              <a:lnSpc>
                <a:spcPct val="115000"/>
              </a:lnSpc>
              <a:spcAft>
                <a:spcPts val="400"/>
              </a:spcAft>
            </a:pPr>
            <a:r>
              <a:rPr sz="1700" b="1">
                <a:solidFill>
                  <a:srgbClr val="FF4D5E"/>
                </a:solidFill>
                <a:latin typeface="Segoe UI"/>
              </a:rPr>
              <a:t>1.33%</a:t>
            </a:r>
          </a:p>
        </p:txBody>
      </p:sp>
      <p:sp>
        <p:nvSpPr>
          <p:cNvPr id="17" name="Right Arrow 16"/>
          <p:cNvSpPr/>
          <p:nvPr/>
        </p:nvSpPr>
        <p:spPr>
          <a:xfrm>
            <a:off x="5897880" y="3154680"/>
            <a:ext cx="502920" cy="365760"/>
          </a:xfrm>
          <a:prstGeom prst="rightArrow">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37960" y="1965960"/>
            <a:ext cx="4983480" cy="2834640"/>
          </a:xfrm>
          <a:prstGeom prst="roundRect">
            <a:avLst>
              <a:gd name="adj" fmla="val 4000"/>
            </a:avLst>
          </a:prstGeom>
          <a:solidFill>
            <a:srgbClr val="182031"/>
          </a:solidFill>
          <a:ln w="19050">
            <a:solidFill>
              <a:srgbClr val="2EC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80" y="2194560"/>
            <a:ext cx="4480560" cy="320040"/>
          </a:xfrm>
          <a:prstGeom prst="rect">
            <a:avLst/>
          </a:prstGeom>
          <a:noFill/>
        </p:spPr>
        <p:txBody>
          <a:bodyPr wrap="square" anchor="t" lIns="0" rIns="0" tIns="0" bIns="0">
            <a:spAutoFit/>
          </a:bodyPr>
          <a:lstStyle/>
          <a:p>
            <a:pPr algn="l">
              <a:lnSpc>
                <a:spcPct val="115000"/>
              </a:lnSpc>
              <a:spcAft>
                <a:spcPts val="400"/>
              </a:spcAft>
            </a:pPr>
            <a:r>
              <a:rPr sz="1100" b="1">
                <a:solidFill>
                  <a:srgbClr val="2ECC9B"/>
                </a:solidFill>
                <a:latin typeface="Segoe UI"/>
              </a:rPr>
              <a:t>BODHI  ·  SAME RECALL</a:t>
            </a:r>
          </a:p>
        </p:txBody>
      </p:sp>
      <p:sp>
        <p:nvSpPr>
          <p:cNvPr id="20" name="TextBox 19"/>
          <p:cNvSpPr txBox="1"/>
          <p:nvPr/>
        </p:nvSpPr>
        <p:spPr>
          <a:xfrm>
            <a:off x="6812280" y="2651760"/>
            <a:ext cx="2743200" cy="320040"/>
          </a:xfrm>
          <a:prstGeom prst="rect">
            <a:avLst/>
          </a:prstGeom>
          <a:noFill/>
        </p:spPr>
        <p:txBody>
          <a:bodyPr wrap="square" anchor="t" lIns="0" rIns="0" tIns="0" bIns="0">
            <a:spAutoFit/>
          </a:bodyPr>
          <a:lstStyle/>
          <a:p>
            <a:pPr algn="l">
              <a:lnSpc>
                <a:spcPct val="115000"/>
              </a:lnSpc>
              <a:spcAft>
                <a:spcPts val="400"/>
              </a:spcAft>
            </a:pPr>
            <a:r>
              <a:rPr sz="1400" b="0">
                <a:solidFill>
                  <a:srgbClr val="8FA3C0"/>
                </a:solidFill>
                <a:latin typeface="Segoe UI"/>
              </a:rPr>
              <a:t>Alerts raised</a:t>
            </a:r>
          </a:p>
        </p:txBody>
      </p:sp>
      <p:sp>
        <p:nvSpPr>
          <p:cNvPr id="21" name="TextBox 20"/>
          <p:cNvSpPr txBox="1"/>
          <p:nvPr/>
        </p:nvSpPr>
        <p:spPr>
          <a:xfrm>
            <a:off x="9418320" y="2651760"/>
            <a:ext cx="1828800" cy="320040"/>
          </a:xfrm>
          <a:prstGeom prst="rect">
            <a:avLst/>
          </a:prstGeom>
          <a:noFill/>
        </p:spPr>
        <p:txBody>
          <a:bodyPr wrap="square" anchor="t" lIns="0" rIns="0" tIns="0" bIns="0">
            <a:spAutoFit/>
          </a:bodyPr>
          <a:lstStyle/>
          <a:p>
            <a:pPr algn="r">
              <a:lnSpc>
                <a:spcPct val="115000"/>
              </a:lnSpc>
              <a:spcAft>
                <a:spcPts val="400"/>
              </a:spcAft>
            </a:pPr>
            <a:r>
              <a:rPr sz="1700" b="1">
                <a:solidFill>
                  <a:srgbClr val="2ECC9B"/>
                </a:solidFill>
                <a:latin typeface="Segoe UI"/>
              </a:rPr>
              <a:t>129</a:t>
            </a:r>
          </a:p>
        </p:txBody>
      </p:sp>
      <p:sp>
        <p:nvSpPr>
          <p:cNvPr id="22" name="TextBox 21"/>
          <p:cNvSpPr txBox="1"/>
          <p:nvPr/>
        </p:nvSpPr>
        <p:spPr>
          <a:xfrm>
            <a:off x="6812280" y="3127248"/>
            <a:ext cx="2743200" cy="320040"/>
          </a:xfrm>
          <a:prstGeom prst="rect">
            <a:avLst/>
          </a:prstGeom>
          <a:noFill/>
        </p:spPr>
        <p:txBody>
          <a:bodyPr wrap="square" anchor="t" lIns="0" rIns="0" tIns="0" bIns="0">
            <a:spAutoFit/>
          </a:bodyPr>
          <a:lstStyle/>
          <a:p>
            <a:pPr algn="l">
              <a:lnSpc>
                <a:spcPct val="115000"/>
              </a:lnSpc>
              <a:spcAft>
                <a:spcPts val="400"/>
              </a:spcAft>
            </a:pPr>
            <a:r>
              <a:rPr sz="1400" b="0">
                <a:solidFill>
                  <a:srgbClr val="8FA3C0"/>
                </a:solidFill>
                <a:latin typeface="Segoe UI"/>
              </a:rPr>
              <a:t>True positives</a:t>
            </a:r>
          </a:p>
        </p:txBody>
      </p:sp>
      <p:sp>
        <p:nvSpPr>
          <p:cNvPr id="23" name="TextBox 22"/>
          <p:cNvSpPr txBox="1"/>
          <p:nvPr/>
        </p:nvSpPr>
        <p:spPr>
          <a:xfrm>
            <a:off x="9418320" y="3127248"/>
            <a:ext cx="1828800" cy="320040"/>
          </a:xfrm>
          <a:prstGeom prst="rect">
            <a:avLst/>
          </a:prstGeom>
          <a:noFill/>
        </p:spPr>
        <p:txBody>
          <a:bodyPr wrap="square" anchor="t" lIns="0" rIns="0" tIns="0" bIns="0">
            <a:spAutoFit/>
          </a:bodyPr>
          <a:lstStyle/>
          <a:p>
            <a:pPr algn="r">
              <a:lnSpc>
                <a:spcPct val="115000"/>
              </a:lnSpc>
              <a:spcAft>
                <a:spcPts val="400"/>
              </a:spcAft>
            </a:pPr>
            <a:r>
              <a:rPr sz="1700" b="1">
                <a:solidFill>
                  <a:srgbClr val="2ECC9B"/>
                </a:solidFill>
                <a:latin typeface="Segoe UI"/>
              </a:rPr>
              <a:t>128</a:t>
            </a:r>
          </a:p>
        </p:txBody>
      </p:sp>
      <p:sp>
        <p:nvSpPr>
          <p:cNvPr id="24" name="TextBox 23"/>
          <p:cNvSpPr txBox="1"/>
          <p:nvPr/>
        </p:nvSpPr>
        <p:spPr>
          <a:xfrm>
            <a:off x="6812280" y="3602736"/>
            <a:ext cx="2743200" cy="320040"/>
          </a:xfrm>
          <a:prstGeom prst="rect">
            <a:avLst/>
          </a:prstGeom>
          <a:noFill/>
        </p:spPr>
        <p:txBody>
          <a:bodyPr wrap="square" anchor="t" lIns="0" rIns="0" tIns="0" bIns="0">
            <a:spAutoFit/>
          </a:bodyPr>
          <a:lstStyle/>
          <a:p>
            <a:pPr algn="l">
              <a:lnSpc>
                <a:spcPct val="115000"/>
              </a:lnSpc>
              <a:spcAft>
                <a:spcPts val="400"/>
              </a:spcAft>
            </a:pPr>
            <a:r>
              <a:rPr sz="1400" b="0">
                <a:solidFill>
                  <a:srgbClr val="8FA3C0"/>
                </a:solidFill>
                <a:latin typeface="Segoe UI"/>
              </a:rPr>
              <a:t>False positives</a:t>
            </a:r>
          </a:p>
        </p:txBody>
      </p:sp>
      <p:sp>
        <p:nvSpPr>
          <p:cNvPr id="25" name="TextBox 24"/>
          <p:cNvSpPr txBox="1"/>
          <p:nvPr/>
        </p:nvSpPr>
        <p:spPr>
          <a:xfrm>
            <a:off x="9418320" y="3602736"/>
            <a:ext cx="1828800" cy="320040"/>
          </a:xfrm>
          <a:prstGeom prst="rect">
            <a:avLst/>
          </a:prstGeom>
          <a:noFill/>
        </p:spPr>
        <p:txBody>
          <a:bodyPr wrap="square" anchor="t" lIns="0" rIns="0" tIns="0" bIns="0">
            <a:spAutoFit/>
          </a:bodyPr>
          <a:lstStyle/>
          <a:p>
            <a:pPr algn="r">
              <a:lnSpc>
                <a:spcPct val="115000"/>
              </a:lnSpc>
              <a:spcAft>
                <a:spcPts val="400"/>
              </a:spcAft>
            </a:pPr>
            <a:r>
              <a:rPr sz="1700" b="1">
                <a:solidFill>
                  <a:srgbClr val="2ECC9B"/>
                </a:solidFill>
                <a:latin typeface="Segoe UI"/>
              </a:rPr>
              <a:t>1</a:t>
            </a:r>
          </a:p>
        </p:txBody>
      </p:sp>
      <p:sp>
        <p:nvSpPr>
          <p:cNvPr id="26" name="TextBox 25"/>
          <p:cNvSpPr txBox="1"/>
          <p:nvPr/>
        </p:nvSpPr>
        <p:spPr>
          <a:xfrm>
            <a:off x="6812280" y="4078224"/>
            <a:ext cx="2743200" cy="320040"/>
          </a:xfrm>
          <a:prstGeom prst="rect">
            <a:avLst/>
          </a:prstGeom>
          <a:noFill/>
        </p:spPr>
        <p:txBody>
          <a:bodyPr wrap="square" anchor="t" lIns="0" rIns="0" tIns="0" bIns="0">
            <a:spAutoFit/>
          </a:bodyPr>
          <a:lstStyle/>
          <a:p>
            <a:pPr algn="l">
              <a:lnSpc>
                <a:spcPct val="115000"/>
              </a:lnSpc>
              <a:spcAft>
                <a:spcPts val="400"/>
              </a:spcAft>
            </a:pPr>
            <a:r>
              <a:rPr sz="1400" b="0">
                <a:solidFill>
                  <a:srgbClr val="8FA3C0"/>
                </a:solidFill>
                <a:latin typeface="Segoe UI"/>
              </a:rPr>
              <a:t>Precision</a:t>
            </a:r>
          </a:p>
        </p:txBody>
      </p:sp>
      <p:sp>
        <p:nvSpPr>
          <p:cNvPr id="27" name="TextBox 26"/>
          <p:cNvSpPr txBox="1"/>
          <p:nvPr/>
        </p:nvSpPr>
        <p:spPr>
          <a:xfrm>
            <a:off x="9418320" y="4078224"/>
            <a:ext cx="1828800" cy="320040"/>
          </a:xfrm>
          <a:prstGeom prst="rect">
            <a:avLst/>
          </a:prstGeom>
          <a:noFill/>
        </p:spPr>
        <p:txBody>
          <a:bodyPr wrap="square" anchor="t" lIns="0" rIns="0" tIns="0" bIns="0">
            <a:spAutoFit/>
          </a:bodyPr>
          <a:lstStyle/>
          <a:p>
            <a:pPr algn="r">
              <a:lnSpc>
                <a:spcPct val="115000"/>
              </a:lnSpc>
              <a:spcAft>
                <a:spcPts val="400"/>
              </a:spcAft>
            </a:pPr>
            <a:r>
              <a:rPr sz="1700" b="1">
                <a:solidFill>
                  <a:srgbClr val="2ECC9B"/>
                </a:solidFill>
                <a:latin typeface="Segoe UI"/>
              </a:rPr>
              <a:t>99.22%</a:t>
            </a:r>
          </a:p>
        </p:txBody>
      </p:sp>
      <p:sp>
        <p:nvSpPr>
          <p:cNvPr id="28" name="Rounded Rectangle 27"/>
          <p:cNvSpPr/>
          <p:nvPr/>
        </p:nvSpPr>
        <p:spPr>
          <a:xfrm>
            <a:off x="640080" y="5166360"/>
            <a:ext cx="10881360" cy="960120"/>
          </a:xfrm>
          <a:prstGeom prst="roundRect">
            <a:avLst>
              <a:gd name="adj" fmla="val 4000"/>
            </a:avLst>
          </a:prstGeom>
          <a:solidFill>
            <a:srgbClr val="0F2A22"/>
          </a:solidFill>
          <a:ln w="9525">
            <a:solidFill>
              <a:srgbClr val="2EC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49240"/>
            <a:ext cx="10332720" cy="640080"/>
          </a:xfrm>
          <a:prstGeom prst="rect">
            <a:avLst/>
          </a:prstGeom>
          <a:noFill/>
        </p:spPr>
        <p:txBody>
          <a:bodyPr wrap="square" anchor="t" lIns="0" rIns="0" tIns="0" bIns="0">
            <a:spAutoFit/>
          </a:bodyPr>
          <a:lstStyle/>
          <a:p>
            <a:pPr algn="l">
              <a:lnSpc>
                <a:spcPct val="125000"/>
              </a:lnSpc>
              <a:spcAft>
                <a:spcPts val="400"/>
              </a:spcAft>
            </a:pPr>
            <a:r>
              <a:rPr sz="1600" b="1">
                <a:solidFill>
                  <a:srgbClr val="E6EDF7"/>
                </a:solidFill>
                <a:latin typeface="Segoe UI"/>
              </a:rPr>
              <a:t>99.99% of false positives eliminated at unchanged recall — a 75× precision uplift. The analyst clears the same true positives while opening 129 cases instead of 9,647.</a:t>
            </a:r>
          </a:p>
        </p:txBody>
      </p:sp>
      <p:sp>
        <p:nvSpPr>
          <p:cNvPr id="30" name="TextBox 29"/>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31" name="TextBox 30"/>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2"/>
              </a:rPr>
              <a:t>github.com/archirajpoot/Bodhi_Mule_Hunter</a:t>
            </a:r>
            <a:r>
              <a:rPr sz="950">
                <a:solidFill>
                  <a:srgbClr val="61708A"/>
                </a:solidFill>
                <a:latin typeface="Consolas"/>
              </a:rPr>
              <a:t>   ·   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WHY THAT NUMBER IS CREDIBLE</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We planted the accounts designed to break it</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Any model scores ~1.0 AUC on naive synthetic fraud data. So the simulated bank is stocked with legitimate accounts that are structurally indistinguishable from mules.</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4114800" cy="274320"/>
          </a:xfrm>
          <a:prstGeom prst="rect">
            <a:avLst/>
          </a:prstGeom>
          <a:noFill/>
        </p:spPr>
        <p:txBody>
          <a:bodyPr wrap="square" anchor="t" lIns="0" rIns="0" tIns="0" bIns="0">
            <a:spAutoFit/>
          </a:bodyPr>
          <a:lstStyle/>
          <a:p>
            <a:pPr algn="l">
              <a:lnSpc>
                <a:spcPct val="115000"/>
              </a:lnSpc>
              <a:spcAft>
                <a:spcPts val="400"/>
              </a:spcAft>
            </a:pPr>
            <a:r>
              <a:rPr sz="950" b="1">
                <a:solidFill>
                  <a:srgbClr val="61708A"/>
                </a:solidFill>
                <a:latin typeface="Segoe UI"/>
              </a:rPr>
              <a:t>LEGITIMATE POPULATION</a:t>
            </a:r>
          </a:p>
        </p:txBody>
      </p:sp>
      <p:sp>
        <p:nvSpPr>
          <p:cNvPr id="8" name="TextBox 7"/>
          <p:cNvSpPr txBox="1"/>
          <p:nvPr/>
        </p:nvSpPr>
        <p:spPr>
          <a:xfrm>
            <a:off x="4754880" y="1920240"/>
            <a:ext cx="1097280" cy="274320"/>
          </a:xfrm>
          <a:prstGeom prst="rect">
            <a:avLst/>
          </a:prstGeom>
          <a:noFill/>
        </p:spPr>
        <p:txBody>
          <a:bodyPr wrap="square" anchor="t" lIns="0" rIns="0" tIns="0" bIns="0">
            <a:spAutoFit/>
          </a:bodyPr>
          <a:lstStyle/>
          <a:p>
            <a:pPr algn="r">
              <a:lnSpc>
                <a:spcPct val="115000"/>
              </a:lnSpc>
              <a:spcAft>
                <a:spcPts val="400"/>
              </a:spcAft>
            </a:pPr>
            <a:r>
              <a:rPr sz="950" b="1">
                <a:solidFill>
                  <a:srgbClr val="61708A"/>
                </a:solidFill>
                <a:latin typeface="Segoe UI"/>
              </a:rPr>
              <a:t>COUNT</a:t>
            </a:r>
          </a:p>
        </p:txBody>
      </p:sp>
      <p:sp>
        <p:nvSpPr>
          <p:cNvPr id="9" name="TextBox 8"/>
          <p:cNvSpPr txBox="1"/>
          <p:nvPr/>
        </p:nvSpPr>
        <p:spPr>
          <a:xfrm>
            <a:off x="5852160" y="1920240"/>
            <a:ext cx="1463040" cy="274320"/>
          </a:xfrm>
          <a:prstGeom prst="rect">
            <a:avLst/>
          </a:prstGeom>
          <a:noFill/>
        </p:spPr>
        <p:txBody>
          <a:bodyPr wrap="square" anchor="t" lIns="0" rIns="0" tIns="0" bIns="0">
            <a:spAutoFit/>
          </a:bodyPr>
          <a:lstStyle/>
          <a:p>
            <a:pPr algn="r">
              <a:lnSpc>
                <a:spcPct val="115000"/>
              </a:lnSpc>
              <a:spcAft>
                <a:spcPts val="400"/>
              </a:spcAft>
            </a:pPr>
            <a:r>
              <a:rPr sz="950" b="1">
                <a:solidFill>
                  <a:srgbClr val="61708A"/>
                </a:solidFill>
                <a:latin typeface="Segoe UI"/>
              </a:rPr>
              <a:t>FALSE-POSITIVE RATE</a:t>
            </a:r>
          </a:p>
        </p:txBody>
      </p:sp>
      <p:sp>
        <p:nvSpPr>
          <p:cNvPr id="10" name="Rectangle 9"/>
          <p:cNvSpPr/>
          <p:nvPr/>
        </p:nvSpPr>
        <p:spPr>
          <a:xfrm>
            <a:off x="640080" y="2176272"/>
            <a:ext cx="6675120" cy="12700"/>
          </a:xfrm>
          <a:prstGeom prst="rect">
            <a:avLst/>
          </a:prstGeom>
          <a:solidFill>
            <a:srgbClr val="23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286000"/>
            <a:ext cx="4114800" cy="420624"/>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Business Correspondent (Bank Mitra) agents</a:t>
            </a:r>
          </a:p>
        </p:txBody>
      </p:sp>
      <p:sp>
        <p:nvSpPr>
          <p:cNvPr id="12" name="TextBox 11"/>
          <p:cNvSpPr txBox="1"/>
          <p:nvPr/>
        </p:nvSpPr>
        <p:spPr>
          <a:xfrm>
            <a:off x="4754880" y="2286000"/>
            <a:ext cx="1097280" cy="420624"/>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302</a:t>
            </a:r>
          </a:p>
        </p:txBody>
      </p:sp>
      <p:sp>
        <p:nvSpPr>
          <p:cNvPr id="13" name="TextBox 12"/>
          <p:cNvSpPr txBox="1"/>
          <p:nvPr/>
        </p:nvSpPr>
        <p:spPr>
          <a:xfrm>
            <a:off x="5852160" y="2286000"/>
            <a:ext cx="1463040" cy="420624"/>
          </a:xfrm>
          <a:prstGeom prst="rect">
            <a:avLst/>
          </a:prstGeom>
          <a:noFill/>
        </p:spPr>
        <p:txBody>
          <a:bodyPr wrap="square" anchor="t" lIns="0" rIns="0" tIns="0" bIns="0">
            <a:spAutoFit/>
          </a:bodyPr>
          <a:lstStyle/>
          <a:p>
            <a:pPr algn="r">
              <a:lnSpc>
                <a:spcPct val="115000"/>
              </a:lnSpc>
              <a:spcAft>
                <a:spcPts val="400"/>
              </a:spcAft>
            </a:pPr>
            <a:r>
              <a:rPr sz="1200" b="1">
                <a:solidFill>
                  <a:srgbClr val="2ECC9B"/>
                </a:solidFill>
                <a:latin typeface="Segoe UI"/>
              </a:rPr>
              <a:t>0.33%</a:t>
            </a:r>
          </a:p>
        </p:txBody>
      </p:sp>
      <p:sp>
        <p:nvSpPr>
          <p:cNvPr id="14" name="TextBox 13"/>
          <p:cNvSpPr txBox="1"/>
          <p:nvPr/>
        </p:nvSpPr>
        <p:spPr>
          <a:xfrm>
            <a:off x="640080" y="2706624"/>
            <a:ext cx="4114800" cy="420624"/>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Community collectors (chit fund, tuition)</a:t>
            </a:r>
          </a:p>
        </p:txBody>
      </p:sp>
      <p:sp>
        <p:nvSpPr>
          <p:cNvPr id="15" name="TextBox 14"/>
          <p:cNvSpPr txBox="1"/>
          <p:nvPr/>
        </p:nvSpPr>
        <p:spPr>
          <a:xfrm>
            <a:off x="4754880" y="2706624"/>
            <a:ext cx="1097280" cy="420624"/>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107</a:t>
            </a:r>
          </a:p>
        </p:txBody>
      </p:sp>
      <p:sp>
        <p:nvSpPr>
          <p:cNvPr id="16" name="TextBox 15"/>
          <p:cNvSpPr txBox="1"/>
          <p:nvPr/>
        </p:nvSpPr>
        <p:spPr>
          <a:xfrm>
            <a:off x="5852160" y="2706624"/>
            <a:ext cx="1463040" cy="420624"/>
          </a:xfrm>
          <a:prstGeom prst="rect">
            <a:avLst/>
          </a:prstGeom>
          <a:noFill/>
        </p:spPr>
        <p:txBody>
          <a:bodyPr wrap="square" anchor="t" lIns="0" rIns="0" tIns="0" bIns="0">
            <a:spAutoFit/>
          </a:bodyPr>
          <a:lstStyle/>
          <a:p>
            <a:pPr algn="r">
              <a:lnSpc>
                <a:spcPct val="115000"/>
              </a:lnSpc>
              <a:spcAft>
                <a:spcPts val="400"/>
              </a:spcAft>
            </a:pPr>
            <a:r>
              <a:rPr sz="1200" b="1">
                <a:solidFill>
                  <a:srgbClr val="F2C14E"/>
                </a:solidFill>
                <a:latin typeface="Segoe UI"/>
              </a:rPr>
              <a:t>2.80%</a:t>
            </a:r>
          </a:p>
        </p:txBody>
      </p:sp>
      <p:sp>
        <p:nvSpPr>
          <p:cNvPr id="17" name="TextBox 16"/>
          <p:cNvSpPr txBox="1"/>
          <p:nvPr/>
        </p:nvSpPr>
        <p:spPr>
          <a:xfrm>
            <a:off x="640080" y="3127248"/>
            <a:ext cx="4114800" cy="420624"/>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Small businesses with heavy fan-in</a:t>
            </a:r>
          </a:p>
        </p:txBody>
      </p:sp>
      <p:sp>
        <p:nvSpPr>
          <p:cNvPr id="18" name="TextBox 17"/>
          <p:cNvSpPr txBox="1"/>
          <p:nvPr/>
        </p:nvSpPr>
        <p:spPr>
          <a:xfrm>
            <a:off x="4754880" y="3127248"/>
            <a:ext cx="1097280" cy="420624"/>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168</a:t>
            </a:r>
          </a:p>
        </p:txBody>
      </p:sp>
      <p:sp>
        <p:nvSpPr>
          <p:cNvPr id="19" name="TextBox 18"/>
          <p:cNvSpPr txBox="1"/>
          <p:nvPr/>
        </p:nvSpPr>
        <p:spPr>
          <a:xfrm>
            <a:off x="5852160" y="3127248"/>
            <a:ext cx="1463040" cy="420624"/>
          </a:xfrm>
          <a:prstGeom prst="rect">
            <a:avLst/>
          </a:prstGeom>
          <a:noFill/>
        </p:spPr>
        <p:txBody>
          <a:bodyPr wrap="square" anchor="t" lIns="0" rIns="0" tIns="0" bIns="0">
            <a:spAutoFit/>
          </a:bodyPr>
          <a:lstStyle/>
          <a:p>
            <a:pPr algn="r">
              <a:lnSpc>
                <a:spcPct val="115000"/>
              </a:lnSpc>
              <a:spcAft>
                <a:spcPts val="400"/>
              </a:spcAft>
            </a:pPr>
            <a:r>
              <a:rPr sz="1200" b="1">
                <a:solidFill>
                  <a:srgbClr val="2ECC9B"/>
                </a:solidFill>
                <a:latin typeface="Segoe UI"/>
              </a:rPr>
              <a:t>0.00%</a:t>
            </a:r>
          </a:p>
        </p:txBody>
      </p:sp>
      <p:sp>
        <p:nvSpPr>
          <p:cNvPr id="20" name="TextBox 19"/>
          <p:cNvSpPr txBox="1"/>
          <p:nvPr/>
        </p:nvSpPr>
        <p:spPr>
          <a:xfrm>
            <a:off x="640080" y="3547872"/>
            <a:ext cx="4114800" cy="420624"/>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Genuine dormancy reactivation</a:t>
            </a:r>
          </a:p>
        </p:txBody>
      </p:sp>
      <p:sp>
        <p:nvSpPr>
          <p:cNvPr id="21" name="TextBox 20"/>
          <p:cNvSpPr txBox="1"/>
          <p:nvPr/>
        </p:nvSpPr>
        <p:spPr>
          <a:xfrm>
            <a:off x="4754880" y="3547872"/>
            <a:ext cx="1097280" cy="420624"/>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168</a:t>
            </a:r>
          </a:p>
        </p:txBody>
      </p:sp>
      <p:sp>
        <p:nvSpPr>
          <p:cNvPr id="22" name="TextBox 21"/>
          <p:cNvSpPr txBox="1"/>
          <p:nvPr/>
        </p:nvSpPr>
        <p:spPr>
          <a:xfrm>
            <a:off x="5852160" y="3547872"/>
            <a:ext cx="1463040" cy="420624"/>
          </a:xfrm>
          <a:prstGeom prst="rect">
            <a:avLst/>
          </a:prstGeom>
          <a:noFill/>
        </p:spPr>
        <p:txBody>
          <a:bodyPr wrap="square" anchor="t" lIns="0" rIns="0" tIns="0" bIns="0">
            <a:spAutoFit/>
          </a:bodyPr>
          <a:lstStyle/>
          <a:p>
            <a:pPr algn="r">
              <a:lnSpc>
                <a:spcPct val="115000"/>
              </a:lnSpc>
              <a:spcAft>
                <a:spcPts val="400"/>
              </a:spcAft>
            </a:pPr>
            <a:r>
              <a:rPr sz="1200" b="1">
                <a:solidFill>
                  <a:srgbClr val="F2C14E"/>
                </a:solidFill>
                <a:latin typeface="Segoe UI"/>
              </a:rPr>
              <a:t>3.57%</a:t>
            </a:r>
          </a:p>
        </p:txBody>
      </p:sp>
      <p:sp>
        <p:nvSpPr>
          <p:cNvPr id="23" name="TextBox 22"/>
          <p:cNvSpPr txBox="1"/>
          <p:nvPr/>
        </p:nvSpPr>
        <p:spPr>
          <a:xfrm>
            <a:off x="640080" y="3968496"/>
            <a:ext cx="4114800" cy="420624"/>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Ordinary retail</a:t>
            </a:r>
          </a:p>
        </p:txBody>
      </p:sp>
      <p:sp>
        <p:nvSpPr>
          <p:cNvPr id="24" name="TextBox 23"/>
          <p:cNvSpPr txBox="1"/>
          <p:nvPr/>
        </p:nvSpPr>
        <p:spPr>
          <a:xfrm>
            <a:off x="4754880" y="3968496"/>
            <a:ext cx="1097280" cy="420624"/>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10,504</a:t>
            </a:r>
          </a:p>
        </p:txBody>
      </p:sp>
      <p:sp>
        <p:nvSpPr>
          <p:cNvPr id="25" name="TextBox 24"/>
          <p:cNvSpPr txBox="1"/>
          <p:nvPr/>
        </p:nvSpPr>
        <p:spPr>
          <a:xfrm>
            <a:off x="5852160" y="3968496"/>
            <a:ext cx="1463040" cy="420624"/>
          </a:xfrm>
          <a:prstGeom prst="rect">
            <a:avLst/>
          </a:prstGeom>
          <a:noFill/>
        </p:spPr>
        <p:txBody>
          <a:bodyPr wrap="square" anchor="t" lIns="0" rIns="0" tIns="0" bIns="0">
            <a:spAutoFit/>
          </a:bodyPr>
          <a:lstStyle/>
          <a:p>
            <a:pPr algn="r">
              <a:lnSpc>
                <a:spcPct val="115000"/>
              </a:lnSpc>
              <a:spcAft>
                <a:spcPts val="400"/>
              </a:spcAft>
            </a:pPr>
            <a:r>
              <a:rPr sz="1200" b="1">
                <a:solidFill>
                  <a:srgbClr val="2ECC9B"/>
                </a:solidFill>
                <a:latin typeface="Segoe UI"/>
              </a:rPr>
              <a:t>0.77%</a:t>
            </a:r>
          </a:p>
        </p:txBody>
      </p:sp>
      <p:sp>
        <p:nvSpPr>
          <p:cNvPr id="26" name="Rounded Rectangle 25"/>
          <p:cNvSpPr/>
          <p:nvPr/>
        </p:nvSpPr>
        <p:spPr>
          <a:xfrm>
            <a:off x="7680960" y="1874520"/>
            <a:ext cx="3840480" cy="301752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79" y="2103120"/>
            <a:ext cx="3291840" cy="320040"/>
          </a:xfrm>
          <a:prstGeom prst="rect">
            <a:avLst/>
          </a:prstGeom>
          <a:noFill/>
        </p:spPr>
        <p:txBody>
          <a:bodyPr wrap="square" anchor="t" lIns="0" rIns="0" tIns="0" bIns="0">
            <a:spAutoFit/>
          </a:bodyPr>
          <a:lstStyle/>
          <a:p>
            <a:pPr algn="l">
              <a:lnSpc>
                <a:spcPct val="115000"/>
              </a:lnSpc>
              <a:spcAft>
                <a:spcPts val="400"/>
              </a:spcAft>
            </a:pPr>
            <a:r>
              <a:rPr sz="1000" b="1">
                <a:solidFill>
                  <a:srgbClr val="FF8C42"/>
                </a:solidFill>
                <a:latin typeface="Segoe UI"/>
              </a:rPr>
              <a:t>THE HARDEST DECOY</a:t>
            </a:r>
          </a:p>
        </p:txBody>
      </p:sp>
      <p:sp>
        <p:nvSpPr>
          <p:cNvPr id="28" name="TextBox 27"/>
          <p:cNvSpPr txBox="1"/>
          <p:nvPr/>
        </p:nvSpPr>
        <p:spPr>
          <a:xfrm>
            <a:off x="7955279" y="2468880"/>
            <a:ext cx="3291840" cy="2103120"/>
          </a:xfrm>
          <a:prstGeom prst="rect">
            <a:avLst/>
          </a:prstGeom>
          <a:noFill/>
        </p:spPr>
        <p:txBody>
          <a:bodyPr wrap="square" anchor="t" lIns="0" rIns="0" tIns="0" bIns="0">
            <a:spAutoFit/>
          </a:bodyPr>
          <a:lstStyle/>
          <a:p>
            <a:pPr algn="l">
              <a:lnSpc>
                <a:spcPct val="130000"/>
              </a:lnSpc>
              <a:spcAft>
                <a:spcPts val="400"/>
              </a:spcAft>
            </a:pPr>
            <a:r>
              <a:rPr sz="1300" b="0">
                <a:solidFill>
                  <a:srgbClr val="8FA3C0"/>
                </a:solidFill>
                <a:latin typeface="Segoe UI"/>
              </a:rPr>
              <a:t>A Business Correspondent legitimately operates 8–22 village accounts from one handheld and dispenses AePS cash all day.
That is the exact fingerprint of a device farm doing rapid cash-out — and the system does not fall for it.</a:t>
            </a:r>
          </a:p>
        </p:txBody>
      </p:sp>
      <p:sp>
        <p:nvSpPr>
          <p:cNvPr id="29" name="TextBox 28"/>
          <p:cNvSpPr txBox="1"/>
          <p:nvPr/>
        </p:nvSpPr>
        <p:spPr>
          <a:xfrm>
            <a:off x="640080" y="4937760"/>
            <a:ext cx="10972800" cy="274320"/>
          </a:xfrm>
          <a:prstGeom prst="rect">
            <a:avLst/>
          </a:prstGeom>
          <a:noFill/>
        </p:spPr>
        <p:txBody>
          <a:bodyPr wrap="square" anchor="t" lIns="0" rIns="0" tIns="0" bIns="0">
            <a:spAutoFit/>
          </a:bodyPr>
          <a:lstStyle/>
          <a:p>
            <a:pPr algn="l">
              <a:lnSpc>
                <a:spcPct val="115000"/>
              </a:lnSpc>
              <a:spcAft>
                <a:spcPts val="400"/>
              </a:spcAft>
            </a:pPr>
            <a:r>
              <a:rPr sz="1000" b="1">
                <a:solidFill>
                  <a:srgbClr val="61708A"/>
                </a:solidFill>
                <a:latin typeface="Segoe UI"/>
              </a:rPr>
              <a:t>OTHER GUARDS AGAINST FLATTERING OURSELVES</a:t>
            </a:r>
          </a:p>
        </p:txBody>
      </p:sp>
      <p:sp>
        <p:nvSpPr>
          <p:cNvPr id="30" name="TextBox 29"/>
          <p:cNvSpPr txBox="1"/>
          <p:nvPr/>
        </p:nvSpPr>
        <p:spPr>
          <a:xfrm>
            <a:off x="640080" y="5285232"/>
            <a:ext cx="2606040" cy="274320"/>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Four disjoint folds</a:t>
            </a:r>
          </a:p>
        </p:txBody>
      </p:sp>
      <p:sp>
        <p:nvSpPr>
          <p:cNvPr id="31" name="TextBox 30"/>
          <p:cNvSpPr txBox="1"/>
          <p:nvPr/>
        </p:nvSpPr>
        <p:spPr>
          <a:xfrm>
            <a:off x="640080" y="5559552"/>
            <a:ext cx="2606040" cy="548640"/>
          </a:xfrm>
          <a:prstGeom prst="rect">
            <a:avLst/>
          </a:prstGeom>
          <a:noFill/>
        </p:spPr>
        <p:txBody>
          <a:bodyPr wrap="square" anchor="t" lIns="0" rIns="0" tIns="0" bIns="0">
            <a:spAutoFit/>
          </a:bodyPr>
          <a:lstStyle/>
          <a:p>
            <a:pPr algn="l">
              <a:lnSpc>
                <a:spcPct val="120000"/>
              </a:lnSpc>
              <a:spcAft>
                <a:spcPts val="400"/>
              </a:spcAft>
            </a:pPr>
            <a:r>
              <a:rPr sz="1100" b="0">
                <a:solidFill>
                  <a:srgbClr val="8FA3C0"/>
                </a:solidFill>
                <a:latin typeface="Segoe UI"/>
              </a:rPr>
              <a:t>test touched exactly once</a:t>
            </a:r>
          </a:p>
        </p:txBody>
      </p:sp>
      <p:sp>
        <p:nvSpPr>
          <p:cNvPr id="32" name="TextBox 31"/>
          <p:cNvSpPr txBox="1"/>
          <p:nvPr/>
        </p:nvSpPr>
        <p:spPr>
          <a:xfrm>
            <a:off x="3383280" y="5285232"/>
            <a:ext cx="2606040" cy="274320"/>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Cross-fitted seed model</a:t>
            </a:r>
          </a:p>
        </p:txBody>
      </p:sp>
      <p:sp>
        <p:nvSpPr>
          <p:cNvPr id="33" name="TextBox 32"/>
          <p:cNvSpPr txBox="1"/>
          <p:nvPr/>
        </p:nvSpPr>
        <p:spPr>
          <a:xfrm>
            <a:off x="3383280" y="5559552"/>
            <a:ext cx="2606040" cy="548640"/>
          </a:xfrm>
          <a:prstGeom prst="rect">
            <a:avLst/>
          </a:prstGeom>
          <a:noFill/>
        </p:spPr>
        <p:txBody>
          <a:bodyPr wrap="square" anchor="t" lIns="0" rIns="0" tIns="0" bIns="0">
            <a:spAutoFit/>
          </a:bodyPr>
          <a:lstStyle/>
          <a:p>
            <a:pPr algn="l">
              <a:lnSpc>
                <a:spcPct val="120000"/>
              </a:lnSpc>
              <a:spcAft>
                <a:spcPts val="400"/>
              </a:spcAft>
            </a:pPr>
            <a:r>
              <a:rPr sz="1100" b="0">
                <a:solidFill>
                  <a:srgbClr val="8FA3C0"/>
                </a:solidFill>
                <a:latin typeface="Segoe UI"/>
              </a:rPr>
              <a:t>no label leaks into a neighbour's average</a:t>
            </a:r>
          </a:p>
        </p:txBody>
      </p:sp>
      <p:sp>
        <p:nvSpPr>
          <p:cNvPr id="34" name="TextBox 33"/>
          <p:cNvSpPr txBox="1"/>
          <p:nvPr/>
        </p:nvSpPr>
        <p:spPr>
          <a:xfrm>
            <a:off x="6126480" y="5285232"/>
            <a:ext cx="2606040" cy="274320"/>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Intelligence quarantined</a:t>
            </a:r>
          </a:p>
        </p:txBody>
      </p:sp>
      <p:sp>
        <p:nvSpPr>
          <p:cNvPr id="35" name="TextBox 34"/>
          <p:cNvSpPr txBox="1"/>
          <p:nvPr/>
        </p:nvSpPr>
        <p:spPr>
          <a:xfrm>
            <a:off x="6126480" y="5559552"/>
            <a:ext cx="2606040" cy="548640"/>
          </a:xfrm>
          <a:prstGeom prst="rect">
            <a:avLst/>
          </a:prstGeom>
          <a:noFill/>
        </p:spPr>
        <p:txBody>
          <a:bodyPr wrap="square" anchor="t" lIns="0" rIns="0" tIns="0" bIns="0">
            <a:spAutoFit/>
          </a:bodyPr>
          <a:lstStyle/>
          <a:p>
            <a:pPr algn="l">
              <a:lnSpc>
                <a:spcPct val="120000"/>
              </a:lnSpc>
              <a:spcAft>
                <a:spcPts val="400"/>
              </a:spcAft>
            </a:pPr>
            <a:r>
              <a:rPr sz="1100" b="0">
                <a:solidFill>
                  <a:srgbClr val="8FA3C0"/>
                </a:solidFill>
                <a:latin typeface="Segoe UI"/>
              </a:rPr>
              <a:t>NCRP tickets never reach the supervised layers</a:t>
            </a:r>
          </a:p>
        </p:txBody>
      </p:sp>
      <p:sp>
        <p:nvSpPr>
          <p:cNvPr id="36" name="TextBox 35"/>
          <p:cNvSpPr txBox="1"/>
          <p:nvPr/>
        </p:nvSpPr>
        <p:spPr>
          <a:xfrm>
            <a:off x="8869680" y="5285232"/>
            <a:ext cx="2606040" cy="274320"/>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Point-in-time correctness</a:t>
            </a:r>
          </a:p>
        </p:txBody>
      </p:sp>
      <p:sp>
        <p:nvSpPr>
          <p:cNvPr id="37" name="TextBox 36"/>
          <p:cNvSpPr txBox="1"/>
          <p:nvPr/>
        </p:nvSpPr>
        <p:spPr>
          <a:xfrm>
            <a:off x="8869680" y="5559552"/>
            <a:ext cx="2606040" cy="548640"/>
          </a:xfrm>
          <a:prstGeom prst="rect">
            <a:avLst/>
          </a:prstGeom>
          <a:noFill/>
        </p:spPr>
        <p:txBody>
          <a:bodyPr wrap="square" anchor="t" lIns="0" rIns="0" tIns="0" bIns="0">
            <a:spAutoFit/>
          </a:bodyPr>
          <a:lstStyle/>
          <a:p>
            <a:pPr algn="l">
              <a:lnSpc>
                <a:spcPct val="120000"/>
              </a:lnSpc>
              <a:spcAft>
                <a:spcPts val="400"/>
              </a:spcAft>
            </a:pPr>
            <a:r>
              <a:rPr sz="1100" b="0">
                <a:solidFill>
                  <a:srgbClr val="8FA3C0"/>
                </a:solidFill>
                <a:latin typeface="Segoe UI"/>
              </a:rPr>
              <a:t>tested against a manually truncated ledger</a:t>
            </a:r>
          </a:p>
        </p:txBody>
      </p:sp>
      <p:sp>
        <p:nvSpPr>
          <p:cNvPr id="38" name="TextBox 37"/>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39" name="TextBox 38"/>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2"/>
              </a:rPr>
              <a:t>github.com/archirajpoot/Bodhi_Mule_Hunter</a:t>
            </a:r>
            <a:r>
              <a:rPr sz="950">
                <a:solidFill>
                  <a:srgbClr val="61708A"/>
                </a:solidFill>
                <a:latin typeface="Consolas"/>
              </a:rPr>
              <a:t>   ·   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WHERE IT IS WEAK</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Recall is not uniform, and averaging hides that</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A deployment team needs to know which typologies still need human-designed scenarios alongside the model.</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3200400" cy="274320"/>
          </a:xfrm>
          <a:prstGeom prst="rect">
            <a:avLst/>
          </a:prstGeom>
          <a:noFill/>
        </p:spPr>
        <p:txBody>
          <a:bodyPr wrap="square" anchor="t" lIns="0" rIns="0" tIns="0" bIns="0">
            <a:spAutoFit/>
          </a:bodyPr>
          <a:lstStyle/>
          <a:p>
            <a:pPr algn="l">
              <a:lnSpc>
                <a:spcPct val="115000"/>
              </a:lnSpc>
              <a:spcAft>
                <a:spcPts val="400"/>
              </a:spcAft>
            </a:pPr>
            <a:r>
              <a:rPr sz="950" b="1">
                <a:solidFill>
                  <a:srgbClr val="61708A"/>
                </a:solidFill>
                <a:latin typeface="Segoe UI"/>
              </a:rPr>
              <a:t>TYPOLOGY / ROLE</a:t>
            </a:r>
          </a:p>
        </p:txBody>
      </p:sp>
      <p:sp>
        <p:nvSpPr>
          <p:cNvPr id="8" name="TextBox 7"/>
          <p:cNvSpPr txBox="1"/>
          <p:nvPr/>
        </p:nvSpPr>
        <p:spPr>
          <a:xfrm>
            <a:off x="3840480" y="1920240"/>
            <a:ext cx="1280160" cy="274320"/>
          </a:xfrm>
          <a:prstGeom prst="rect">
            <a:avLst/>
          </a:prstGeom>
          <a:noFill/>
        </p:spPr>
        <p:txBody>
          <a:bodyPr wrap="square" anchor="t" lIns="0" rIns="0" tIns="0" bIns="0">
            <a:spAutoFit/>
          </a:bodyPr>
          <a:lstStyle/>
          <a:p>
            <a:pPr algn="r">
              <a:lnSpc>
                <a:spcPct val="115000"/>
              </a:lnSpc>
              <a:spcAft>
                <a:spcPts val="400"/>
              </a:spcAft>
            </a:pPr>
            <a:r>
              <a:rPr sz="950" b="1">
                <a:solidFill>
                  <a:srgbClr val="61708A"/>
                </a:solidFill>
                <a:latin typeface="Segoe UI"/>
              </a:rPr>
              <a:t>RECALL</a:t>
            </a:r>
          </a:p>
        </p:txBody>
      </p:sp>
      <p:sp>
        <p:nvSpPr>
          <p:cNvPr id="9" name="TextBox 8"/>
          <p:cNvSpPr txBox="1"/>
          <p:nvPr/>
        </p:nvSpPr>
        <p:spPr>
          <a:xfrm>
            <a:off x="5120640" y="1920240"/>
            <a:ext cx="1280160" cy="274320"/>
          </a:xfrm>
          <a:prstGeom prst="rect">
            <a:avLst/>
          </a:prstGeom>
          <a:noFill/>
        </p:spPr>
        <p:txBody>
          <a:bodyPr wrap="square" anchor="t" lIns="0" rIns="0" tIns="0" bIns="0">
            <a:spAutoFit/>
          </a:bodyPr>
          <a:lstStyle/>
          <a:p>
            <a:pPr algn="r">
              <a:lnSpc>
                <a:spcPct val="115000"/>
              </a:lnSpc>
              <a:spcAft>
                <a:spcPts val="400"/>
              </a:spcAft>
            </a:pPr>
            <a:r>
              <a:rPr sz="950" b="1">
                <a:solidFill>
                  <a:srgbClr val="61708A"/>
                </a:solidFill>
                <a:latin typeface="Segoe UI"/>
              </a:rPr>
              <a:t>DETECTED</a:t>
            </a:r>
          </a:p>
        </p:txBody>
      </p:sp>
      <p:sp>
        <p:nvSpPr>
          <p:cNvPr id="10" name="Rectangle 9"/>
          <p:cNvSpPr/>
          <p:nvPr/>
        </p:nvSpPr>
        <p:spPr>
          <a:xfrm>
            <a:off x="640080" y="2176272"/>
            <a:ext cx="5760720" cy="12700"/>
          </a:xfrm>
          <a:prstGeom prst="rect">
            <a:avLst/>
          </a:prstGeom>
          <a:solidFill>
            <a:srgbClr val="23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286000"/>
            <a:ext cx="3200400" cy="365760"/>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SMURFING</a:t>
            </a:r>
          </a:p>
        </p:txBody>
      </p:sp>
      <p:sp>
        <p:nvSpPr>
          <p:cNvPr id="12" name="TextBox 11"/>
          <p:cNvSpPr txBox="1"/>
          <p:nvPr/>
        </p:nvSpPr>
        <p:spPr>
          <a:xfrm>
            <a:off x="3840480" y="2286000"/>
            <a:ext cx="1280160" cy="365760"/>
          </a:xfrm>
          <a:prstGeom prst="rect">
            <a:avLst/>
          </a:prstGeom>
          <a:noFill/>
        </p:spPr>
        <p:txBody>
          <a:bodyPr wrap="square" anchor="t" lIns="0" rIns="0" tIns="0" bIns="0">
            <a:spAutoFit/>
          </a:bodyPr>
          <a:lstStyle/>
          <a:p>
            <a:pPr algn="r">
              <a:lnSpc>
                <a:spcPct val="115000"/>
              </a:lnSpc>
              <a:spcAft>
                <a:spcPts val="400"/>
              </a:spcAft>
            </a:pPr>
            <a:r>
              <a:rPr sz="1200" b="1">
                <a:solidFill>
                  <a:srgbClr val="FF4D5E"/>
                </a:solidFill>
                <a:latin typeface="Segoe UI"/>
              </a:rPr>
              <a:t>88.9%</a:t>
            </a:r>
          </a:p>
        </p:txBody>
      </p:sp>
      <p:sp>
        <p:nvSpPr>
          <p:cNvPr id="13" name="TextBox 12"/>
          <p:cNvSpPr txBox="1"/>
          <p:nvPr/>
        </p:nvSpPr>
        <p:spPr>
          <a:xfrm>
            <a:off x="5120640" y="2286000"/>
            <a:ext cx="1280160" cy="365760"/>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16/18</a:t>
            </a:r>
          </a:p>
        </p:txBody>
      </p:sp>
      <p:sp>
        <p:nvSpPr>
          <p:cNvPr id="14" name="TextBox 13"/>
          <p:cNvSpPr txBox="1"/>
          <p:nvPr/>
        </p:nvSpPr>
        <p:spPr>
          <a:xfrm>
            <a:off x="640080" y="2651760"/>
            <a:ext cx="3200400" cy="365760"/>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role: CASHOUT</a:t>
            </a:r>
          </a:p>
        </p:txBody>
      </p:sp>
      <p:sp>
        <p:nvSpPr>
          <p:cNvPr id="15" name="TextBox 14"/>
          <p:cNvSpPr txBox="1"/>
          <p:nvPr/>
        </p:nvSpPr>
        <p:spPr>
          <a:xfrm>
            <a:off x="3840480" y="2651760"/>
            <a:ext cx="1280160" cy="365760"/>
          </a:xfrm>
          <a:prstGeom prst="rect">
            <a:avLst/>
          </a:prstGeom>
          <a:noFill/>
        </p:spPr>
        <p:txBody>
          <a:bodyPr wrap="square" anchor="t" lIns="0" rIns="0" tIns="0" bIns="0">
            <a:spAutoFit/>
          </a:bodyPr>
          <a:lstStyle/>
          <a:p>
            <a:pPr algn="r">
              <a:lnSpc>
                <a:spcPct val="115000"/>
              </a:lnSpc>
              <a:spcAft>
                <a:spcPts val="400"/>
              </a:spcAft>
            </a:pPr>
            <a:r>
              <a:rPr sz="1200" b="1">
                <a:solidFill>
                  <a:srgbClr val="F2C14E"/>
                </a:solidFill>
                <a:latin typeface="Segoe UI"/>
              </a:rPr>
              <a:t>92.1%</a:t>
            </a:r>
          </a:p>
        </p:txBody>
      </p:sp>
      <p:sp>
        <p:nvSpPr>
          <p:cNvPr id="16" name="TextBox 15"/>
          <p:cNvSpPr txBox="1"/>
          <p:nvPr/>
        </p:nvSpPr>
        <p:spPr>
          <a:xfrm>
            <a:off x="5120640" y="2651760"/>
            <a:ext cx="1280160" cy="365760"/>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35/38</a:t>
            </a:r>
          </a:p>
        </p:txBody>
      </p:sp>
      <p:sp>
        <p:nvSpPr>
          <p:cNvPr id="17" name="TextBox 16"/>
          <p:cNvSpPr txBox="1"/>
          <p:nvPr/>
        </p:nvSpPr>
        <p:spPr>
          <a:xfrm>
            <a:off x="640080" y="3017520"/>
            <a:ext cx="3200400" cy="365760"/>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FAN IN AGGREGATION</a:t>
            </a:r>
          </a:p>
        </p:txBody>
      </p:sp>
      <p:sp>
        <p:nvSpPr>
          <p:cNvPr id="18" name="TextBox 17"/>
          <p:cNvSpPr txBox="1"/>
          <p:nvPr/>
        </p:nvSpPr>
        <p:spPr>
          <a:xfrm>
            <a:off x="3840480" y="3017520"/>
            <a:ext cx="1280160" cy="365760"/>
          </a:xfrm>
          <a:prstGeom prst="rect">
            <a:avLst/>
          </a:prstGeom>
          <a:noFill/>
        </p:spPr>
        <p:txBody>
          <a:bodyPr wrap="square" anchor="t" lIns="0" rIns="0" tIns="0" bIns="0">
            <a:spAutoFit/>
          </a:bodyPr>
          <a:lstStyle/>
          <a:p>
            <a:pPr algn="r">
              <a:lnSpc>
                <a:spcPct val="115000"/>
              </a:lnSpc>
              <a:spcAft>
                <a:spcPts val="400"/>
              </a:spcAft>
            </a:pPr>
            <a:r>
              <a:rPr sz="1200" b="1">
                <a:solidFill>
                  <a:srgbClr val="F2C14E"/>
                </a:solidFill>
                <a:latin typeface="Segoe UI"/>
              </a:rPr>
              <a:t>93.3%</a:t>
            </a:r>
          </a:p>
        </p:txBody>
      </p:sp>
      <p:sp>
        <p:nvSpPr>
          <p:cNvPr id="19" name="TextBox 18"/>
          <p:cNvSpPr txBox="1"/>
          <p:nvPr/>
        </p:nvSpPr>
        <p:spPr>
          <a:xfrm>
            <a:off x="5120640" y="3017520"/>
            <a:ext cx="1280160" cy="365760"/>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14/15</a:t>
            </a:r>
          </a:p>
        </p:txBody>
      </p:sp>
      <p:sp>
        <p:nvSpPr>
          <p:cNvPr id="20" name="TextBox 19"/>
          <p:cNvSpPr txBox="1"/>
          <p:nvPr/>
        </p:nvSpPr>
        <p:spPr>
          <a:xfrm>
            <a:off x="640080" y="3383280"/>
            <a:ext cx="3200400" cy="365760"/>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LAYERING CHAIN</a:t>
            </a:r>
          </a:p>
        </p:txBody>
      </p:sp>
      <p:sp>
        <p:nvSpPr>
          <p:cNvPr id="21" name="TextBox 20"/>
          <p:cNvSpPr txBox="1"/>
          <p:nvPr/>
        </p:nvSpPr>
        <p:spPr>
          <a:xfrm>
            <a:off x="3840480" y="3383280"/>
            <a:ext cx="1280160" cy="365760"/>
          </a:xfrm>
          <a:prstGeom prst="rect">
            <a:avLst/>
          </a:prstGeom>
          <a:noFill/>
        </p:spPr>
        <p:txBody>
          <a:bodyPr wrap="square" anchor="t" lIns="0" rIns="0" tIns="0" bIns="0">
            <a:spAutoFit/>
          </a:bodyPr>
          <a:lstStyle/>
          <a:p>
            <a:pPr algn="r">
              <a:lnSpc>
                <a:spcPct val="115000"/>
              </a:lnSpc>
              <a:spcAft>
                <a:spcPts val="400"/>
              </a:spcAft>
            </a:pPr>
            <a:r>
              <a:rPr sz="1200" b="1">
                <a:solidFill>
                  <a:srgbClr val="F2C14E"/>
                </a:solidFill>
                <a:latin typeface="Segoe UI"/>
              </a:rPr>
              <a:t>98.3%</a:t>
            </a:r>
          </a:p>
        </p:txBody>
      </p:sp>
      <p:sp>
        <p:nvSpPr>
          <p:cNvPr id="22" name="TextBox 21"/>
          <p:cNvSpPr txBox="1"/>
          <p:nvPr/>
        </p:nvSpPr>
        <p:spPr>
          <a:xfrm>
            <a:off x="5120640" y="3383280"/>
            <a:ext cx="1280160" cy="365760"/>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58/59</a:t>
            </a:r>
          </a:p>
        </p:txBody>
      </p:sp>
      <p:sp>
        <p:nvSpPr>
          <p:cNvPr id="23" name="TextBox 22"/>
          <p:cNvSpPr txBox="1"/>
          <p:nvPr/>
        </p:nvSpPr>
        <p:spPr>
          <a:xfrm>
            <a:off x="640080" y="3749040"/>
            <a:ext cx="3200400" cy="365760"/>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role: COLLECTOR</a:t>
            </a:r>
          </a:p>
        </p:txBody>
      </p:sp>
      <p:sp>
        <p:nvSpPr>
          <p:cNvPr id="24" name="TextBox 23"/>
          <p:cNvSpPr txBox="1"/>
          <p:nvPr/>
        </p:nvSpPr>
        <p:spPr>
          <a:xfrm>
            <a:off x="3840480" y="3749040"/>
            <a:ext cx="1280160" cy="365760"/>
          </a:xfrm>
          <a:prstGeom prst="rect">
            <a:avLst/>
          </a:prstGeom>
          <a:noFill/>
        </p:spPr>
        <p:txBody>
          <a:bodyPr wrap="square" anchor="t" lIns="0" rIns="0" tIns="0" bIns="0">
            <a:spAutoFit/>
          </a:bodyPr>
          <a:lstStyle/>
          <a:p>
            <a:pPr algn="r">
              <a:lnSpc>
                <a:spcPct val="115000"/>
              </a:lnSpc>
              <a:spcAft>
                <a:spcPts val="400"/>
              </a:spcAft>
            </a:pPr>
            <a:r>
              <a:rPr sz="1200" b="1">
                <a:solidFill>
                  <a:srgbClr val="F2C14E"/>
                </a:solidFill>
                <a:latin typeface="Segoe UI"/>
              </a:rPr>
              <a:t>98.3%</a:t>
            </a:r>
          </a:p>
        </p:txBody>
      </p:sp>
      <p:sp>
        <p:nvSpPr>
          <p:cNvPr id="25" name="TextBox 24"/>
          <p:cNvSpPr txBox="1"/>
          <p:nvPr/>
        </p:nvSpPr>
        <p:spPr>
          <a:xfrm>
            <a:off x="5120640" y="3749040"/>
            <a:ext cx="1280160" cy="365760"/>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59/60</a:t>
            </a:r>
          </a:p>
        </p:txBody>
      </p:sp>
      <p:sp>
        <p:nvSpPr>
          <p:cNvPr id="26" name="TextBox 25"/>
          <p:cNvSpPr txBox="1"/>
          <p:nvPr/>
        </p:nvSpPr>
        <p:spPr>
          <a:xfrm>
            <a:off x="640080" y="4114800"/>
            <a:ext cx="3200400" cy="365760"/>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APK HARVEST</a:t>
            </a:r>
          </a:p>
        </p:txBody>
      </p:sp>
      <p:sp>
        <p:nvSpPr>
          <p:cNvPr id="27" name="TextBox 26"/>
          <p:cNvSpPr txBox="1"/>
          <p:nvPr/>
        </p:nvSpPr>
        <p:spPr>
          <a:xfrm>
            <a:off x="3840480" y="4114800"/>
            <a:ext cx="1280160" cy="365760"/>
          </a:xfrm>
          <a:prstGeom prst="rect">
            <a:avLst/>
          </a:prstGeom>
          <a:noFill/>
        </p:spPr>
        <p:txBody>
          <a:bodyPr wrap="square" anchor="t" lIns="0" rIns="0" tIns="0" bIns="0">
            <a:spAutoFit/>
          </a:bodyPr>
          <a:lstStyle/>
          <a:p>
            <a:pPr algn="r">
              <a:lnSpc>
                <a:spcPct val="115000"/>
              </a:lnSpc>
              <a:spcAft>
                <a:spcPts val="400"/>
              </a:spcAft>
            </a:pPr>
            <a:r>
              <a:rPr sz="1200" b="1">
                <a:solidFill>
                  <a:srgbClr val="2ECC9B"/>
                </a:solidFill>
                <a:latin typeface="Segoe UI"/>
              </a:rPr>
              <a:t>100.0%</a:t>
            </a:r>
          </a:p>
        </p:txBody>
      </p:sp>
      <p:sp>
        <p:nvSpPr>
          <p:cNvPr id="28" name="TextBox 27"/>
          <p:cNvSpPr txBox="1"/>
          <p:nvPr/>
        </p:nvSpPr>
        <p:spPr>
          <a:xfrm>
            <a:off x="5120640" y="4114800"/>
            <a:ext cx="1280160" cy="365760"/>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15/15</a:t>
            </a:r>
          </a:p>
        </p:txBody>
      </p:sp>
      <p:sp>
        <p:nvSpPr>
          <p:cNvPr id="29" name="TextBox 28"/>
          <p:cNvSpPr txBox="1"/>
          <p:nvPr/>
        </p:nvSpPr>
        <p:spPr>
          <a:xfrm>
            <a:off x="640080" y="4480560"/>
            <a:ext cx="3200400" cy="365760"/>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DEVICE FARM</a:t>
            </a:r>
          </a:p>
        </p:txBody>
      </p:sp>
      <p:sp>
        <p:nvSpPr>
          <p:cNvPr id="30" name="TextBox 29"/>
          <p:cNvSpPr txBox="1"/>
          <p:nvPr/>
        </p:nvSpPr>
        <p:spPr>
          <a:xfrm>
            <a:off x="3840480" y="4480560"/>
            <a:ext cx="1280160" cy="365760"/>
          </a:xfrm>
          <a:prstGeom prst="rect">
            <a:avLst/>
          </a:prstGeom>
          <a:noFill/>
        </p:spPr>
        <p:txBody>
          <a:bodyPr wrap="square" anchor="t" lIns="0" rIns="0" tIns="0" bIns="0">
            <a:spAutoFit/>
          </a:bodyPr>
          <a:lstStyle/>
          <a:p>
            <a:pPr algn="r">
              <a:lnSpc>
                <a:spcPct val="115000"/>
              </a:lnSpc>
              <a:spcAft>
                <a:spcPts val="400"/>
              </a:spcAft>
            </a:pPr>
            <a:r>
              <a:rPr sz="1200" b="1">
                <a:solidFill>
                  <a:srgbClr val="2ECC9B"/>
                </a:solidFill>
                <a:latin typeface="Segoe UI"/>
              </a:rPr>
              <a:t>100.0%</a:t>
            </a:r>
          </a:p>
        </p:txBody>
      </p:sp>
      <p:sp>
        <p:nvSpPr>
          <p:cNvPr id="31" name="TextBox 30"/>
          <p:cNvSpPr txBox="1"/>
          <p:nvPr/>
        </p:nvSpPr>
        <p:spPr>
          <a:xfrm>
            <a:off x="5120640" y="4480560"/>
            <a:ext cx="1280160" cy="365760"/>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31/31</a:t>
            </a:r>
          </a:p>
        </p:txBody>
      </p:sp>
      <p:sp>
        <p:nvSpPr>
          <p:cNvPr id="32" name="TextBox 31"/>
          <p:cNvSpPr txBox="1"/>
          <p:nvPr/>
        </p:nvSpPr>
        <p:spPr>
          <a:xfrm>
            <a:off x="640080" y="4846320"/>
            <a:ext cx="3200400" cy="365760"/>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DORMANT BURST</a:t>
            </a:r>
          </a:p>
        </p:txBody>
      </p:sp>
      <p:sp>
        <p:nvSpPr>
          <p:cNvPr id="33" name="TextBox 32"/>
          <p:cNvSpPr txBox="1"/>
          <p:nvPr/>
        </p:nvSpPr>
        <p:spPr>
          <a:xfrm>
            <a:off x="3840480" y="4846320"/>
            <a:ext cx="1280160" cy="365760"/>
          </a:xfrm>
          <a:prstGeom prst="rect">
            <a:avLst/>
          </a:prstGeom>
          <a:noFill/>
        </p:spPr>
        <p:txBody>
          <a:bodyPr wrap="square" anchor="t" lIns="0" rIns="0" tIns="0" bIns="0">
            <a:spAutoFit/>
          </a:bodyPr>
          <a:lstStyle/>
          <a:p>
            <a:pPr algn="r">
              <a:lnSpc>
                <a:spcPct val="115000"/>
              </a:lnSpc>
              <a:spcAft>
                <a:spcPts val="400"/>
              </a:spcAft>
            </a:pPr>
            <a:r>
              <a:rPr sz="1200" b="1">
                <a:solidFill>
                  <a:srgbClr val="2ECC9B"/>
                </a:solidFill>
                <a:latin typeface="Segoe UI"/>
              </a:rPr>
              <a:t>100.0%</a:t>
            </a:r>
          </a:p>
        </p:txBody>
      </p:sp>
      <p:sp>
        <p:nvSpPr>
          <p:cNvPr id="34" name="TextBox 33"/>
          <p:cNvSpPr txBox="1"/>
          <p:nvPr/>
        </p:nvSpPr>
        <p:spPr>
          <a:xfrm>
            <a:off x="5120640" y="4846320"/>
            <a:ext cx="1280160" cy="365760"/>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13/13</a:t>
            </a:r>
          </a:p>
        </p:txBody>
      </p:sp>
      <p:sp>
        <p:nvSpPr>
          <p:cNvPr id="35" name="TextBox 34"/>
          <p:cNvSpPr txBox="1"/>
          <p:nvPr/>
        </p:nvSpPr>
        <p:spPr>
          <a:xfrm>
            <a:off x="640080" y="5212080"/>
            <a:ext cx="3200400" cy="365760"/>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role: RELAY</a:t>
            </a:r>
          </a:p>
        </p:txBody>
      </p:sp>
      <p:sp>
        <p:nvSpPr>
          <p:cNvPr id="36" name="TextBox 35"/>
          <p:cNvSpPr txBox="1"/>
          <p:nvPr/>
        </p:nvSpPr>
        <p:spPr>
          <a:xfrm>
            <a:off x="3840480" y="5212080"/>
            <a:ext cx="1280160" cy="365760"/>
          </a:xfrm>
          <a:prstGeom prst="rect">
            <a:avLst/>
          </a:prstGeom>
          <a:noFill/>
        </p:spPr>
        <p:txBody>
          <a:bodyPr wrap="square" anchor="t" lIns="0" rIns="0" tIns="0" bIns="0">
            <a:spAutoFit/>
          </a:bodyPr>
          <a:lstStyle/>
          <a:p>
            <a:pPr algn="r">
              <a:lnSpc>
                <a:spcPct val="115000"/>
              </a:lnSpc>
              <a:spcAft>
                <a:spcPts val="400"/>
              </a:spcAft>
            </a:pPr>
            <a:r>
              <a:rPr sz="1200" b="1">
                <a:solidFill>
                  <a:srgbClr val="2ECC9B"/>
                </a:solidFill>
                <a:latin typeface="Segoe UI"/>
              </a:rPr>
              <a:t>100.0%</a:t>
            </a:r>
          </a:p>
        </p:txBody>
      </p:sp>
      <p:sp>
        <p:nvSpPr>
          <p:cNvPr id="37" name="TextBox 36"/>
          <p:cNvSpPr txBox="1"/>
          <p:nvPr/>
        </p:nvSpPr>
        <p:spPr>
          <a:xfrm>
            <a:off x="5120640" y="5212080"/>
            <a:ext cx="1280160" cy="365760"/>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53/53</a:t>
            </a:r>
          </a:p>
        </p:txBody>
      </p:sp>
      <p:sp>
        <p:nvSpPr>
          <p:cNvPr id="38" name="Rounded Rectangle 37"/>
          <p:cNvSpPr/>
          <p:nvPr/>
        </p:nvSpPr>
        <p:spPr>
          <a:xfrm>
            <a:off x="6766560" y="1874520"/>
            <a:ext cx="4754880" cy="356616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40880" y="2103120"/>
            <a:ext cx="4206240" cy="320040"/>
          </a:xfrm>
          <a:prstGeom prst="rect">
            <a:avLst/>
          </a:prstGeom>
          <a:noFill/>
        </p:spPr>
        <p:txBody>
          <a:bodyPr wrap="square" anchor="t" lIns="0" rIns="0" tIns="0" bIns="0">
            <a:spAutoFit/>
          </a:bodyPr>
          <a:lstStyle/>
          <a:p>
            <a:pPr algn="l">
              <a:lnSpc>
                <a:spcPct val="115000"/>
              </a:lnSpc>
              <a:spcAft>
                <a:spcPts val="400"/>
              </a:spcAft>
            </a:pPr>
            <a:r>
              <a:rPr sz="1000" b="1">
                <a:solidFill>
                  <a:srgbClr val="FF8C42"/>
                </a:solidFill>
                <a:latin typeface="Segoe UI"/>
              </a:rPr>
              <a:t>WHY STRUCTURING IS THE HARDEST</a:t>
            </a:r>
          </a:p>
        </p:txBody>
      </p:sp>
      <p:sp>
        <p:nvSpPr>
          <p:cNvPr id="40" name="TextBox 39"/>
          <p:cNvSpPr txBox="1"/>
          <p:nvPr/>
        </p:nvSpPr>
        <p:spPr>
          <a:xfrm>
            <a:off x="7040880" y="2468880"/>
            <a:ext cx="4206240" cy="1371600"/>
          </a:xfrm>
          <a:prstGeom prst="rect">
            <a:avLst/>
          </a:prstGeom>
          <a:noFill/>
        </p:spPr>
        <p:txBody>
          <a:bodyPr wrap="square" anchor="t" lIns="0" rIns="0" tIns="0" bIns="0">
            <a:spAutoFit/>
          </a:bodyPr>
          <a:lstStyle/>
          <a:p>
            <a:pPr algn="l">
              <a:lnSpc>
                <a:spcPct val="130000"/>
              </a:lnSpc>
              <a:spcAft>
                <a:spcPts val="400"/>
              </a:spcAft>
            </a:pPr>
            <a:r>
              <a:rPr sz="1250" b="0">
                <a:solidFill>
                  <a:srgbClr val="8FA3C0"/>
                </a:solidFill>
                <a:latin typeface="Segoe UI"/>
              </a:rPr>
              <a:t>A single sub-threshold transfer is, by construction, indistinguishable from a genuine near-threshold property or jewellery payment. Detection depends on an aggregate pattern that only becomes visible once enough transfers have accumulated.</a:t>
            </a:r>
          </a:p>
        </p:txBody>
      </p:sp>
      <p:sp>
        <p:nvSpPr>
          <p:cNvPr id="41" name="TextBox 40"/>
          <p:cNvSpPr txBox="1"/>
          <p:nvPr/>
        </p:nvSpPr>
        <p:spPr>
          <a:xfrm>
            <a:off x="7040880" y="3931920"/>
            <a:ext cx="4206240" cy="320040"/>
          </a:xfrm>
          <a:prstGeom prst="rect">
            <a:avLst/>
          </a:prstGeom>
          <a:noFill/>
        </p:spPr>
        <p:txBody>
          <a:bodyPr wrap="square" anchor="t" lIns="0" rIns="0" tIns="0" bIns="0">
            <a:spAutoFit/>
          </a:bodyPr>
          <a:lstStyle/>
          <a:p>
            <a:pPr algn="l">
              <a:lnSpc>
                <a:spcPct val="115000"/>
              </a:lnSpc>
              <a:spcAft>
                <a:spcPts val="400"/>
              </a:spcAft>
            </a:pPr>
            <a:r>
              <a:rPr sz="1000" b="1">
                <a:solidFill>
                  <a:srgbClr val="FF8C42"/>
                </a:solidFill>
                <a:latin typeface="Segoe UI"/>
              </a:rPr>
              <a:t>AND CASH-OUT ACCOUNTS</a:t>
            </a:r>
          </a:p>
        </p:txBody>
      </p:sp>
      <p:sp>
        <p:nvSpPr>
          <p:cNvPr id="42" name="TextBox 41"/>
          <p:cNvSpPr txBox="1"/>
          <p:nvPr/>
        </p:nvSpPr>
        <p:spPr>
          <a:xfrm>
            <a:off x="7040880" y="4297680"/>
            <a:ext cx="4206240" cy="914400"/>
          </a:xfrm>
          <a:prstGeom prst="rect">
            <a:avLst/>
          </a:prstGeom>
          <a:noFill/>
        </p:spPr>
        <p:txBody>
          <a:bodyPr wrap="square" anchor="t" lIns="0" rIns="0" tIns="0" bIns="0">
            <a:spAutoFit/>
          </a:bodyPr>
          <a:lstStyle/>
          <a:p>
            <a:pPr algn="l">
              <a:lnSpc>
                <a:spcPct val="130000"/>
              </a:lnSpc>
              <a:spcAft>
                <a:spcPts val="400"/>
              </a:spcAft>
            </a:pPr>
            <a:r>
              <a:rPr sz="1250" b="0">
                <a:solidFill>
                  <a:srgbClr val="8FA3C0"/>
                </a:solidFill>
                <a:latin typeface="Segoe UI"/>
              </a:rPr>
              <a:t>Short, thin histories — they receive once and drain. There is simply less evidence to work with.</a:t>
            </a:r>
          </a:p>
        </p:txBody>
      </p:sp>
      <p:sp>
        <p:nvSpPr>
          <p:cNvPr id="43" name="TextBox 42"/>
          <p:cNvSpPr txBox="1"/>
          <p:nvPr/>
        </p:nvSpPr>
        <p:spPr>
          <a:xfrm>
            <a:off x="640080" y="5852160"/>
            <a:ext cx="10972800" cy="457200"/>
          </a:xfrm>
          <a:prstGeom prst="rect">
            <a:avLst/>
          </a:prstGeom>
          <a:noFill/>
        </p:spPr>
        <p:txBody>
          <a:bodyPr wrap="square" anchor="t" lIns="0" rIns="0" tIns="0" bIns="0">
            <a:spAutoFit/>
          </a:bodyPr>
          <a:lstStyle/>
          <a:p>
            <a:pPr algn="l">
              <a:lnSpc>
                <a:spcPct val="125000"/>
              </a:lnSpc>
              <a:spcAft>
                <a:spcPts val="400"/>
              </a:spcAft>
            </a:pPr>
            <a:r>
              <a:rPr sz="1400" b="1">
                <a:solidFill>
                  <a:srgbClr val="E6EDF7"/>
                </a:solidFill>
                <a:latin typeface="Segoe UI"/>
              </a:rPr>
              <a:t>We report these rather than averaging them away. A prototype that hides its blind spots is not useful to the team that has to deploy it.</a:t>
            </a:r>
          </a:p>
        </p:txBody>
      </p:sp>
      <p:sp>
        <p:nvSpPr>
          <p:cNvPr id="44" name="TextBox 43"/>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45" name="TextBox 44"/>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2"/>
              </a:rPr>
              <a:t>github.com/archirajpoot/Bodhi_Mule_Hunter</a:t>
            </a:r>
            <a:r>
              <a:rPr sz="950">
                <a:solidFill>
                  <a:srgbClr val="61708A"/>
                </a:solidFill>
                <a:latin typeface="Consolas"/>
              </a:rPr>
              <a:t>   ·   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LIVE DEMO</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The investigator console</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Four layer scores shown separately, evidence written in the vocabulary of an AML desk, cluster and exposure on every card.</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1_investigate_queue.png"/>
          <p:cNvPicPr>
            <a:picLocks noChangeAspect="1"/>
          </p:cNvPicPr>
          <p:nvPr/>
        </p:nvPicPr>
        <p:blipFill>
          <a:blip r:embed="rId2"/>
          <a:stretch>
            <a:fillRect/>
          </a:stretch>
        </p:blipFill>
        <p:spPr>
          <a:xfrm>
            <a:off x="2532888" y="1874520"/>
            <a:ext cx="7095744" cy="4434840"/>
          </a:xfrm>
          <a:prstGeom prst="rect">
            <a:avLst/>
          </a:prstGeom>
          <a:ln w="12700">
            <a:solidFill>
              <a:srgbClr val="23304A"/>
            </a:solidFill>
          </a:ln>
        </p:spPr>
      </p:pic>
      <p:sp>
        <p:nvSpPr>
          <p:cNvPr id="8" name="TextBox 7"/>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9" name="TextBox 8"/>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3"/>
              </a:rPr>
              <a:t>github.com/archirajpoot/Bodhi_Mule_Hunter</a:t>
            </a:r>
            <a:r>
              <a:rPr sz="950">
                <a:solidFill>
                  <a:srgbClr val="61708A"/>
                </a:solidFill>
                <a:latin typeface="Consolas"/>
              </a:rPr>
              <a:t>   ·   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LAYER 8</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Explanations specific enough to file</a:t>
            </a:r>
          </a:p>
        </p:txBody>
      </p:sp>
      <p:sp>
        <p:nvSpPr>
          <p:cNvPr id="5" name="Rectangle 4"/>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_shap_attribution.png"/>
          <p:cNvPicPr>
            <a:picLocks noChangeAspect="1"/>
          </p:cNvPicPr>
          <p:nvPr/>
        </p:nvPicPr>
        <p:blipFill>
          <a:blip r:embed="rId2"/>
          <a:stretch>
            <a:fillRect/>
          </a:stretch>
        </p:blipFill>
        <p:spPr>
          <a:xfrm>
            <a:off x="640080" y="1389888"/>
            <a:ext cx="5394960" cy="3371850"/>
          </a:xfrm>
          <a:prstGeom prst="rect">
            <a:avLst/>
          </a:prstGeom>
          <a:ln w="12700">
            <a:solidFill>
              <a:srgbClr val="23304A"/>
            </a:solidFill>
          </a:ln>
        </p:spPr>
      </p:pic>
      <p:pic>
        <p:nvPicPr>
          <p:cNvPr id="7" name="Picture 6" descr="03_network_graph.png"/>
          <p:cNvPicPr>
            <a:picLocks noChangeAspect="1"/>
          </p:cNvPicPr>
          <p:nvPr/>
        </p:nvPicPr>
        <p:blipFill>
          <a:blip r:embed="rId3"/>
          <a:stretch>
            <a:fillRect/>
          </a:stretch>
        </p:blipFill>
        <p:spPr>
          <a:xfrm>
            <a:off x="6172200" y="1389888"/>
            <a:ext cx="5349240" cy="3343275"/>
          </a:xfrm>
          <a:prstGeom prst="rect">
            <a:avLst/>
          </a:prstGeom>
          <a:ln w="12700">
            <a:solidFill>
              <a:srgbClr val="23304A"/>
            </a:solidFill>
          </a:ln>
        </p:spPr>
      </p:pic>
      <p:sp>
        <p:nvSpPr>
          <p:cNvPr id="8" name="TextBox 7"/>
          <p:cNvSpPr txBox="1"/>
          <p:nvPr/>
        </p:nvSpPr>
        <p:spPr>
          <a:xfrm>
            <a:off x="640080" y="5120640"/>
            <a:ext cx="5394960" cy="1097280"/>
          </a:xfrm>
          <a:prstGeom prst="rect">
            <a:avLst/>
          </a:prstGeom>
          <a:noFill/>
        </p:spPr>
        <p:txBody>
          <a:bodyPr wrap="square" anchor="t" lIns="0" rIns="0" tIns="0" bIns="0">
            <a:spAutoFit/>
          </a:bodyPr>
          <a:lstStyle/>
          <a:p>
            <a:pPr algn="l">
              <a:lnSpc>
                <a:spcPct val="130000"/>
              </a:lnSpc>
              <a:spcAft>
                <a:spcPts val="400"/>
              </a:spcAft>
            </a:pPr>
            <a:r>
              <a:rPr sz="1250" b="0">
                <a:solidFill>
                  <a:srgbClr val="8FA3C0"/>
                </a:solidFill>
                <a:latin typeface="Segoe UI"/>
              </a:rPr>
              <a:t>Exact TreeSHAP — attributions sum to the model's margin, not an approximation of it. Rendered as sentences, not feature names: “94% of every rupee credited left within 60 minutes — the account is a conduit, not a destination.”</a:t>
            </a:r>
          </a:p>
        </p:txBody>
      </p:sp>
      <p:sp>
        <p:nvSpPr>
          <p:cNvPr id="9" name="TextBox 8"/>
          <p:cNvSpPr txBox="1"/>
          <p:nvPr/>
        </p:nvSpPr>
        <p:spPr>
          <a:xfrm>
            <a:off x="6172200" y="5120640"/>
            <a:ext cx="5349240" cy="1097280"/>
          </a:xfrm>
          <a:prstGeom prst="rect">
            <a:avLst/>
          </a:prstGeom>
          <a:noFill/>
        </p:spPr>
        <p:txBody>
          <a:bodyPr wrap="square" anchor="t" lIns="0" rIns="0" tIns="0" bIns="0">
            <a:spAutoFit/>
          </a:bodyPr>
          <a:lstStyle/>
          <a:p>
            <a:pPr algn="l">
              <a:lnSpc>
                <a:spcPct val="130000"/>
              </a:lnSpc>
              <a:spcAft>
                <a:spcPts val="400"/>
              </a:spcAft>
            </a:pPr>
            <a:r>
              <a:rPr sz="1250" b="0">
                <a:solidFill>
                  <a:srgbClr val="8FA3C0"/>
                </a:solidFill>
                <a:latin typeface="Segoe UI"/>
              </a:rPr>
              <a:t>GNNExplainer learns a mask over the two-hop neighbourhood — answering which relationships drove the score, which SHAP structurally cannot. Dashed edges are shared-device links, invisible to any tabular model.</a:t>
            </a:r>
          </a:p>
        </p:txBody>
      </p:sp>
      <p:sp>
        <p:nvSpPr>
          <p:cNvPr id="10" name="TextBox 9"/>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11" name="TextBox 10"/>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4"/>
              </a:rPr>
              <a:t>github.com/archirajpoot/Bodhi_Mule_Hunter</a:t>
            </a:r>
            <a:r>
              <a:rPr sz="950">
                <a:solidFill>
                  <a:srgbClr val="61708A"/>
                </a:solidFill>
                <a:latin typeface="Consolas"/>
              </a:rPr>
              <a:t>   ·   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FOLLOWING THE MONEY</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Time-respecting multi-hop trails</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Every hop must occur after the previous one — money cannot be forwarded before it arrives. Value retention exposes each mule's commission.</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4_money_trail.png"/>
          <p:cNvPicPr>
            <a:picLocks noChangeAspect="1"/>
          </p:cNvPicPr>
          <p:nvPr/>
        </p:nvPicPr>
        <p:blipFill>
          <a:blip r:embed="rId2"/>
          <a:stretch>
            <a:fillRect/>
          </a:stretch>
        </p:blipFill>
        <p:spPr>
          <a:xfrm>
            <a:off x="640080" y="1874520"/>
            <a:ext cx="6949440" cy="4343400"/>
          </a:xfrm>
          <a:prstGeom prst="rect">
            <a:avLst/>
          </a:prstGeom>
          <a:ln w="12700">
            <a:solidFill>
              <a:srgbClr val="23304A"/>
            </a:solidFill>
          </a:ln>
        </p:spPr>
      </p:pic>
      <p:sp>
        <p:nvSpPr>
          <p:cNvPr id="8" name="Rounded Rectangle 7"/>
          <p:cNvSpPr/>
          <p:nvPr/>
        </p:nvSpPr>
        <p:spPr>
          <a:xfrm>
            <a:off x="7863840" y="1874520"/>
            <a:ext cx="3657600" cy="292608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2103120"/>
            <a:ext cx="3108960" cy="320040"/>
          </a:xfrm>
          <a:prstGeom prst="rect">
            <a:avLst/>
          </a:prstGeom>
          <a:noFill/>
        </p:spPr>
        <p:txBody>
          <a:bodyPr wrap="square" anchor="t" lIns="0" rIns="0" tIns="0" bIns="0">
            <a:spAutoFit/>
          </a:bodyPr>
          <a:lstStyle/>
          <a:p>
            <a:pPr algn="l">
              <a:lnSpc>
                <a:spcPct val="115000"/>
              </a:lnSpc>
              <a:spcAft>
                <a:spcPts val="400"/>
              </a:spcAft>
            </a:pPr>
            <a:r>
              <a:rPr sz="1000" b="1">
                <a:solidFill>
                  <a:srgbClr val="4DA3FF"/>
                </a:solidFill>
                <a:latin typeface="Segoe UI"/>
              </a:rPr>
              <a:t>THE TELL</a:t>
            </a:r>
          </a:p>
        </p:txBody>
      </p:sp>
      <p:sp>
        <p:nvSpPr>
          <p:cNvPr id="10" name="TextBox 9"/>
          <p:cNvSpPr txBox="1"/>
          <p:nvPr/>
        </p:nvSpPr>
        <p:spPr>
          <a:xfrm>
            <a:off x="8138160" y="2468880"/>
            <a:ext cx="3108960" cy="2011680"/>
          </a:xfrm>
          <a:prstGeom prst="rect">
            <a:avLst/>
          </a:prstGeom>
          <a:noFill/>
        </p:spPr>
        <p:txBody>
          <a:bodyPr wrap="square" anchor="t" lIns="0" rIns="0" tIns="0" bIns="0">
            <a:spAutoFit/>
          </a:bodyPr>
          <a:lstStyle/>
          <a:p>
            <a:pPr algn="l">
              <a:lnSpc>
                <a:spcPct val="135000"/>
              </a:lnSpc>
              <a:spcAft>
                <a:spcPts val="400"/>
              </a:spcAft>
            </a:pPr>
            <a:r>
              <a:rPr sz="1300" b="0">
                <a:solidFill>
                  <a:srgbClr val="8FA3C0"/>
                </a:solidFill>
                <a:latin typeface="Segoe UI"/>
              </a:rPr>
              <a:t>A laundering chain leaks 2–10% at every hop as the handler's cut.
Legitimate payment chains simply do not have that shape — which is why value retention is shown on every path.</a:t>
            </a:r>
          </a:p>
        </p:txBody>
      </p:sp>
      <p:sp>
        <p:nvSpPr>
          <p:cNvPr id="11" name="TextBox 10"/>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12" name="TextBox 11"/>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3"/>
              </a:rPr>
              <a:t>github.com/archirajpoot/Bodhi_Mule_Hunter</a:t>
            </a:r>
            <a:r>
              <a:rPr sz="950">
                <a:solidFill>
                  <a:srgbClr val="61708A"/>
                </a:solidFill>
                <a:latin typeface="Consolas"/>
              </a:rPr>
              <a:t>   ·   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LAYER 9</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Containment that can refuse</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A wrongly frozen account is somebody unable to pay for medicine. No AUC improvement justifies being casual about that.</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920240"/>
            <a:ext cx="5852160" cy="566928"/>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48256"/>
            <a:ext cx="2103120" cy="320040"/>
          </a:xfrm>
          <a:prstGeom prst="rect">
            <a:avLst/>
          </a:prstGeom>
          <a:noFill/>
        </p:spPr>
        <p:txBody>
          <a:bodyPr wrap="square" anchor="t" lIns="0" rIns="0" tIns="0" bIns="0">
            <a:spAutoFit/>
          </a:bodyPr>
          <a:lstStyle/>
          <a:p>
            <a:pPr algn="l">
              <a:lnSpc>
                <a:spcPct val="115000"/>
              </a:lnSpc>
              <a:spcAft>
                <a:spcPts val="400"/>
              </a:spcAft>
            </a:pPr>
            <a:r>
              <a:rPr sz="1300" b="1">
                <a:solidFill>
                  <a:srgbClr val="4DA3FF"/>
                </a:solidFill>
                <a:latin typeface="Segoe UI"/>
              </a:rPr>
              <a:t>Proportionality</a:t>
            </a:r>
          </a:p>
        </p:txBody>
      </p:sp>
      <p:sp>
        <p:nvSpPr>
          <p:cNvPr id="9" name="TextBox 8"/>
          <p:cNvSpPr txBox="1"/>
          <p:nvPr/>
        </p:nvSpPr>
        <p:spPr>
          <a:xfrm>
            <a:off x="3017520" y="2066544"/>
            <a:ext cx="3291840" cy="320040"/>
          </a:xfrm>
          <a:prstGeom prst="rect">
            <a:avLst/>
          </a:prstGeom>
          <a:noFill/>
        </p:spPr>
        <p:txBody>
          <a:bodyPr wrap="square" anchor="t" lIns="0" rIns="0" tIns="0" bIns="0">
            <a:spAutoFit/>
          </a:bodyPr>
          <a:lstStyle/>
          <a:p>
            <a:pPr algn="l">
              <a:lnSpc>
                <a:spcPct val="115000"/>
              </a:lnSpc>
              <a:spcAft>
                <a:spcPts val="400"/>
              </a:spcAft>
            </a:pPr>
            <a:r>
              <a:rPr sz="1200" b="0">
                <a:solidFill>
                  <a:srgbClr val="8FA3C0"/>
                </a:solidFill>
                <a:latin typeface="Segoe UI"/>
              </a:rPr>
              <a:t>below 85 the automation cannot freeze at all</a:t>
            </a:r>
          </a:p>
        </p:txBody>
      </p:sp>
      <p:sp>
        <p:nvSpPr>
          <p:cNvPr id="10" name="Rounded Rectangle 9"/>
          <p:cNvSpPr/>
          <p:nvPr/>
        </p:nvSpPr>
        <p:spPr>
          <a:xfrm>
            <a:off x="640080" y="2578608"/>
            <a:ext cx="5852160" cy="566928"/>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06624"/>
            <a:ext cx="2103120" cy="320040"/>
          </a:xfrm>
          <a:prstGeom prst="rect">
            <a:avLst/>
          </a:prstGeom>
          <a:noFill/>
        </p:spPr>
        <p:txBody>
          <a:bodyPr wrap="square" anchor="t" lIns="0" rIns="0" tIns="0" bIns="0">
            <a:spAutoFit/>
          </a:bodyPr>
          <a:lstStyle/>
          <a:p>
            <a:pPr algn="l">
              <a:lnSpc>
                <a:spcPct val="115000"/>
              </a:lnSpc>
              <a:spcAft>
                <a:spcPts val="400"/>
              </a:spcAft>
            </a:pPr>
            <a:r>
              <a:rPr sz="1300" b="1">
                <a:solidFill>
                  <a:srgbClr val="4DA3FF"/>
                </a:solidFill>
                <a:latin typeface="Segoe UI"/>
              </a:rPr>
              <a:t>Corroboration</a:t>
            </a:r>
          </a:p>
        </p:txBody>
      </p:sp>
      <p:sp>
        <p:nvSpPr>
          <p:cNvPr id="12" name="TextBox 11"/>
          <p:cNvSpPr txBox="1"/>
          <p:nvPr/>
        </p:nvSpPr>
        <p:spPr>
          <a:xfrm>
            <a:off x="3017520" y="2724912"/>
            <a:ext cx="3291840" cy="320040"/>
          </a:xfrm>
          <a:prstGeom prst="rect">
            <a:avLst/>
          </a:prstGeom>
          <a:noFill/>
        </p:spPr>
        <p:txBody>
          <a:bodyPr wrap="square" anchor="t" lIns="0" rIns="0" tIns="0" bIns="0">
            <a:spAutoFit/>
          </a:bodyPr>
          <a:lstStyle/>
          <a:p>
            <a:pPr algn="l">
              <a:lnSpc>
                <a:spcPct val="115000"/>
              </a:lnSpc>
              <a:spcAft>
                <a:spcPts val="400"/>
              </a:spcAft>
            </a:pPr>
            <a:r>
              <a:rPr sz="1200" b="0">
                <a:solidFill>
                  <a:srgbClr val="8FA3C0"/>
                </a:solidFill>
                <a:latin typeface="Segoe UI"/>
              </a:rPr>
              <a:t>a full freeze needs ≥2 independent layers agreeing</a:t>
            </a:r>
          </a:p>
        </p:txBody>
      </p:sp>
      <p:sp>
        <p:nvSpPr>
          <p:cNvPr id="13" name="Rounded Rectangle 12"/>
          <p:cNvSpPr/>
          <p:nvPr/>
        </p:nvSpPr>
        <p:spPr>
          <a:xfrm>
            <a:off x="640080" y="3236976"/>
            <a:ext cx="5852160" cy="566928"/>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364992"/>
            <a:ext cx="2103120" cy="320040"/>
          </a:xfrm>
          <a:prstGeom prst="rect">
            <a:avLst/>
          </a:prstGeom>
          <a:noFill/>
        </p:spPr>
        <p:txBody>
          <a:bodyPr wrap="square" anchor="t" lIns="0" rIns="0" tIns="0" bIns="0">
            <a:spAutoFit/>
          </a:bodyPr>
          <a:lstStyle/>
          <a:p>
            <a:pPr algn="l">
              <a:lnSpc>
                <a:spcPct val="115000"/>
              </a:lnSpc>
              <a:spcAft>
                <a:spcPts val="400"/>
              </a:spcAft>
            </a:pPr>
            <a:r>
              <a:rPr sz="1300" b="1">
                <a:solidFill>
                  <a:srgbClr val="4DA3FF"/>
                </a:solidFill>
                <a:latin typeface="Segoe UI"/>
              </a:rPr>
              <a:t>Reversibility</a:t>
            </a:r>
          </a:p>
        </p:txBody>
      </p:sp>
      <p:sp>
        <p:nvSpPr>
          <p:cNvPr id="15" name="TextBox 14"/>
          <p:cNvSpPr txBox="1"/>
          <p:nvPr/>
        </p:nvSpPr>
        <p:spPr>
          <a:xfrm>
            <a:off x="3017520" y="3383280"/>
            <a:ext cx="3291840" cy="320040"/>
          </a:xfrm>
          <a:prstGeom prst="rect">
            <a:avLst/>
          </a:prstGeom>
          <a:noFill/>
        </p:spPr>
        <p:txBody>
          <a:bodyPr wrap="square" anchor="t" lIns="0" rIns="0" tIns="0" bIns="0">
            <a:spAutoFit/>
          </a:bodyPr>
          <a:lstStyle/>
          <a:p>
            <a:pPr algn="l">
              <a:lnSpc>
                <a:spcPct val="115000"/>
              </a:lnSpc>
              <a:spcAft>
                <a:spcPts val="400"/>
              </a:spcAft>
            </a:pPr>
            <a:r>
              <a:rPr sz="1200" b="0">
                <a:solidFill>
                  <a:srgbClr val="8FA3C0"/>
                </a:solidFill>
                <a:latin typeface="Segoe UI"/>
              </a:rPr>
              <a:t>every action carries a TTL and can be reverted</a:t>
            </a:r>
          </a:p>
        </p:txBody>
      </p:sp>
      <p:sp>
        <p:nvSpPr>
          <p:cNvPr id="16" name="Rounded Rectangle 15"/>
          <p:cNvSpPr/>
          <p:nvPr/>
        </p:nvSpPr>
        <p:spPr>
          <a:xfrm>
            <a:off x="640080" y="3895344"/>
            <a:ext cx="5852160" cy="566928"/>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23360"/>
            <a:ext cx="2103120" cy="320040"/>
          </a:xfrm>
          <a:prstGeom prst="rect">
            <a:avLst/>
          </a:prstGeom>
          <a:noFill/>
        </p:spPr>
        <p:txBody>
          <a:bodyPr wrap="square" anchor="t" lIns="0" rIns="0" tIns="0" bIns="0">
            <a:spAutoFit/>
          </a:bodyPr>
          <a:lstStyle/>
          <a:p>
            <a:pPr algn="l">
              <a:lnSpc>
                <a:spcPct val="115000"/>
              </a:lnSpc>
              <a:spcAft>
                <a:spcPts val="400"/>
              </a:spcAft>
            </a:pPr>
            <a:r>
              <a:rPr sz="1300" b="1">
                <a:solidFill>
                  <a:srgbClr val="4DA3FF"/>
                </a:solidFill>
                <a:latin typeface="Segoe UI"/>
              </a:rPr>
              <a:t>Rate limiting</a:t>
            </a:r>
          </a:p>
        </p:txBody>
      </p:sp>
      <p:sp>
        <p:nvSpPr>
          <p:cNvPr id="18" name="TextBox 17"/>
          <p:cNvSpPr txBox="1"/>
          <p:nvPr/>
        </p:nvSpPr>
        <p:spPr>
          <a:xfrm>
            <a:off x="3017520" y="4041648"/>
            <a:ext cx="3291840" cy="320040"/>
          </a:xfrm>
          <a:prstGeom prst="rect">
            <a:avLst/>
          </a:prstGeom>
          <a:noFill/>
        </p:spPr>
        <p:txBody>
          <a:bodyPr wrap="square" anchor="t" lIns="0" rIns="0" tIns="0" bIns="0">
            <a:spAutoFit/>
          </a:bodyPr>
          <a:lstStyle/>
          <a:p>
            <a:pPr algn="l">
              <a:lnSpc>
                <a:spcPct val="115000"/>
              </a:lnSpc>
              <a:spcAft>
                <a:spcPts val="400"/>
              </a:spcAft>
            </a:pPr>
            <a:r>
              <a:rPr sz="1200" b="0">
                <a:solidFill>
                  <a:srgbClr val="8FA3C0"/>
                </a:solidFill>
                <a:latin typeface="Segoe UI"/>
              </a:rPr>
              <a:t>bounded automated freezes per hour caps blast radius</a:t>
            </a:r>
          </a:p>
        </p:txBody>
      </p:sp>
      <p:sp>
        <p:nvSpPr>
          <p:cNvPr id="19" name="Rounded Rectangle 18"/>
          <p:cNvSpPr/>
          <p:nvPr/>
        </p:nvSpPr>
        <p:spPr>
          <a:xfrm>
            <a:off x="640080" y="4553712"/>
            <a:ext cx="5852160" cy="566928"/>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681728"/>
            <a:ext cx="2103120" cy="320040"/>
          </a:xfrm>
          <a:prstGeom prst="rect">
            <a:avLst/>
          </a:prstGeom>
          <a:noFill/>
        </p:spPr>
        <p:txBody>
          <a:bodyPr wrap="square" anchor="t" lIns="0" rIns="0" tIns="0" bIns="0">
            <a:spAutoFit/>
          </a:bodyPr>
          <a:lstStyle/>
          <a:p>
            <a:pPr algn="l">
              <a:lnSpc>
                <a:spcPct val="115000"/>
              </a:lnSpc>
              <a:spcAft>
                <a:spcPts val="400"/>
              </a:spcAft>
            </a:pPr>
            <a:r>
              <a:rPr sz="1300" b="1">
                <a:solidFill>
                  <a:srgbClr val="4DA3FF"/>
                </a:solidFill>
                <a:latin typeface="Segoe UI"/>
              </a:rPr>
              <a:t>Protected accounts</a:t>
            </a:r>
          </a:p>
        </p:txBody>
      </p:sp>
      <p:sp>
        <p:nvSpPr>
          <p:cNvPr id="21" name="TextBox 20"/>
          <p:cNvSpPr txBox="1"/>
          <p:nvPr/>
        </p:nvSpPr>
        <p:spPr>
          <a:xfrm>
            <a:off x="3017520" y="4700016"/>
            <a:ext cx="3291840" cy="320040"/>
          </a:xfrm>
          <a:prstGeom prst="rect">
            <a:avLst/>
          </a:prstGeom>
          <a:noFill/>
        </p:spPr>
        <p:txBody>
          <a:bodyPr wrap="square" anchor="t" lIns="0" rIns="0" tIns="0" bIns="0">
            <a:spAutoFit/>
          </a:bodyPr>
          <a:lstStyle/>
          <a:p>
            <a:pPr algn="l">
              <a:lnSpc>
                <a:spcPct val="115000"/>
              </a:lnSpc>
              <a:spcAft>
                <a:spcPts val="400"/>
              </a:spcAft>
            </a:pPr>
            <a:r>
              <a:rPr sz="1200" b="0">
                <a:solidFill>
                  <a:srgbClr val="8FA3C0"/>
                </a:solidFill>
                <a:latin typeface="Segoe UI"/>
              </a:rPr>
              <a:t>salary, pension and benefit accounts always go to a human</a:t>
            </a:r>
          </a:p>
        </p:txBody>
      </p:sp>
      <p:pic>
        <p:nvPicPr>
          <p:cNvPr id="22" name="Picture 21" descr="05_killswitch.png"/>
          <p:cNvPicPr>
            <a:picLocks noChangeAspect="1"/>
          </p:cNvPicPr>
          <p:nvPr/>
        </p:nvPicPr>
        <p:blipFill>
          <a:blip r:embed="rId2"/>
          <a:stretch>
            <a:fillRect/>
          </a:stretch>
        </p:blipFill>
        <p:spPr>
          <a:xfrm>
            <a:off x="6720840" y="1920240"/>
            <a:ext cx="4800600" cy="3000375"/>
          </a:xfrm>
          <a:prstGeom prst="rect">
            <a:avLst/>
          </a:prstGeom>
          <a:ln w="12700">
            <a:solidFill>
              <a:srgbClr val="23304A"/>
            </a:solidFill>
          </a:ln>
        </p:spPr>
      </p:pic>
      <p:sp>
        <p:nvSpPr>
          <p:cNvPr id="23" name="TextBox 22"/>
          <p:cNvSpPr txBox="1"/>
          <p:nvPr/>
        </p:nvSpPr>
        <p:spPr>
          <a:xfrm>
            <a:off x="640080" y="5760720"/>
            <a:ext cx="10881360" cy="548640"/>
          </a:xfrm>
          <a:prstGeom prst="rect">
            <a:avLst/>
          </a:prstGeom>
          <a:noFill/>
        </p:spPr>
        <p:txBody>
          <a:bodyPr wrap="square" anchor="t" lIns="0" rIns="0" tIns="0" bIns="0">
            <a:spAutoFit/>
          </a:bodyPr>
          <a:lstStyle/>
          <a:p>
            <a:pPr algn="l">
              <a:lnSpc>
                <a:spcPct val="130000"/>
              </a:lnSpc>
              <a:spcAft>
                <a:spcPts val="400"/>
              </a:spcAft>
            </a:pPr>
            <a:r>
              <a:rPr sz="1300" b="0">
                <a:solidFill>
                  <a:srgbClr val="8FA3C0"/>
                </a:solidFill>
                <a:latin typeface="Segoe UI"/>
              </a:rPr>
              <a:t>When a constraint fires, the action is downgraded — never escalated — and flagged for human review. Every decision, including every refusal, is written to a hash-chained audit log whose head hash can be externally anchored.</a:t>
            </a:r>
          </a:p>
        </p:txBody>
      </p:sp>
      <p:sp>
        <p:nvSpPr>
          <p:cNvPr id="24" name="TextBox 23"/>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25" name="TextBox 24"/>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3"/>
              </a:rPr>
              <a:t>github.com/archirajpoot/Bodhi_Mule_Hunter</a:t>
            </a:r>
            <a:r>
              <a:rPr sz="950">
                <a:solidFill>
                  <a:srgbClr val="61708A"/>
                </a:solidFill>
                <a:latin typeface="Consolas"/>
              </a:rPr>
              <a:t>   ·   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ECOSYSTEM SYNERGY</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BODHI SHIELD → BODHI MULE HUNTER</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Malware analysis priming fraud controls before the first victim installs the app.</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8_shield_apk.png"/>
          <p:cNvPicPr>
            <a:picLocks noChangeAspect="1"/>
          </p:cNvPicPr>
          <p:nvPr/>
        </p:nvPicPr>
        <p:blipFill>
          <a:blip r:embed="rId2"/>
          <a:stretch>
            <a:fillRect/>
          </a:stretch>
        </p:blipFill>
        <p:spPr>
          <a:xfrm>
            <a:off x="640080" y="1874520"/>
            <a:ext cx="6858000" cy="4286250"/>
          </a:xfrm>
          <a:prstGeom prst="rect">
            <a:avLst/>
          </a:prstGeom>
          <a:ln w="12700">
            <a:solidFill>
              <a:srgbClr val="23304A"/>
            </a:solidFill>
          </a:ln>
        </p:spPr>
      </p:pic>
      <p:sp>
        <p:nvSpPr>
          <p:cNvPr id="8" name="TextBox 7"/>
          <p:cNvSpPr txBox="1"/>
          <p:nvPr/>
        </p:nvSpPr>
        <p:spPr>
          <a:xfrm>
            <a:off x="7818120" y="1920240"/>
            <a:ext cx="320040" cy="274320"/>
          </a:xfrm>
          <a:prstGeom prst="rect">
            <a:avLst/>
          </a:prstGeom>
          <a:noFill/>
        </p:spPr>
        <p:txBody>
          <a:bodyPr wrap="square" anchor="t" lIns="0" rIns="0" tIns="0" bIns="0">
            <a:spAutoFit/>
          </a:bodyPr>
          <a:lstStyle/>
          <a:p>
            <a:pPr algn="l">
              <a:lnSpc>
                <a:spcPct val="115000"/>
              </a:lnSpc>
              <a:spcAft>
                <a:spcPts val="400"/>
              </a:spcAft>
            </a:pPr>
            <a:r>
              <a:rPr sz="1500" b="1">
                <a:solidFill>
                  <a:srgbClr val="7D5CFF"/>
                </a:solidFill>
                <a:latin typeface="Consolas"/>
              </a:rPr>
              <a:t>1</a:t>
            </a:r>
          </a:p>
        </p:txBody>
      </p:sp>
      <p:sp>
        <p:nvSpPr>
          <p:cNvPr id="9" name="TextBox 8"/>
          <p:cNvSpPr txBox="1"/>
          <p:nvPr/>
        </p:nvSpPr>
        <p:spPr>
          <a:xfrm>
            <a:off x="8229600" y="1920240"/>
            <a:ext cx="3291840" cy="274320"/>
          </a:xfrm>
          <a:prstGeom prst="rect">
            <a:avLst/>
          </a:prstGeom>
          <a:noFill/>
        </p:spPr>
        <p:txBody>
          <a:bodyPr wrap="square" anchor="t" lIns="0" rIns="0" tIns="0" bIns="0">
            <a:spAutoFit/>
          </a:bodyPr>
          <a:lstStyle/>
          <a:p>
            <a:pPr algn="l">
              <a:lnSpc>
                <a:spcPct val="115000"/>
              </a:lnSpc>
              <a:spcAft>
                <a:spcPts val="400"/>
              </a:spcAft>
            </a:pPr>
            <a:r>
              <a:rPr sz="1300" b="1">
                <a:solidFill>
                  <a:srgbClr val="E6EDF7"/>
                </a:solidFill>
                <a:latin typeface="Segoe UI"/>
              </a:rPr>
              <a:t>Parse manifest</a:t>
            </a:r>
          </a:p>
        </p:txBody>
      </p:sp>
      <p:sp>
        <p:nvSpPr>
          <p:cNvPr id="10" name="TextBox 9"/>
          <p:cNvSpPr txBox="1"/>
          <p:nvPr/>
        </p:nvSpPr>
        <p:spPr>
          <a:xfrm>
            <a:off x="8229600" y="2176272"/>
            <a:ext cx="3291840" cy="548640"/>
          </a:xfrm>
          <a:prstGeom prst="rect">
            <a:avLst/>
          </a:prstGeom>
          <a:noFill/>
        </p:spPr>
        <p:txBody>
          <a:bodyPr wrap="square" anchor="t" lIns="0" rIns="0" tIns="0" bIns="0">
            <a:spAutoFit/>
          </a:bodyPr>
          <a:lstStyle/>
          <a:p>
            <a:pPr algn="l">
              <a:lnSpc>
                <a:spcPct val="120000"/>
              </a:lnSpc>
              <a:spcAft>
                <a:spcPts val="400"/>
              </a:spcAft>
            </a:pPr>
            <a:r>
              <a:rPr sz="1100" b="0">
                <a:solidFill>
                  <a:srgbClr val="8FA3C0"/>
                </a:solidFill>
                <a:latin typeface="Segoe UI"/>
              </a:rPr>
              <a:t>binary AndroidManifest.xml string pool, to spec</a:t>
            </a:r>
          </a:p>
        </p:txBody>
      </p:sp>
      <p:sp>
        <p:nvSpPr>
          <p:cNvPr id="11" name="TextBox 10"/>
          <p:cNvSpPr txBox="1"/>
          <p:nvPr/>
        </p:nvSpPr>
        <p:spPr>
          <a:xfrm>
            <a:off x="7818120" y="2670048"/>
            <a:ext cx="320040" cy="274320"/>
          </a:xfrm>
          <a:prstGeom prst="rect">
            <a:avLst/>
          </a:prstGeom>
          <a:noFill/>
        </p:spPr>
        <p:txBody>
          <a:bodyPr wrap="square" anchor="t" lIns="0" rIns="0" tIns="0" bIns="0">
            <a:spAutoFit/>
          </a:bodyPr>
          <a:lstStyle/>
          <a:p>
            <a:pPr algn="l">
              <a:lnSpc>
                <a:spcPct val="115000"/>
              </a:lnSpc>
              <a:spcAft>
                <a:spcPts val="400"/>
              </a:spcAft>
            </a:pPr>
            <a:r>
              <a:rPr sz="1500" b="1">
                <a:solidFill>
                  <a:srgbClr val="7D5CFF"/>
                </a:solidFill>
                <a:latin typeface="Consolas"/>
              </a:rPr>
              <a:t>2</a:t>
            </a:r>
          </a:p>
        </p:txBody>
      </p:sp>
      <p:sp>
        <p:nvSpPr>
          <p:cNvPr id="12" name="TextBox 11"/>
          <p:cNvSpPr txBox="1"/>
          <p:nvPr/>
        </p:nvSpPr>
        <p:spPr>
          <a:xfrm>
            <a:off x="8229600" y="2670048"/>
            <a:ext cx="3291840" cy="274320"/>
          </a:xfrm>
          <a:prstGeom prst="rect">
            <a:avLst/>
          </a:prstGeom>
          <a:noFill/>
        </p:spPr>
        <p:txBody>
          <a:bodyPr wrap="square" anchor="t" lIns="0" rIns="0" tIns="0" bIns="0">
            <a:spAutoFit/>
          </a:bodyPr>
          <a:lstStyle/>
          <a:p>
            <a:pPr algn="l">
              <a:lnSpc>
                <a:spcPct val="115000"/>
              </a:lnSpc>
              <a:spcAft>
                <a:spcPts val="400"/>
              </a:spcAft>
            </a:pPr>
            <a:r>
              <a:rPr sz="1300" b="1">
                <a:solidFill>
                  <a:srgbClr val="E6EDF7"/>
                </a:solidFill>
                <a:latin typeface="Segoe UI"/>
              </a:rPr>
              <a:t>Score combinations</a:t>
            </a:r>
          </a:p>
        </p:txBody>
      </p:sp>
      <p:sp>
        <p:nvSpPr>
          <p:cNvPr id="13" name="TextBox 12"/>
          <p:cNvSpPr txBox="1"/>
          <p:nvPr/>
        </p:nvSpPr>
        <p:spPr>
          <a:xfrm>
            <a:off x="8229600" y="2926080"/>
            <a:ext cx="3291840" cy="548640"/>
          </a:xfrm>
          <a:prstGeom prst="rect">
            <a:avLst/>
          </a:prstGeom>
          <a:noFill/>
        </p:spPr>
        <p:txBody>
          <a:bodyPr wrap="square" anchor="t" lIns="0" rIns="0" tIns="0" bIns="0">
            <a:spAutoFit/>
          </a:bodyPr>
          <a:lstStyle/>
          <a:p>
            <a:pPr algn="l">
              <a:lnSpc>
                <a:spcPct val="120000"/>
              </a:lnSpc>
              <a:spcAft>
                <a:spcPts val="400"/>
              </a:spcAft>
            </a:pPr>
            <a:r>
              <a:rPr sz="1100" b="0">
                <a:solidFill>
                  <a:srgbClr val="8FA3C0"/>
                </a:solidFill>
                <a:latin typeface="Segoe UI"/>
              </a:rPr>
              <a:t>READ_SMS alone is a messaging app; + accessibility + overlay is a trojan</a:t>
            </a:r>
          </a:p>
        </p:txBody>
      </p:sp>
      <p:sp>
        <p:nvSpPr>
          <p:cNvPr id="14" name="TextBox 13"/>
          <p:cNvSpPr txBox="1"/>
          <p:nvPr/>
        </p:nvSpPr>
        <p:spPr>
          <a:xfrm>
            <a:off x="7818120" y="3419856"/>
            <a:ext cx="320040" cy="274320"/>
          </a:xfrm>
          <a:prstGeom prst="rect">
            <a:avLst/>
          </a:prstGeom>
          <a:noFill/>
        </p:spPr>
        <p:txBody>
          <a:bodyPr wrap="square" anchor="t" lIns="0" rIns="0" tIns="0" bIns="0">
            <a:spAutoFit/>
          </a:bodyPr>
          <a:lstStyle/>
          <a:p>
            <a:pPr algn="l">
              <a:lnSpc>
                <a:spcPct val="115000"/>
              </a:lnSpc>
              <a:spcAft>
                <a:spcPts val="400"/>
              </a:spcAft>
            </a:pPr>
            <a:r>
              <a:rPr sz="1500" b="1">
                <a:solidFill>
                  <a:srgbClr val="7D5CFF"/>
                </a:solidFill>
                <a:latin typeface="Consolas"/>
              </a:rPr>
              <a:t>3</a:t>
            </a:r>
          </a:p>
        </p:txBody>
      </p:sp>
      <p:sp>
        <p:nvSpPr>
          <p:cNvPr id="15" name="TextBox 14"/>
          <p:cNvSpPr txBox="1"/>
          <p:nvPr/>
        </p:nvSpPr>
        <p:spPr>
          <a:xfrm>
            <a:off x="8229600" y="3419856"/>
            <a:ext cx="3291840" cy="274320"/>
          </a:xfrm>
          <a:prstGeom prst="rect">
            <a:avLst/>
          </a:prstGeom>
          <a:noFill/>
        </p:spPr>
        <p:txBody>
          <a:bodyPr wrap="square" anchor="t" lIns="0" rIns="0" tIns="0" bIns="0">
            <a:spAutoFit/>
          </a:bodyPr>
          <a:lstStyle/>
          <a:p>
            <a:pPr algn="l">
              <a:lnSpc>
                <a:spcPct val="115000"/>
              </a:lnSpc>
              <a:spcAft>
                <a:spcPts val="400"/>
              </a:spcAft>
            </a:pPr>
            <a:r>
              <a:rPr sz="1300" b="1">
                <a:solidFill>
                  <a:srgbClr val="E6EDF7"/>
                </a:solidFill>
                <a:latin typeface="Segoe UI"/>
              </a:rPr>
              <a:t>Mine the DEX</a:t>
            </a:r>
          </a:p>
        </p:txBody>
      </p:sp>
      <p:sp>
        <p:nvSpPr>
          <p:cNvPr id="16" name="TextBox 15"/>
          <p:cNvSpPr txBox="1"/>
          <p:nvPr/>
        </p:nvSpPr>
        <p:spPr>
          <a:xfrm>
            <a:off x="8229600" y="3675888"/>
            <a:ext cx="3291840" cy="548640"/>
          </a:xfrm>
          <a:prstGeom prst="rect">
            <a:avLst/>
          </a:prstGeom>
          <a:noFill/>
        </p:spPr>
        <p:txBody>
          <a:bodyPr wrap="square" anchor="t" lIns="0" rIns="0" tIns="0" bIns="0">
            <a:spAutoFit/>
          </a:bodyPr>
          <a:lstStyle/>
          <a:p>
            <a:pPr algn="l">
              <a:lnSpc>
                <a:spcPct val="120000"/>
              </a:lnSpc>
              <a:spcAft>
                <a:spcPts val="400"/>
              </a:spcAft>
            </a:pPr>
            <a:r>
              <a:rPr sz="1100" b="0">
                <a:solidFill>
                  <a:srgbClr val="8FA3C0"/>
                </a:solidFill>
                <a:latin typeface="Segoe UI"/>
              </a:rPr>
              <a:t>UPI handles, IFSC codes, accounts, C2 endpoints</a:t>
            </a:r>
          </a:p>
        </p:txBody>
      </p:sp>
      <p:sp>
        <p:nvSpPr>
          <p:cNvPr id="17" name="TextBox 16"/>
          <p:cNvSpPr txBox="1"/>
          <p:nvPr/>
        </p:nvSpPr>
        <p:spPr>
          <a:xfrm>
            <a:off x="7818120" y="4169664"/>
            <a:ext cx="320040" cy="274320"/>
          </a:xfrm>
          <a:prstGeom prst="rect">
            <a:avLst/>
          </a:prstGeom>
          <a:noFill/>
        </p:spPr>
        <p:txBody>
          <a:bodyPr wrap="square" anchor="t" lIns="0" rIns="0" tIns="0" bIns="0">
            <a:spAutoFit/>
          </a:bodyPr>
          <a:lstStyle/>
          <a:p>
            <a:pPr algn="l">
              <a:lnSpc>
                <a:spcPct val="115000"/>
              </a:lnSpc>
              <a:spcAft>
                <a:spcPts val="400"/>
              </a:spcAft>
            </a:pPr>
            <a:r>
              <a:rPr sz="1500" b="1">
                <a:solidFill>
                  <a:srgbClr val="7D5CFF"/>
                </a:solidFill>
                <a:latin typeface="Consolas"/>
              </a:rPr>
              <a:t>4</a:t>
            </a:r>
          </a:p>
        </p:txBody>
      </p:sp>
      <p:sp>
        <p:nvSpPr>
          <p:cNvPr id="18" name="TextBox 17"/>
          <p:cNvSpPr txBox="1"/>
          <p:nvPr/>
        </p:nvSpPr>
        <p:spPr>
          <a:xfrm>
            <a:off x="8229600" y="4169664"/>
            <a:ext cx="3291840" cy="274320"/>
          </a:xfrm>
          <a:prstGeom prst="rect">
            <a:avLst/>
          </a:prstGeom>
          <a:noFill/>
        </p:spPr>
        <p:txBody>
          <a:bodyPr wrap="square" anchor="t" lIns="0" rIns="0" tIns="0" bIns="0">
            <a:spAutoFit/>
          </a:bodyPr>
          <a:lstStyle/>
          <a:p>
            <a:pPr algn="l">
              <a:lnSpc>
                <a:spcPct val="115000"/>
              </a:lnSpc>
              <a:spcAft>
                <a:spcPts val="400"/>
              </a:spcAft>
            </a:pPr>
            <a:r>
              <a:rPr sz="1300" b="1">
                <a:solidFill>
                  <a:srgbClr val="E6EDF7"/>
                </a:solidFill>
                <a:latin typeface="Segoe UI"/>
              </a:rPr>
              <a:t>Hand off</a:t>
            </a:r>
          </a:p>
        </p:txBody>
      </p:sp>
      <p:sp>
        <p:nvSpPr>
          <p:cNvPr id="19" name="TextBox 18"/>
          <p:cNvSpPr txBox="1"/>
          <p:nvPr/>
        </p:nvSpPr>
        <p:spPr>
          <a:xfrm>
            <a:off x="8229600" y="4425696"/>
            <a:ext cx="3291840" cy="548640"/>
          </a:xfrm>
          <a:prstGeom prst="rect">
            <a:avLst/>
          </a:prstGeom>
          <a:noFill/>
        </p:spPr>
        <p:txBody>
          <a:bodyPr wrap="square" anchor="t" lIns="0" rIns="0" tIns="0" bIns="0">
            <a:spAutoFit/>
          </a:bodyPr>
          <a:lstStyle/>
          <a:p>
            <a:pPr algn="l">
              <a:lnSpc>
                <a:spcPct val="120000"/>
              </a:lnSpc>
              <a:spcAft>
                <a:spcPts val="400"/>
              </a:spcAft>
            </a:pPr>
            <a:r>
              <a:rPr sz="1100" b="0">
                <a:solidFill>
                  <a:srgbClr val="8FA3C0"/>
                </a:solidFill>
                <a:latin typeface="Segoe UI"/>
              </a:rPr>
              <a:t>identifiers become weighted nodes in the fraud graph</a:t>
            </a:r>
          </a:p>
        </p:txBody>
      </p:sp>
      <p:sp>
        <p:nvSpPr>
          <p:cNvPr id="20" name="TextBox 19"/>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21" name="TextBox 20"/>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3"/>
              </a:rPr>
              <a:t>github.com/archirajpoot/Bodhi_Mule_Hunter</a:t>
            </a:r>
            <a:r>
              <a:rPr sz="950">
                <a:solidFill>
                  <a:srgbClr val="61708A"/>
                </a:solidFill>
                <a:latin typeface="Consolas"/>
              </a:rPr>
              <a:t>   ·   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DEPLOYMENT</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How it fits a real bank</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The split between scheduled graph work and the inline path is what makes a UPI-latency decision possible at all.</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148840"/>
            <a:ext cx="2514600" cy="1371600"/>
          </a:xfrm>
          <a:prstGeom prst="roundRect">
            <a:avLst>
              <a:gd name="adj" fmla="val 4000"/>
            </a:avLst>
          </a:prstGeom>
          <a:solidFill>
            <a:srgbClr val="182031"/>
          </a:solidFill>
          <a:ln w="952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2148840" cy="548640"/>
          </a:xfrm>
          <a:prstGeom prst="rect">
            <a:avLst/>
          </a:prstGeom>
          <a:noFill/>
        </p:spPr>
        <p:txBody>
          <a:bodyPr wrap="square" anchor="t" lIns="0" rIns="0" tIns="0" bIns="0">
            <a:spAutoFit/>
          </a:bodyPr>
          <a:lstStyle/>
          <a:p>
            <a:pPr algn="ctr">
              <a:lnSpc>
                <a:spcPct val="120000"/>
              </a:lnSpc>
              <a:spcAft>
                <a:spcPts val="400"/>
              </a:spcAft>
            </a:pPr>
            <a:r>
              <a:rPr sz="1300" b="1">
                <a:solidFill>
                  <a:srgbClr val="E6EDF7"/>
                </a:solidFill>
                <a:latin typeface="Segoe UI"/>
              </a:rPr>
              <a:t>Core banking / switch</a:t>
            </a:r>
          </a:p>
        </p:txBody>
      </p:sp>
      <p:sp>
        <p:nvSpPr>
          <p:cNvPr id="9" name="TextBox 8"/>
          <p:cNvSpPr txBox="1"/>
          <p:nvPr/>
        </p:nvSpPr>
        <p:spPr>
          <a:xfrm>
            <a:off x="822960" y="3081528"/>
            <a:ext cx="2148840" cy="365760"/>
          </a:xfrm>
          <a:prstGeom prst="rect">
            <a:avLst/>
          </a:prstGeom>
          <a:noFill/>
        </p:spPr>
        <p:txBody>
          <a:bodyPr wrap="square" anchor="t" lIns="0" rIns="0" tIns="0" bIns="0">
            <a:spAutoFit/>
          </a:bodyPr>
          <a:lstStyle/>
          <a:p>
            <a:pPr algn="ctr">
              <a:lnSpc>
                <a:spcPct val="115000"/>
              </a:lnSpc>
              <a:spcAft>
                <a:spcPts val="400"/>
              </a:spcAft>
            </a:pPr>
            <a:r>
              <a:rPr sz="1050" b="0">
                <a:solidFill>
                  <a:srgbClr val="8FA3C0"/>
                </a:solidFill>
                <a:latin typeface="Segoe UI"/>
              </a:rPr>
              <a:t>Kafka event stream</a:t>
            </a:r>
          </a:p>
        </p:txBody>
      </p:sp>
      <p:sp>
        <p:nvSpPr>
          <p:cNvPr id="10" name="Rounded Rectangle 9"/>
          <p:cNvSpPr/>
          <p:nvPr/>
        </p:nvSpPr>
        <p:spPr>
          <a:xfrm>
            <a:off x="3520440" y="2148840"/>
            <a:ext cx="2514600" cy="1371600"/>
          </a:xfrm>
          <a:prstGeom prst="roundRect">
            <a:avLst>
              <a:gd name="adj" fmla="val 4000"/>
            </a:avLst>
          </a:prstGeom>
          <a:solidFill>
            <a:srgbClr val="182031"/>
          </a:solidFill>
          <a:ln w="9525">
            <a:solidFill>
              <a:srgbClr val="4DA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2377440"/>
            <a:ext cx="2148840" cy="548640"/>
          </a:xfrm>
          <a:prstGeom prst="rect">
            <a:avLst/>
          </a:prstGeom>
          <a:noFill/>
        </p:spPr>
        <p:txBody>
          <a:bodyPr wrap="square" anchor="t" lIns="0" rIns="0" tIns="0" bIns="0">
            <a:spAutoFit/>
          </a:bodyPr>
          <a:lstStyle/>
          <a:p>
            <a:pPr algn="ctr">
              <a:lnSpc>
                <a:spcPct val="120000"/>
              </a:lnSpc>
              <a:spcAft>
                <a:spcPts val="400"/>
              </a:spcAft>
            </a:pPr>
            <a:r>
              <a:rPr sz="1300" b="1">
                <a:solidFill>
                  <a:srgbClr val="E6EDF7"/>
                </a:solidFill>
                <a:latin typeface="Segoe UI"/>
              </a:rPr>
              <a:t>L1–L2 streaming features</a:t>
            </a:r>
          </a:p>
        </p:txBody>
      </p:sp>
      <p:sp>
        <p:nvSpPr>
          <p:cNvPr id="12" name="TextBox 11"/>
          <p:cNvSpPr txBox="1"/>
          <p:nvPr/>
        </p:nvSpPr>
        <p:spPr>
          <a:xfrm>
            <a:off x="3703320" y="3081528"/>
            <a:ext cx="2148840" cy="365760"/>
          </a:xfrm>
          <a:prstGeom prst="rect">
            <a:avLst/>
          </a:prstGeom>
          <a:noFill/>
        </p:spPr>
        <p:txBody>
          <a:bodyPr wrap="square" anchor="t" lIns="0" rIns="0" tIns="0" bIns="0">
            <a:spAutoFit/>
          </a:bodyPr>
          <a:lstStyle/>
          <a:p>
            <a:pPr algn="ctr">
              <a:lnSpc>
                <a:spcPct val="115000"/>
              </a:lnSpc>
              <a:spcAft>
                <a:spcPts val="400"/>
              </a:spcAft>
            </a:pPr>
            <a:r>
              <a:rPr sz="1050" b="0">
                <a:solidFill>
                  <a:srgbClr val="8FA3C0"/>
                </a:solidFill>
                <a:latin typeface="Segoe UI"/>
              </a:rPr>
              <a:t>feature store</a:t>
            </a:r>
          </a:p>
        </p:txBody>
      </p:sp>
      <p:sp>
        <p:nvSpPr>
          <p:cNvPr id="13" name="Rounded Rectangle 12"/>
          <p:cNvSpPr/>
          <p:nvPr/>
        </p:nvSpPr>
        <p:spPr>
          <a:xfrm>
            <a:off x="6400800" y="2148840"/>
            <a:ext cx="2514600" cy="1371600"/>
          </a:xfrm>
          <a:prstGeom prst="roundRect">
            <a:avLst>
              <a:gd name="adj" fmla="val 4000"/>
            </a:avLst>
          </a:prstGeom>
          <a:solidFill>
            <a:srgbClr val="182031"/>
          </a:solidFill>
          <a:ln w="9525">
            <a:solidFill>
              <a:srgbClr val="7D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377440"/>
            <a:ext cx="2148840" cy="548640"/>
          </a:xfrm>
          <a:prstGeom prst="rect">
            <a:avLst/>
          </a:prstGeom>
          <a:noFill/>
        </p:spPr>
        <p:txBody>
          <a:bodyPr wrap="square" anchor="t" lIns="0" rIns="0" tIns="0" bIns="0">
            <a:spAutoFit/>
          </a:bodyPr>
          <a:lstStyle/>
          <a:p>
            <a:pPr algn="ctr">
              <a:lnSpc>
                <a:spcPct val="120000"/>
              </a:lnSpc>
              <a:spcAft>
                <a:spcPts val="400"/>
              </a:spcAft>
            </a:pPr>
            <a:r>
              <a:rPr sz="1300" b="1">
                <a:solidFill>
                  <a:srgbClr val="E6EDF7"/>
                </a:solidFill>
                <a:latin typeface="Segoe UI"/>
              </a:rPr>
              <a:t>L3/L5/L6 batch
(scheduled)</a:t>
            </a:r>
          </a:p>
        </p:txBody>
      </p:sp>
      <p:sp>
        <p:nvSpPr>
          <p:cNvPr id="15" name="TextBox 14"/>
          <p:cNvSpPr txBox="1"/>
          <p:nvPr/>
        </p:nvSpPr>
        <p:spPr>
          <a:xfrm>
            <a:off x="6583680" y="3081528"/>
            <a:ext cx="2148840" cy="365760"/>
          </a:xfrm>
          <a:prstGeom prst="rect">
            <a:avLst/>
          </a:prstGeom>
          <a:noFill/>
        </p:spPr>
        <p:txBody>
          <a:bodyPr wrap="square" anchor="t" lIns="0" rIns="0" tIns="0" bIns="0">
            <a:spAutoFit/>
          </a:bodyPr>
          <a:lstStyle/>
          <a:p>
            <a:pPr algn="ctr">
              <a:lnSpc>
                <a:spcPct val="115000"/>
              </a:lnSpc>
              <a:spcAft>
                <a:spcPts val="400"/>
              </a:spcAft>
            </a:pPr>
            <a:r>
              <a:rPr sz="1050" b="0">
                <a:solidFill>
                  <a:srgbClr val="8FA3C0"/>
                </a:solidFill>
                <a:latin typeface="Segoe UI"/>
              </a:rPr>
              <a:t>standing risk cache</a:t>
            </a:r>
          </a:p>
        </p:txBody>
      </p:sp>
      <p:sp>
        <p:nvSpPr>
          <p:cNvPr id="16" name="Rounded Rectangle 15"/>
          <p:cNvSpPr/>
          <p:nvPr/>
        </p:nvSpPr>
        <p:spPr>
          <a:xfrm>
            <a:off x="9281160" y="2148840"/>
            <a:ext cx="2514600" cy="1371600"/>
          </a:xfrm>
          <a:prstGeom prst="roundRect">
            <a:avLst>
              <a:gd name="adj" fmla="val 4000"/>
            </a:avLst>
          </a:prstGeom>
          <a:solidFill>
            <a:srgbClr val="182031"/>
          </a:solidFill>
          <a:ln w="9525">
            <a:solidFill>
              <a:srgbClr val="2EC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4040" y="2377440"/>
            <a:ext cx="2148840" cy="548640"/>
          </a:xfrm>
          <a:prstGeom prst="rect">
            <a:avLst/>
          </a:prstGeom>
          <a:noFill/>
        </p:spPr>
        <p:txBody>
          <a:bodyPr wrap="square" anchor="t" lIns="0" rIns="0" tIns="0" bIns="0">
            <a:spAutoFit/>
          </a:bodyPr>
          <a:lstStyle/>
          <a:p>
            <a:pPr algn="ctr">
              <a:lnSpc>
                <a:spcPct val="120000"/>
              </a:lnSpc>
              <a:spcAft>
                <a:spcPts val="400"/>
              </a:spcAft>
            </a:pPr>
            <a:r>
              <a:rPr sz="1300" b="1">
                <a:solidFill>
                  <a:srgbClr val="E6EDF7"/>
                </a:solidFill>
                <a:latin typeface="Segoe UI"/>
              </a:rPr>
              <a:t>Inline decision
&lt; 0.1 ms</a:t>
            </a:r>
          </a:p>
        </p:txBody>
      </p:sp>
      <p:sp>
        <p:nvSpPr>
          <p:cNvPr id="18" name="TextBox 17"/>
          <p:cNvSpPr txBox="1"/>
          <p:nvPr/>
        </p:nvSpPr>
        <p:spPr>
          <a:xfrm>
            <a:off x="9464040" y="3081528"/>
            <a:ext cx="2148840" cy="365760"/>
          </a:xfrm>
          <a:prstGeom prst="rect">
            <a:avLst/>
          </a:prstGeom>
          <a:noFill/>
        </p:spPr>
        <p:txBody>
          <a:bodyPr wrap="square" anchor="t" lIns="0" rIns="0" tIns="0" bIns="0">
            <a:spAutoFit/>
          </a:bodyPr>
          <a:lstStyle/>
          <a:p>
            <a:pPr algn="ctr">
              <a:lnSpc>
                <a:spcPct val="115000"/>
              </a:lnSpc>
              <a:spcAft>
                <a:spcPts val="400"/>
              </a:spcAft>
            </a:pPr>
            <a:r>
              <a:rPr sz="1050" b="0">
                <a:solidFill>
                  <a:srgbClr val="8FA3C0"/>
                </a:solidFill>
                <a:latin typeface="Segoe UI"/>
              </a:rPr>
              <a:t>ALLOW · REVIEW · HOLD · BLOCK</a:t>
            </a:r>
          </a:p>
        </p:txBody>
      </p:sp>
      <p:sp>
        <p:nvSpPr>
          <p:cNvPr id="19" name="TextBox 18"/>
          <p:cNvSpPr txBox="1"/>
          <p:nvPr/>
        </p:nvSpPr>
        <p:spPr>
          <a:xfrm>
            <a:off x="640080" y="4114800"/>
            <a:ext cx="5029200" cy="274320"/>
          </a:xfrm>
          <a:prstGeom prst="rect">
            <a:avLst/>
          </a:prstGeom>
          <a:noFill/>
        </p:spPr>
        <p:txBody>
          <a:bodyPr wrap="square" anchor="t" lIns="0" rIns="0" tIns="0" bIns="0">
            <a:spAutoFit/>
          </a:bodyPr>
          <a:lstStyle/>
          <a:p>
            <a:pPr algn="l">
              <a:lnSpc>
                <a:spcPct val="115000"/>
              </a:lnSpc>
              <a:spcAft>
                <a:spcPts val="400"/>
              </a:spcAft>
            </a:pPr>
            <a:r>
              <a:rPr sz="1000" b="1">
                <a:solidFill>
                  <a:srgbClr val="61708A"/>
                </a:solidFill>
                <a:latin typeface="Segoe UI"/>
              </a:rPr>
              <a:t>MEASURED PERFORMANCE</a:t>
            </a:r>
          </a:p>
        </p:txBody>
      </p:sp>
      <p:sp>
        <p:nvSpPr>
          <p:cNvPr id="20" name="TextBox 19"/>
          <p:cNvSpPr txBox="1"/>
          <p:nvPr/>
        </p:nvSpPr>
        <p:spPr>
          <a:xfrm>
            <a:off x="640080" y="4462272"/>
            <a:ext cx="3291840" cy="274320"/>
          </a:xfrm>
          <a:prstGeom prst="rect">
            <a:avLst/>
          </a:prstGeom>
          <a:noFill/>
        </p:spPr>
        <p:txBody>
          <a:bodyPr wrap="square" anchor="t" lIns="0" rIns="0" tIns="0" bIns="0">
            <a:spAutoFit/>
          </a:bodyPr>
          <a:lstStyle/>
          <a:p>
            <a:pPr algn="l">
              <a:lnSpc>
                <a:spcPct val="115000"/>
              </a:lnSpc>
              <a:spcAft>
                <a:spcPts val="400"/>
              </a:spcAft>
            </a:pPr>
            <a:r>
              <a:rPr sz="1250" b="0">
                <a:solidFill>
                  <a:srgbClr val="8FA3C0"/>
                </a:solidFill>
                <a:latin typeface="Segoe UI"/>
              </a:rPr>
              <a:t>Simulate the bank</a:t>
            </a:r>
          </a:p>
        </p:txBody>
      </p:sp>
      <p:sp>
        <p:nvSpPr>
          <p:cNvPr id="21" name="TextBox 20"/>
          <p:cNvSpPr txBox="1"/>
          <p:nvPr/>
        </p:nvSpPr>
        <p:spPr>
          <a:xfrm>
            <a:off x="3931920" y="4462272"/>
            <a:ext cx="1463040" cy="274320"/>
          </a:xfrm>
          <a:prstGeom prst="rect">
            <a:avLst/>
          </a:prstGeom>
          <a:noFill/>
        </p:spPr>
        <p:txBody>
          <a:bodyPr wrap="square" anchor="t" lIns="0" rIns="0" tIns="0" bIns="0">
            <a:spAutoFit/>
          </a:bodyPr>
          <a:lstStyle/>
          <a:p>
            <a:pPr algn="r">
              <a:lnSpc>
                <a:spcPct val="115000"/>
              </a:lnSpc>
              <a:spcAft>
                <a:spcPts val="400"/>
              </a:spcAft>
            </a:pPr>
            <a:r>
              <a:rPr sz="1250" b="1">
                <a:solidFill>
                  <a:srgbClr val="E6EDF7"/>
                </a:solidFill>
                <a:latin typeface="Consolas"/>
              </a:rPr>
              <a:t>7 s</a:t>
            </a:r>
          </a:p>
        </p:txBody>
      </p:sp>
      <p:sp>
        <p:nvSpPr>
          <p:cNvPr id="22" name="TextBox 21"/>
          <p:cNvSpPr txBox="1"/>
          <p:nvPr/>
        </p:nvSpPr>
        <p:spPr>
          <a:xfrm>
            <a:off x="640080" y="4764024"/>
            <a:ext cx="3291840" cy="274320"/>
          </a:xfrm>
          <a:prstGeom prst="rect">
            <a:avLst/>
          </a:prstGeom>
          <a:noFill/>
        </p:spPr>
        <p:txBody>
          <a:bodyPr wrap="square" anchor="t" lIns="0" rIns="0" tIns="0" bIns="0">
            <a:spAutoFit/>
          </a:bodyPr>
          <a:lstStyle/>
          <a:p>
            <a:pPr algn="l">
              <a:lnSpc>
                <a:spcPct val="115000"/>
              </a:lnSpc>
              <a:spcAft>
                <a:spcPts val="400"/>
              </a:spcAft>
            </a:pPr>
            <a:r>
              <a:rPr sz="1250" b="0">
                <a:solidFill>
                  <a:srgbClr val="8FA3C0"/>
                </a:solidFill>
                <a:latin typeface="Segoe UI"/>
              </a:rPr>
              <a:t>Feature engineering</a:t>
            </a:r>
          </a:p>
        </p:txBody>
      </p:sp>
      <p:sp>
        <p:nvSpPr>
          <p:cNvPr id="23" name="TextBox 22"/>
          <p:cNvSpPr txBox="1"/>
          <p:nvPr/>
        </p:nvSpPr>
        <p:spPr>
          <a:xfrm>
            <a:off x="3931920" y="4764024"/>
            <a:ext cx="1463040" cy="274320"/>
          </a:xfrm>
          <a:prstGeom prst="rect">
            <a:avLst/>
          </a:prstGeom>
          <a:noFill/>
        </p:spPr>
        <p:txBody>
          <a:bodyPr wrap="square" anchor="t" lIns="0" rIns="0" tIns="0" bIns="0">
            <a:spAutoFit/>
          </a:bodyPr>
          <a:lstStyle/>
          <a:p>
            <a:pPr algn="r">
              <a:lnSpc>
                <a:spcPct val="115000"/>
              </a:lnSpc>
              <a:spcAft>
                <a:spcPts val="400"/>
              </a:spcAft>
            </a:pPr>
            <a:r>
              <a:rPr sz="1250" b="1">
                <a:solidFill>
                  <a:srgbClr val="E6EDF7"/>
                </a:solidFill>
                <a:latin typeface="Consolas"/>
              </a:rPr>
              <a:t>~4 s</a:t>
            </a:r>
          </a:p>
        </p:txBody>
      </p:sp>
      <p:sp>
        <p:nvSpPr>
          <p:cNvPr id="24" name="TextBox 23"/>
          <p:cNvSpPr txBox="1"/>
          <p:nvPr/>
        </p:nvSpPr>
        <p:spPr>
          <a:xfrm>
            <a:off x="640080" y="5065776"/>
            <a:ext cx="3291840" cy="274320"/>
          </a:xfrm>
          <a:prstGeom prst="rect">
            <a:avLst/>
          </a:prstGeom>
          <a:noFill/>
        </p:spPr>
        <p:txBody>
          <a:bodyPr wrap="square" anchor="t" lIns="0" rIns="0" tIns="0" bIns="0">
            <a:spAutoFit/>
          </a:bodyPr>
          <a:lstStyle/>
          <a:p>
            <a:pPr algn="l">
              <a:lnSpc>
                <a:spcPct val="115000"/>
              </a:lnSpc>
              <a:spcAft>
                <a:spcPts val="400"/>
              </a:spcAft>
            </a:pPr>
            <a:r>
              <a:rPr sz="1250" b="0">
                <a:solidFill>
                  <a:srgbClr val="8FA3C0"/>
                </a:solidFill>
                <a:latin typeface="Segoe UI"/>
              </a:rPr>
              <a:t>Graph construction</a:t>
            </a:r>
          </a:p>
        </p:txBody>
      </p:sp>
      <p:sp>
        <p:nvSpPr>
          <p:cNvPr id="25" name="TextBox 24"/>
          <p:cNvSpPr txBox="1"/>
          <p:nvPr/>
        </p:nvSpPr>
        <p:spPr>
          <a:xfrm>
            <a:off x="3931920" y="5065776"/>
            <a:ext cx="1463040" cy="274320"/>
          </a:xfrm>
          <a:prstGeom prst="rect">
            <a:avLst/>
          </a:prstGeom>
          <a:noFill/>
        </p:spPr>
        <p:txBody>
          <a:bodyPr wrap="square" anchor="t" lIns="0" rIns="0" tIns="0" bIns="0">
            <a:spAutoFit/>
          </a:bodyPr>
          <a:lstStyle/>
          <a:p>
            <a:pPr algn="r">
              <a:lnSpc>
                <a:spcPct val="115000"/>
              </a:lnSpc>
              <a:spcAft>
                <a:spcPts val="400"/>
              </a:spcAft>
            </a:pPr>
            <a:r>
              <a:rPr sz="1250" b="1">
                <a:solidFill>
                  <a:srgbClr val="E6EDF7"/>
                </a:solidFill>
                <a:latin typeface="Consolas"/>
              </a:rPr>
              <a:t>~3 s</a:t>
            </a:r>
          </a:p>
        </p:txBody>
      </p:sp>
      <p:sp>
        <p:nvSpPr>
          <p:cNvPr id="26" name="TextBox 25"/>
          <p:cNvSpPr txBox="1"/>
          <p:nvPr/>
        </p:nvSpPr>
        <p:spPr>
          <a:xfrm>
            <a:off x="640080" y="5367528"/>
            <a:ext cx="3291840" cy="274320"/>
          </a:xfrm>
          <a:prstGeom prst="rect">
            <a:avLst/>
          </a:prstGeom>
          <a:noFill/>
        </p:spPr>
        <p:txBody>
          <a:bodyPr wrap="square" anchor="t" lIns="0" rIns="0" tIns="0" bIns="0">
            <a:spAutoFit/>
          </a:bodyPr>
          <a:lstStyle/>
          <a:p>
            <a:pPr algn="l">
              <a:lnSpc>
                <a:spcPct val="115000"/>
              </a:lnSpc>
              <a:spcAft>
                <a:spcPts val="400"/>
              </a:spcAft>
            </a:pPr>
            <a:r>
              <a:rPr sz="1250" b="0">
                <a:solidFill>
                  <a:srgbClr val="8FA3C0"/>
                </a:solidFill>
                <a:latin typeface="Segoe UI"/>
              </a:rPr>
              <a:t>Full training, all layers</a:t>
            </a:r>
          </a:p>
        </p:txBody>
      </p:sp>
      <p:sp>
        <p:nvSpPr>
          <p:cNvPr id="27" name="TextBox 26"/>
          <p:cNvSpPr txBox="1"/>
          <p:nvPr/>
        </p:nvSpPr>
        <p:spPr>
          <a:xfrm>
            <a:off x="3931920" y="5367528"/>
            <a:ext cx="1463040" cy="274320"/>
          </a:xfrm>
          <a:prstGeom prst="rect">
            <a:avLst/>
          </a:prstGeom>
          <a:noFill/>
        </p:spPr>
        <p:txBody>
          <a:bodyPr wrap="square" anchor="t" lIns="0" rIns="0" tIns="0" bIns="0">
            <a:spAutoFit/>
          </a:bodyPr>
          <a:lstStyle/>
          <a:p>
            <a:pPr algn="r">
              <a:lnSpc>
                <a:spcPct val="115000"/>
              </a:lnSpc>
              <a:spcAft>
                <a:spcPts val="400"/>
              </a:spcAft>
            </a:pPr>
            <a:r>
              <a:rPr sz="1250" b="1">
                <a:solidFill>
                  <a:srgbClr val="E6EDF7"/>
                </a:solidFill>
                <a:latin typeface="Consolas"/>
              </a:rPr>
              <a:t>~123 s</a:t>
            </a:r>
          </a:p>
        </p:txBody>
      </p:sp>
      <p:sp>
        <p:nvSpPr>
          <p:cNvPr id="28" name="TextBox 27"/>
          <p:cNvSpPr txBox="1"/>
          <p:nvPr/>
        </p:nvSpPr>
        <p:spPr>
          <a:xfrm>
            <a:off x="640080" y="5669280"/>
            <a:ext cx="3291840" cy="274320"/>
          </a:xfrm>
          <a:prstGeom prst="rect">
            <a:avLst/>
          </a:prstGeom>
          <a:noFill/>
        </p:spPr>
        <p:txBody>
          <a:bodyPr wrap="square" anchor="t" lIns="0" rIns="0" tIns="0" bIns="0">
            <a:spAutoFit/>
          </a:bodyPr>
          <a:lstStyle/>
          <a:p>
            <a:pPr algn="l">
              <a:lnSpc>
                <a:spcPct val="115000"/>
              </a:lnSpc>
              <a:spcAft>
                <a:spcPts val="400"/>
              </a:spcAft>
            </a:pPr>
            <a:r>
              <a:rPr sz="1250" b="0">
                <a:solidFill>
                  <a:srgbClr val="8FA3C0"/>
                </a:solidFill>
                <a:latin typeface="Segoe UI"/>
              </a:rPr>
              <a:t>Full population re-score</a:t>
            </a:r>
          </a:p>
        </p:txBody>
      </p:sp>
      <p:sp>
        <p:nvSpPr>
          <p:cNvPr id="29" name="TextBox 28"/>
          <p:cNvSpPr txBox="1"/>
          <p:nvPr/>
        </p:nvSpPr>
        <p:spPr>
          <a:xfrm>
            <a:off x="3931920" y="5669280"/>
            <a:ext cx="1463040" cy="274320"/>
          </a:xfrm>
          <a:prstGeom prst="rect">
            <a:avLst/>
          </a:prstGeom>
          <a:noFill/>
        </p:spPr>
        <p:txBody>
          <a:bodyPr wrap="square" anchor="t" lIns="0" rIns="0" tIns="0" bIns="0">
            <a:spAutoFit/>
          </a:bodyPr>
          <a:lstStyle/>
          <a:p>
            <a:pPr algn="r">
              <a:lnSpc>
                <a:spcPct val="115000"/>
              </a:lnSpc>
              <a:spcAft>
                <a:spcPts val="400"/>
              </a:spcAft>
            </a:pPr>
            <a:r>
              <a:rPr sz="1250" b="1">
                <a:solidFill>
                  <a:srgbClr val="E6EDF7"/>
                </a:solidFill>
                <a:latin typeface="Consolas"/>
              </a:rPr>
              <a:t>~38 s</a:t>
            </a:r>
          </a:p>
        </p:txBody>
      </p:sp>
      <p:sp>
        <p:nvSpPr>
          <p:cNvPr id="30" name="TextBox 29"/>
          <p:cNvSpPr txBox="1"/>
          <p:nvPr/>
        </p:nvSpPr>
        <p:spPr>
          <a:xfrm>
            <a:off x="640080" y="5971032"/>
            <a:ext cx="3291840" cy="274320"/>
          </a:xfrm>
          <a:prstGeom prst="rect">
            <a:avLst/>
          </a:prstGeom>
          <a:noFill/>
        </p:spPr>
        <p:txBody>
          <a:bodyPr wrap="square" anchor="t" lIns="0" rIns="0" tIns="0" bIns="0">
            <a:spAutoFit/>
          </a:bodyPr>
          <a:lstStyle/>
          <a:p>
            <a:pPr algn="l">
              <a:lnSpc>
                <a:spcPct val="115000"/>
              </a:lnSpc>
              <a:spcAft>
                <a:spcPts val="400"/>
              </a:spcAft>
            </a:pPr>
            <a:r>
              <a:rPr sz="1250" b="0">
                <a:solidFill>
                  <a:srgbClr val="8FA3C0"/>
                </a:solidFill>
                <a:latin typeface="Segoe UI"/>
              </a:rPr>
              <a:t>Inline decision (p50)</a:t>
            </a:r>
          </a:p>
        </p:txBody>
      </p:sp>
      <p:sp>
        <p:nvSpPr>
          <p:cNvPr id="31" name="TextBox 30"/>
          <p:cNvSpPr txBox="1"/>
          <p:nvPr/>
        </p:nvSpPr>
        <p:spPr>
          <a:xfrm>
            <a:off x="3931920" y="5971032"/>
            <a:ext cx="1463040" cy="274320"/>
          </a:xfrm>
          <a:prstGeom prst="rect">
            <a:avLst/>
          </a:prstGeom>
          <a:noFill/>
        </p:spPr>
        <p:txBody>
          <a:bodyPr wrap="square" anchor="t" lIns="0" rIns="0" tIns="0" bIns="0">
            <a:spAutoFit/>
          </a:bodyPr>
          <a:lstStyle/>
          <a:p>
            <a:pPr algn="r">
              <a:lnSpc>
                <a:spcPct val="115000"/>
              </a:lnSpc>
              <a:spcAft>
                <a:spcPts val="400"/>
              </a:spcAft>
            </a:pPr>
            <a:r>
              <a:rPr sz="1250" b="1">
                <a:solidFill>
                  <a:srgbClr val="E6EDF7"/>
                </a:solidFill>
                <a:latin typeface="Consolas"/>
              </a:rPr>
              <a:t>0.054 ms</a:t>
            </a:r>
          </a:p>
        </p:txBody>
      </p:sp>
      <p:sp>
        <p:nvSpPr>
          <p:cNvPr id="32" name="Rounded Rectangle 31"/>
          <p:cNvSpPr/>
          <p:nvPr/>
        </p:nvSpPr>
        <p:spPr>
          <a:xfrm>
            <a:off x="6035040" y="4114800"/>
            <a:ext cx="5486400" cy="196596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4315968"/>
            <a:ext cx="4937760" cy="274320"/>
          </a:xfrm>
          <a:prstGeom prst="rect">
            <a:avLst/>
          </a:prstGeom>
          <a:noFill/>
        </p:spPr>
        <p:txBody>
          <a:bodyPr wrap="square" anchor="t" lIns="0" rIns="0" tIns="0" bIns="0">
            <a:spAutoFit/>
          </a:bodyPr>
          <a:lstStyle/>
          <a:p>
            <a:pPr algn="l">
              <a:lnSpc>
                <a:spcPct val="115000"/>
              </a:lnSpc>
              <a:spcAft>
                <a:spcPts val="400"/>
              </a:spcAft>
            </a:pPr>
            <a:r>
              <a:rPr sz="1000" b="1">
                <a:solidFill>
                  <a:srgbClr val="61708A"/>
                </a:solidFill>
                <a:latin typeface="Segoe UI"/>
              </a:rPr>
              <a:t>WHY THIS SPLIT</a:t>
            </a:r>
          </a:p>
        </p:txBody>
      </p:sp>
      <p:sp>
        <p:nvSpPr>
          <p:cNvPr id="34" name="TextBox 33"/>
          <p:cNvSpPr txBox="1"/>
          <p:nvPr/>
        </p:nvSpPr>
        <p:spPr>
          <a:xfrm>
            <a:off x="6309360" y="4663440"/>
            <a:ext cx="4937760" cy="1280160"/>
          </a:xfrm>
          <a:prstGeom prst="rect">
            <a:avLst/>
          </a:prstGeom>
          <a:noFill/>
        </p:spPr>
        <p:txBody>
          <a:bodyPr wrap="square" anchor="t" lIns="0" rIns="0" tIns="0" bIns="0">
            <a:spAutoFit/>
          </a:bodyPr>
          <a:lstStyle/>
          <a:p>
            <a:pPr algn="l">
              <a:lnSpc>
                <a:spcPct val="130000"/>
              </a:lnSpc>
              <a:spcAft>
                <a:spcPts val="400"/>
              </a:spcAft>
            </a:pPr>
            <a:r>
              <a:rPr sz="1250" b="0">
                <a:solidFill>
                  <a:srgbClr val="8FA3C0"/>
                </a:solidFill>
                <a:latin typeface="Segoe UI"/>
              </a:rPr>
              <a:t>The graph and temporal layers run on a schedule and cache a standing risk per account. The authorisation path combines those cached scores with the transaction's own attributes and never traverses the graph — which is the only way a decision is feasible at payment latencies.</a:t>
            </a:r>
          </a:p>
        </p:txBody>
      </p:sp>
      <p:sp>
        <p:nvSpPr>
          <p:cNvPr id="35" name="TextBox 34"/>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36" name="TextBox 35"/>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2"/>
              </a:rPr>
              <a:t>github.com/archirajpoot/Bodhi_Mule_Hunter</a:t>
            </a:r>
            <a:r>
              <a:rPr sz="950">
                <a:solidFill>
                  <a:srgbClr val="61708A"/>
                </a:solidFill>
                <a:latin typeface="Consolas"/>
              </a:rPr>
              <a:t>   ·   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THEIR DATASET</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Built on the schema they published</a:t>
            </a:r>
          </a:p>
        </p:txBody>
      </p:sp>
      <p:sp>
        <p:nvSpPr>
          <p:cNvPr id="5" name="TextBox 4"/>
          <p:cNvSpPr txBox="1"/>
          <p:nvPr/>
        </p:nvSpPr>
        <p:spPr>
          <a:xfrm>
            <a:off x="640080" y="1298448"/>
            <a:ext cx="10881360" cy="457200"/>
          </a:xfrm>
          <a:prstGeom prst="rect">
            <a:avLst/>
          </a:prstGeom>
          <a:noFill/>
        </p:spPr>
        <p:txBody>
          <a:bodyPr wrap="square" anchor="t" lIns="0" rIns="0" tIns="0" bIns="0">
            <a:spAutoFit/>
          </a:bodyPr>
          <a:lstStyle/>
          <a:p>
            <a:pPr algn="l">
              <a:lnSpc>
                <a:spcPct val="125000"/>
              </a:lnSpc>
              <a:spcAft>
                <a:spcPts val="400"/>
              </a:spcAft>
            </a:pPr>
            <a:r>
              <a:rPr sz="1400" b="0">
                <a:solidFill>
                  <a:srgbClr val="8FA3C0"/>
                </a:solidFill>
                <a:latin typeface="Segoe UI"/>
              </a:rPr>
              <a:t>3,924 declared columns, one row per alert. The names are machine-generated from a grammar, so we parse them instead of treating them as opaque.</a:t>
            </a:r>
          </a:p>
        </p:txBody>
      </p:sp>
      <p:sp>
        <p:nvSpPr>
          <p:cNvPr id="6" name="Rectangle 5"/>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965960"/>
            <a:ext cx="5394960" cy="2240280"/>
          </a:xfrm>
          <a:prstGeom prst="roundRect">
            <a:avLst>
              <a:gd name="adj" fmla="val 4000"/>
            </a:avLst>
          </a:prstGeom>
          <a:solidFill>
            <a:srgbClr val="182031"/>
          </a:solidFill>
          <a:ln w="19050">
            <a:solidFill>
              <a:srgbClr val="FF4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4846320" cy="274320"/>
          </a:xfrm>
          <a:prstGeom prst="rect">
            <a:avLst/>
          </a:prstGeom>
          <a:noFill/>
        </p:spPr>
        <p:txBody>
          <a:bodyPr wrap="square" anchor="t" lIns="0" rIns="0" tIns="0" bIns="0">
            <a:spAutoFit/>
          </a:bodyPr>
          <a:lstStyle/>
          <a:p>
            <a:pPr algn="l">
              <a:lnSpc>
                <a:spcPct val="115000"/>
              </a:lnSpc>
              <a:spcAft>
                <a:spcPts val="400"/>
              </a:spcAft>
            </a:pPr>
            <a:r>
              <a:rPr sz="1100" b="1">
                <a:solidFill>
                  <a:srgbClr val="FF4D5E"/>
                </a:solidFill>
                <a:latin typeface="Segoe UI"/>
              </a:rPr>
              <a:t>FOUR COLUMNS LEAK THE LABEL</a:t>
            </a:r>
          </a:p>
        </p:txBody>
      </p:sp>
      <p:sp>
        <p:nvSpPr>
          <p:cNvPr id="9" name="TextBox 8"/>
          <p:cNvSpPr txBox="1"/>
          <p:nvPr/>
        </p:nvSpPr>
        <p:spPr>
          <a:xfrm>
            <a:off x="914400" y="2441448"/>
            <a:ext cx="4846320" cy="822960"/>
          </a:xfrm>
          <a:prstGeom prst="rect">
            <a:avLst/>
          </a:prstGeom>
          <a:noFill/>
        </p:spPr>
        <p:txBody>
          <a:bodyPr wrap="square" anchor="t" lIns="0" rIns="0" tIns="0" bIns="0">
            <a:spAutoFit/>
          </a:bodyPr>
          <a:lstStyle/>
          <a:p>
            <a:pPr algn="l">
              <a:lnSpc>
                <a:spcPct val="130000"/>
              </a:lnSpc>
              <a:spcAft>
                <a:spcPts val="400"/>
              </a:spcAft>
            </a:pPr>
            <a:r>
              <a:rPr sz="1250" b="0">
                <a:solidFill>
                  <a:srgbClr val="8FA3C0"/>
                </a:solidFill>
                <a:latin typeface="Segoe UI"/>
              </a:rPr>
              <a:t>FRAUD_SUSPECTED · FALSE_POSITIVE · OTHER_RESOLUTION · UNATTENDED are resolution-status flags — how an analyst closed the alert. An open alert has none of them.</a:t>
            </a:r>
          </a:p>
        </p:txBody>
      </p:sp>
      <p:sp>
        <p:nvSpPr>
          <p:cNvPr id="10" name="TextBox 9"/>
          <p:cNvSpPr txBox="1"/>
          <p:nvPr/>
        </p:nvSpPr>
        <p:spPr>
          <a:xfrm>
            <a:off x="914400" y="3319272"/>
            <a:ext cx="3566160" cy="292608"/>
          </a:xfrm>
          <a:prstGeom prst="rect">
            <a:avLst/>
          </a:prstGeom>
          <a:noFill/>
        </p:spPr>
        <p:txBody>
          <a:bodyPr wrap="square" anchor="t" lIns="0" rIns="0" tIns="0" bIns="0">
            <a:spAutoFit/>
          </a:bodyPr>
          <a:lstStyle/>
          <a:p>
            <a:pPr algn="l">
              <a:lnSpc>
                <a:spcPct val="115000"/>
              </a:lnSpc>
              <a:spcAft>
                <a:spcPts val="400"/>
              </a:spcAft>
            </a:pPr>
            <a:r>
              <a:rPr sz="1200" b="0">
                <a:solidFill>
                  <a:srgbClr val="8FA3C0"/>
                </a:solidFill>
                <a:latin typeface="Segoe UI"/>
              </a:rPr>
              <a:t>PR-AUC, quarantined (deployable)</a:t>
            </a:r>
          </a:p>
        </p:txBody>
      </p:sp>
      <p:sp>
        <p:nvSpPr>
          <p:cNvPr id="11" name="TextBox 10"/>
          <p:cNvSpPr txBox="1"/>
          <p:nvPr/>
        </p:nvSpPr>
        <p:spPr>
          <a:xfrm>
            <a:off x="4480560" y="3319272"/>
            <a:ext cx="1280160" cy="292608"/>
          </a:xfrm>
          <a:prstGeom prst="rect">
            <a:avLst/>
          </a:prstGeom>
          <a:noFill/>
        </p:spPr>
        <p:txBody>
          <a:bodyPr wrap="square" anchor="t" lIns="0" rIns="0" tIns="0" bIns="0">
            <a:spAutoFit/>
          </a:bodyPr>
          <a:lstStyle/>
          <a:p>
            <a:pPr algn="r">
              <a:lnSpc>
                <a:spcPct val="115000"/>
              </a:lnSpc>
              <a:spcAft>
                <a:spcPts val="400"/>
              </a:spcAft>
            </a:pPr>
            <a:r>
              <a:rPr sz="1600" b="1">
                <a:solidFill>
                  <a:srgbClr val="2ECC9B"/>
                </a:solidFill>
                <a:latin typeface="Consolas"/>
              </a:rPr>
              <a:t>0.177</a:t>
            </a:r>
          </a:p>
        </p:txBody>
      </p:sp>
      <p:sp>
        <p:nvSpPr>
          <p:cNvPr id="12" name="TextBox 11"/>
          <p:cNvSpPr txBox="1"/>
          <p:nvPr/>
        </p:nvSpPr>
        <p:spPr>
          <a:xfrm>
            <a:off x="914400" y="3666744"/>
            <a:ext cx="3566160" cy="292608"/>
          </a:xfrm>
          <a:prstGeom prst="rect">
            <a:avLst/>
          </a:prstGeom>
          <a:noFill/>
        </p:spPr>
        <p:txBody>
          <a:bodyPr wrap="square" anchor="t" lIns="0" rIns="0" tIns="0" bIns="0">
            <a:spAutoFit/>
          </a:bodyPr>
          <a:lstStyle/>
          <a:p>
            <a:pPr algn="l">
              <a:lnSpc>
                <a:spcPct val="115000"/>
              </a:lnSpc>
              <a:spcAft>
                <a:spcPts val="400"/>
              </a:spcAft>
            </a:pPr>
            <a:r>
              <a:rPr sz="1200" b="0">
                <a:solidFill>
                  <a:srgbClr val="8FA3C0"/>
                </a:solidFill>
                <a:latin typeface="Segoe UI"/>
              </a:rPr>
              <a:t>PR-AUC, resolution columns admitted</a:t>
            </a:r>
          </a:p>
        </p:txBody>
      </p:sp>
      <p:sp>
        <p:nvSpPr>
          <p:cNvPr id="13" name="TextBox 12"/>
          <p:cNvSpPr txBox="1"/>
          <p:nvPr/>
        </p:nvSpPr>
        <p:spPr>
          <a:xfrm>
            <a:off x="4480560" y="3666744"/>
            <a:ext cx="1280160" cy="292608"/>
          </a:xfrm>
          <a:prstGeom prst="rect">
            <a:avLst/>
          </a:prstGeom>
          <a:noFill/>
        </p:spPr>
        <p:txBody>
          <a:bodyPr wrap="square" anchor="t" lIns="0" rIns="0" tIns="0" bIns="0">
            <a:spAutoFit/>
          </a:bodyPr>
          <a:lstStyle/>
          <a:p>
            <a:pPr algn="r">
              <a:lnSpc>
                <a:spcPct val="115000"/>
              </a:lnSpc>
              <a:spcAft>
                <a:spcPts val="400"/>
              </a:spcAft>
            </a:pPr>
            <a:r>
              <a:rPr sz="1600" b="1">
                <a:solidFill>
                  <a:srgbClr val="FF4D5E"/>
                </a:solidFill>
                <a:latin typeface="Consolas"/>
              </a:rPr>
              <a:t>0.972</a:t>
            </a:r>
          </a:p>
        </p:txBody>
      </p:sp>
      <p:sp>
        <p:nvSpPr>
          <p:cNvPr id="14" name="TextBox 13"/>
          <p:cNvSpPr txBox="1"/>
          <p:nvPr/>
        </p:nvSpPr>
        <p:spPr>
          <a:xfrm>
            <a:off x="6400800" y="1965960"/>
            <a:ext cx="5120640" cy="274320"/>
          </a:xfrm>
          <a:prstGeom prst="rect">
            <a:avLst/>
          </a:prstGeom>
          <a:noFill/>
        </p:spPr>
        <p:txBody>
          <a:bodyPr wrap="square" anchor="t" lIns="0" rIns="0" tIns="0" bIns="0">
            <a:spAutoFit/>
          </a:bodyPr>
          <a:lstStyle/>
          <a:p>
            <a:pPr algn="l">
              <a:lnSpc>
                <a:spcPct val="115000"/>
              </a:lnSpc>
              <a:spcAft>
                <a:spcPts val="400"/>
              </a:spcAft>
            </a:pPr>
            <a:r>
              <a:rPr sz="1100" b="1">
                <a:solidFill>
                  <a:srgbClr val="61708A"/>
                </a:solidFill>
                <a:latin typeface="Segoe UI"/>
              </a:rPr>
              <a:t>FOUR STRATEGIES, SELECTION INSIDE EVERY FOLD</a:t>
            </a:r>
          </a:p>
        </p:txBody>
      </p:sp>
      <p:sp>
        <p:nvSpPr>
          <p:cNvPr id="15" name="TextBox 14"/>
          <p:cNvSpPr txBox="1"/>
          <p:nvPr/>
        </p:nvSpPr>
        <p:spPr>
          <a:xfrm>
            <a:off x="6400800" y="2313432"/>
            <a:ext cx="2103120" cy="274320"/>
          </a:xfrm>
          <a:prstGeom prst="rect">
            <a:avLst/>
          </a:prstGeom>
          <a:noFill/>
        </p:spPr>
        <p:txBody>
          <a:bodyPr wrap="square" anchor="t" lIns="0" rIns="0" tIns="0" bIns="0">
            <a:spAutoFit/>
          </a:bodyPr>
          <a:lstStyle/>
          <a:p>
            <a:pPr algn="l">
              <a:lnSpc>
                <a:spcPct val="115000"/>
              </a:lnSpc>
              <a:spcAft>
                <a:spcPts val="400"/>
              </a:spcAft>
            </a:pPr>
            <a:r>
              <a:rPr sz="950" b="1">
                <a:solidFill>
                  <a:srgbClr val="61708A"/>
                </a:solidFill>
                <a:latin typeface="Segoe UI"/>
              </a:rPr>
              <a:t>STRATEGY</a:t>
            </a:r>
          </a:p>
        </p:txBody>
      </p:sp>
      <p:sp>
        <p:nvSpPr>
          <p:cNvPr id="16" name="TextBox 15"/>
          <p:cNvSpPr txBox="1"/>
          <p:nvPr/>
        </p:nvSpPr>
        <p:spPr>
          <a:xfrm>
            <a:off x="8503920" y="2313432"/>
            <a:ext cx="914400" cy="274320"/>
          </a:xfrm>
          <a:prstGeom prst="rect">
            <a:avLst/>
          </a:prstGeom>
          <a:noFill/>
        </p:spPr>
        <p:txBody>
          <a:bodyPr wrap="square" anchor="t" lIns="0" rIns="0" tIns="0" bIns="0">
            <a:spAutoFit/>
          </a:bodyPr>
          <a:lstStyle/>
          <a:p>
            <a:pPr algn="r">
              <a:lnSpc>
                <a:spcPct val="115000"/>
              </a:lnSpc>
              <a:spcAft>
                <a:spcPts val="400"/>
              </a:spcAft>
            </a:pPr>
            <a:r>
              <a:rPr sz="950" b="1">
                <a:solidFill>
                  <a:srgbClr val="61708A"/>
                </a:solidFill>
                <a:latin typeface="Segoe UI"/>
              </a:rPr>
              <a:t>FEATS</a:t>
            </a:r>
          </a:p>
        </p:txBody>
      </p:sp>
      <p:sp>
        <p:nvSpPr>
          <p:cNvPr id="17" name="TextBox 16"/>
          <p:cNvSpPr txBox="1"/>
          <p:nvPr/>
        </p:nvSpPr>
        <p:spPr>
          <a:xfrm>
            <a:off x="9418320" y="2313432"/>
            <a:ext cx="1051560" cy="274320"/>
          </a:xfrm>
          <a:prstGeom prst="rect">
            <a:avLst/>
          </a:prstGeom>
          <a:noFill/>
        </p:spPr>
        <p:txBody>
          <a:bodyPr wrap="square" anchor="t" lIns="0" rIns="0" tIns="0" bIns="0">
            <a:spAutoFit/>
          </a:bodyPr>
          <a:lstStyle/>
          <a:p>
            <a:pPr algn="r">
              <a:lnSpc>
                <a:spcPct val="115000"/>
              </a:lnSpc>
              <a:spcAft>
                <a:spcPts val="400"/>
              </a:spcAft>
            </a:pPr>
            <a:r>
              <a:rPr sz="950" b="1">
                <a:solidFill>
                  <a:srgbClr val="61708A"/>
                </a:solidFill>
                <a:latin typeface="Segoe UI"/>
              </a:rPr>
              <a:t>ROC-AUC</a:t>
            </a:r>
          </a:p>
        </p:txBody>
      </p:sp>
      <p:sp>
        <p:nvSpPr>
          <p:cNvPr id="18" name="TextBox 17"/>
          <p:cNvSpPr txBox="1"/>
          <p:nvPr/>
        </p:nvSpPr>
        <p:spPr>
          <a:xfrm>
            <a:off x="10469880" y="2313432"/>
            <a:ext cx="1051560" cy="274320"/>
          </a:xfrm>
          <a:prstGeom prst="rect">
            <a:avLst/>
          </a:prstGeom>
          <a:noFill/>
        </p:spPr>
        <p:txBody>
          <a:bodyPr wrap="square" anchor="t" lIns="0" rIns="0" tIns="0" bIns="0">
            <a:spAutoFit/>
          </a:bodyPr>
          <a:lstStyle/>
          <a:p>
            <a:pPr algn="r">
              <a:lnSpc>
                <a:spcPct val="115000"/>
              </a:lnSpc>
              <a:spcAft>
                <a:spcPts val="400"/>
              </a:spcAft>
            </a:pPr>
            <a:r>
              <a:rPr sz="950" b="1">
                <a:solidFill>
                  <a:srgbClr val="61708A"/>
                </a:solidFill>
                <a:latin typeface="Segoe UI"/>
              </a:rPr>
              <a:t>PR-AUC</a:t>
            </a:r>
          </a:p>
        </p:txBody>
      </p:sp>
      <p:sp>
        <p:nvSpPr>
          <p:cNvPr id="19" name="Rectangle 18"/>
          <p:cNvSpPr/>
          <p:nvPr/>
        </p:nvSpPr>
        <p:spPr>
          <a:xfrm>
            <a:off x="6400800" y="2569464"/>
            <a:ext cx="5120640" cy="12700"/>
          </a:xfrm>
          <a:prstGeom prst="rect">
            <a:avLst/>
          </a:prstGeom>
          <a:solidFill>
            <a:srgbClr val="23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679192"/>
            <a:ext cx="2103120" cy="347472"/>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Bank's 18 finalised</a:t>
            </a:r>
          </a:p>
        </p:txBody>
      </p:sp>
      <p:sp>
        <p:nvSpPr>
          <p:cNvPr id="21" name="TextBox 20"/>
          <p:cNvSpPr txBox="1"/>
          <p:nvPr/>
        </p:nvSpPr>
        <p:spPr>
          <a:xfrm>
            <a:off x="8503920" y="2679192"/>
            <a:ext cx="91440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18</a:t>
            </a:r>
          </a:p>
        </p:txBody>
      </p:sp>
      <p:sp>
        <p:nvSpPr>
          <p:cNvPr id="22" name="TextBox 21"/>
          <p:cNvSpPr txBox="1"/>
          <p:nvPr/>
        </p:nvSpPr>
        <p:spPr>
          <a:xfrm>
            <a:off x="9418320" y="2679192"/>
            <a:ext cx="105156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0.712</a:t>
            </a:r>
          </a:p>
        </p:txBody>
      </p:sp>
      <p:sp>
        <p:nvSpPr>
          <p:cNvPr id="23" name="TextBox 22"/>
          <p:cNvSpPr txBox="1"/>
          <p:nvPr/>
        </p:nvSpPr>
        <p:spPr>
          <a:xfrm>
            <a:off x="10469880" y="2679192"/>
            <a:ext cx="105156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0.177</a:t>
            </a:r>
          </a:p>
        </p:txBody>
      </p:sp>
      <p:sp>
        <p:nvSpPr>
          <p:cNvPr id="24" name="TextBox 23"/>
          <p:cNvSpPr txBox="1"/>
          <p:nvPr/>
        </p:nvSpPr>
        <p:spPr>
          <a:xfrm>
            <a:off x="6400800" y="3026664"/>
            <a:ext cx="2103120" cy="347472"/>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Bank + engineered</a:t>
            </a:r>
          </a:p>
        </p:txBody>
      </p:sp>
      <p:sp>
        <p:nvSpPr>
          <p:cNvPr id="25" name="TextBox 24"/>
          <p:cNvSpPr txBox="1"/>
          <p:nvPr/>
        </p:nvSpPr>
        <p:spPr>
          <a:xfrm>
            <a:off x="8503920" y="3026664"/>
            <a:ext cx="91440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2,028</a:t>
            </a:r>
          </a:p>
        </p:txBody>
      </p:sp>
      <p:sp>
        <p:nvSpPr>
          <p:cNvPr id="26" name="TextBox 25"/>
          <p:cNvSpPr txBox="1"/>
          <p:nvPr/>
        </p:nvSpPr>
        <p:spPr>
          <a:xfrm>
            <a:off x="9418320" y="3026664"/>
            <a:ext cx="105156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0.651</a:t>
            </a:r>
          </a:p>
        </p:txBody>
      </p:sp>
      <p:sp>
        <p:nvSpPr>
          <p:cNvPr id="27" name="TextBox 26"/>
          <p:cNvSpPr txBox="1"/>
          <p:nvPr/>
        </p:nvSpPr>
        <p:spPr>
          <a:xfrm>
            <a:off x="10469880" y="3026664"/>
            <a:ext cx="105156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0.163</a:t>
            </a:r>
          </a:p>
        </p:txBody>
      </p:sp>
      <p:sp>
        <p:nvSpPr>
          <p:cNvPr id="28" name="TextBox 27"/>
          <p:cNvSpPr txBox="1"/>
          <p:nvPr/>
        </p:nvSpPr>
        <p:spPr>
          <a:xfrm>
            <a:off x="6400800" y="3374136"/>
            <a:ext cx="2103120" cy="347472"/>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Automatic top-k</a:t>
            </a:r>
          </a:p>
        </p:txBody>
      </p:sp>
      <p:sp>
        <p:nvSpPr>
          <p:cNvPr id="29" name="TextBox 28"/>
          <p:cNvSpPr txBox="1"/>
          <p:nvPr/>
        </p:nvSpPr>
        <p:spPr>
          <a:xfrm>
            <a:off x="8503920" y="3374136"/>
            <a:ext cx="91440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131</a:t>
            </a:r>
          </a:p>
        </p:txBody>
      </p:sp>
      <p:sp>
        <p:nvSpPr>
          <p:cNvPr id="30" name="TextBox 29"/>
          <p:cNvSpPr txBox="1"/>
          <p:nvPr/>
        </p:nvSpPr>
        <p:spPr>
          <a:xfrm>
            <a:off x="9418320" y="3374136"/>
            <a:ext cx="105156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0.622</a:t>
            </a:r>
          </a:p>
        </p:txBody>
      </p:sp>
      <p:sp>
        <p:nvSpPr>
          <p:cNvPr id="31" name="TextBox 30"/>
          <p:cNvSpPr txBox="1"/>
          <p:nvPr/>
        </p:nvSpPr>
        <p:spPr>
          <a:xfrm>
            <a:off x="10469880" y="3374136"/>
            <a:ext cx="105156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0.137</a:t>
            </a:r>
          </a:p>
        </p:txBody>
      </p:sp>
      <p:sp>
        <p:nvSpPr>
          <p:cNvPr id="32" name="TextBox 31"/>
          <p:cNvSpPr txBox="1"/>
          <p:nvPr/>
        </p:nvSpPr>
        <p:spPr>
          <a:xfrm>
            <a:off x="6400800" y="3721608"/>
            <a:ext cx="2103120" cy="347472"/>
          </a:xfrm>
          <a:prstGeom prst="rect">
            <a:avLst/>
          </a:prstGeom>
          <a:noFill/>
        </p:spPr>
        <p:txBody>
          <a:bodyPr wrap="square" anchor="t" lIns="0" rIns="0" tIns="0" bIns="0">
            <a:spAutoFit/>
          </a:bodyPr>
          <a:lstStyle/>
          <a:p>
            <a:pPr algn="l">
              <a:lnSpc>
                <a:spcPct val="115000"/>
              </a:lnSpc>
              <a:spcAft>
                <a:spcPts val="400"/>
              </a:spcAft>
            </a:pPr>
            <a:r>
              <a:rPr sz="1200" b="0">
                <a:solidFill>
                  <a:srgbClr val="E6EDF7"/>
                </a:solidFill>
                <a:latin typeface="Segoe UI"/>
              </a:rPr>
              <a:t>Every column</a:t>
            </a:r>
          </a:p>
        </p:txBody>
      </p:sp>
      <p:sp>
        <p:nvSpPr>
          <p:cNvPr id="33" name="TextBox 32"/>
          <p:cNvSpPr txBox="1"/>
          <p:nvPr/>
        </p:nvSpPr>
        <p:spPr>
          <a:xfrm>
            <a:off x="8503920" y="3721608"/>
            <a:ext cx="91440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5,926</a:t>
            </a:r>
          </a:p>
        </p:txBody>
      </p:sp>
      <p:sp>
        <p:nvSpPr>
          <p:cNvPr id="34" name="TextBox 33"/>
          <p:cNvSpPr txBox="1"/>
          <p:nvPr/>
        </p:nvSpPr>
        <p:spPr>
          <a:xfrm>
            <a:off x="9418320" y="3721608"/>
            <a:ext cx="105156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0.618</a:t>
            </a:r>
          </a:p>
        </p:txBody>
      </p:sp>
      <p:sp>
        <p:nvSpPr>
          <p:cNvPr id="35" name="TextBox 34"/>
          <p:cNvSpPr txBox="1"/>
          <p:nvPr/>
        </p:nvSpPr>
        <p:spPr>
          <a:xfrm>
            <a:off x="10469880" y="3721608"/>
            <a:ext cx="1051560" cy="347472"/>
          </a:xfrm>
          <a:prstGeom prst="rect">
            <a:avLst/>
          </a:prstGeom>
          <a:noFill/>
        </p:spPr>
        <p:txBody>
          <a:bodyPr wrap="square" anchor="t" lIns="0" rIns="0" tIns="0" bIns="0">
            <a:spAutoFit/>
          </a:bodyPr>
          <a:lstStyle/>
          <a:p>
            <a:pPr algn="r">
              <a:lnSpc>
                <a:spcPct val="115000"/>
              </a:lnSpc>
              <a:spcAft>
                <a:spcPts val="400"/>
              </a:spcAft>
            </a:pPr>
            <a:r>
              <a:rPr sz="1200" b="0">
                <a:solidFill>
                  <a:srgbClr val="8FA3C0"/>
                </a:solidFill>
                <a:latin typeface="Segoe UI"/>
              </a:rPr>
              <a:t>0.112</a:t>
            </a:r>
          </a:p>
        </p:txBody>
      </p:sp>
      <p:sp>
        <p:nvSpPr>
          <p:cNvPr id="36" name="TextBox 35"/>
          <p:cNvSpPr txBox="1"/>
          <p:nvPr/>
        </p:nvSpPr>
        <p:spPr>
          <a:xfrm>
            <a:off x="6400800" y="4087368"/>
            <a:ext cx="5120640" cy="365760"/>
          </a:xfrm>
          <a:prstGeom prst="rect">
            <a:avLst/>
          </a:prstGeom>
          <a:noFill/>
        </p:spPr>
        <p:txBody>
          <a:bodyPr wrap="square" anchor="t" lIns="0" rIns="0" tIns="0" bIns="0">
            <a:spAutoFit/>
          </a:bodyPr>
          <a:lstStyle/>
          <a:p>
            <a:pPr algn="l">
              <a:lnSpc>
                <a:spcPct val="120000"/>
              </a:lnSpc>
              <a:spcAft>
                <a:spcPts val="400"/>
              </a:spcAft>
            </a:pPr>
            <a:r>
              <a:rPr sz="1150" b="0">
                <a:solidFill>
                  <a:srgbClr val="8FA3C0"/>
                </a:solidFill>
                <a:latin typeface="Segoe UI"/>
              </a:rPr>
              <a:t>The bank's eighteen beat all 5,926 columns. With 186 positives against thousands of predictors, that is what theory predicts.</a:t>
            </a:r>
          </a:p>
        </p:txBody>
      </p:sp>
      <p:sp>
        <p:nvSpPr>
          <p:cNvPr id="37" name="Rounded Rectangle 36"/>
          <p:cNvSpPr/>
          <p:nvPr/>
        </p:nvSpPr>
        <p:spPr>
          <a:xfrm>
            <a:off x="640080" y="4480560"/>
            <a:ext cx="2651760" cy="86868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4608576"/>
            <a:ext cx="2395728" cy="457200"/>
          </a:xfrm>
          <a:prstGeom prst="rect">
            <a:avLst/>
          </a:prstGeom>
          <a:noFill/>
        </p:spPr>
        <p:txBody>
          <a:bodyPr wrap="square" anchor="t" lIns="0" rIns="0" tIns="0" bIns="0">
            <a:spAutoFit/>
          </a:bodyPr>
          <a:lstStyle/>
          <a:p>
            <a:pPr algn="ctr">
              <a:lnSpc>
                <a:spcPct val="115000"/>
              </a:lnSpc>
              <a:spcAft>
                <a:spcPts val="400"/>
              </a:spcAft>
            </a:pPr>
            <a:r>
              <a:rPr sz="2200" b="1">
                <a:solidFill>
                  <a:srgbClr val="2ECC9B"/>
                </a:solidFill>
                <a:latin typeface="Segoe UI"/>
              </a:rPr>
              <a:t>0.7046</a:t>
            </a:r>
          </a:p>
        </p:txBody>
      </p:sp>
      <p:sp>
        <p:nvSpPr>
          <p:cNvPr id="39" name="TextBox 38"/>
          <p:cNvSpPr txBox="1"/>
          <p:nvPr/>
        </p:nvSpPr>
        <p:spPr>
          <a:xfrm>
            <a:off x="731520" y="4983480"/>
            <a:ext cx="246888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UNTOUCHED HOLDOUT ROC-AUC</a:t>
            </a:r>
          </a:p>
        </p:txBody>
      </p:sp>
      <p:sp>
        <p:nvSpPr>
          <p:cNvPr id="40" name="Rounded Rectangle 39"/>
          <p:cNvSpPr/>
          <p:nvPr/>
        </p:nvSpPr>
        <p:spPr>
          <a:xfrm>
            <a:off x="3429000" y="4480560"/>
            <a:ext cx="2651760" cy="86868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57016" y="4608576"/>
            <a:ext cx="2395728" cy="457200"/>
          </a:xfrm>
          <a:prstGeom prst="rect">
            <a:avLst/>
          </a:prstGeom>
          <a:noFill/>
        </p:spPr>
        <p:txBody>
          <a:bodyPr wrap="square" anchor="t" lIns="0" rIns="0" tIns="0" bIns="0">
            <a:spAutoFit/>
          </a:bodyPr>
          <a:lstStyle/>
          <a:p>
            <a:pPr algn="ctr">
              <a:lnSpc>
                <a:spcPct val="115000"/>
              </a:lnSpc>
              <a:spcAft>
                <a:spcPts val="400"/>
              </a:spcAft>
            </a:pPr>
            <a:r>
              <a:rPr sz="2200" b="1">
                <a:solidFill>
                  <a:srgbClr val="4DA3FF"/>
                </a:solidFill>
                <a:latin typeface="Segoe UI"/>
              </a:rPr>
              <a:t>0.7116</a:t>
            </a:r>
          </a:p>
        </p:txBody>
      </p:sp>
      <p:sp>
        <p:nvSpPr>
          <p:cNvPr id="42" name="TextBox 41"/>
          <p:cNvSpPr txBox="1"/>
          <p:nvPr/>
        </p:nvSpPr>
        <p:spPr>
          <a:xfrm>
            <a:off x="3520440" y="4983480"/>
            <a:ext cx="246888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CROSS-VALIDATED ESTIMATE</a:t>
            </a:r>
          </a:p>
        </p:txBody>
      </p:sp>
      <p:sp>
        <p:nvSpPr>
          <p:cNvPr id="43" name="Rounded Rectangle 42"/>
          <p:cNvSpPr/>
          <p:nvPr/>
        </p:nvSpPr>
        <p:spPr>
          <a:xfrm>
            <a:off x="6217920" y="4480560"/>
            <a:ext cx="2651760" cy="86868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45936" y="4608576"/>
            <a:ext cx="2395728" cy="457200"/>
          </a:xfrm>
          <a:prstGeom prst="rect">
            <a:avLst/>
          </a:prstGeom>
          <a:noFill/>
        </p:spPr>
        <p:txBody>
          <a:bodyPr wrap="square" anchor="t" lIns="0" rIns="0" tIns="0" bIns="0">
            <a:spAutoFit/>
          </a:bodyPr>
          <a:lstStyle/>
          <a:p>
            <a:pPr algn="ctr">
              <a:lnSpc>
                <a:spcPct val="115000"/>
              </a:lnSpc>
              <a:spcAft>
                <a:spcPts val="400"/>
              </a:spcAft>
            </a:pPr>
            <a:r>
              <a:rPr sz="2200" b="1">
                <a:solidFill>
                  <a:srgbClr val="FF4D5E"/>
                </a:solidFill>
                <a:latin typeface="Segoe UI"/>
              </a:rPr>
              <a:t>5.5×</a:t>
            </a:r>
          </a:p>
        </p:txBody>
      </p:sp>
      <p:sp>
        <p:nvSpPr>
          <p:cNvPr id="45" name="TextBox 44"/>
          <p:cNvSpPr txBox="1"/>
          <p:nvPr/>
        </p:nvSpPr>
        <p:spPr>
          <a:xfrm>
            <a:off x="6309360" y="4983480"/>
            <a:ext cx="246888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PR-AUC INFLATION IF LEAKED</a:t>
            </a:r>
          </a:p>
        </p:txBody>
      </p:sp>
      <p:sp>
        <p:nvSpPr>
          <p:cNvPr id="46" name="Rounded Rectangle 45"/>
          <p:cNvSpPr/>
          <p:nvPr/>
        </p:nvSpPr>
        <p:spPr>
          <a:xfrm>
            <a:off x="9006840" y="4480560"/>
            <a:ext cx="2651760" cy="86868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34856" y="4608576"/>
            <a:ext cx="2395728" cy="457200"/>
          </a:xfrm>
          <a:prstGeom prst="rect">
            <a:avLst/>
          </a:prstGeom>
          <a:noFill/>
        </p:spPr>
        <p:txBody>
          <a:bodyPr wrap="square" anchor="t" lIns="0" rIns="0" tIns="0" bIns="0">
            <a:spAutoFit/>
          </a:bodyPr>
          <a:lstStyle/>
          <a:p>
            <a:pPr algn="ctr">
              <a:lnSpc>
                <a:spcPct val="115000"/>
              </a:lnSpc>
              <a:spcAft>
                <a:spcPts val="400"/>
              </a:spcAft>
            </a:pPr>
            <a:r>
              <a:rPr sz="2200" b="1">
                <a:solidFill>
                  <a:srgbClr val="7D5CFF"/>
                </a:solidFill>
                <a:latin typeface="Segoe UI"/>
              </a:rPr>
              <a:t>3,924</a:t>
            </a:r>
          </a:p>
        </p:txBody>
      </p:sp>
      <p:sp>
        <p:nvSpPr>
          <p:cNvPr id="48" name="TextBox 47"/>
          <p:cNvSpPr txBox="1"/>
          <p:nvPr/>
        </p:nvSpPr>
        <p:spPr>
          <a:xfrm>
            <a:off x="9098280" y="4983480"/>
            <a:ext cx="246888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COLUMNS PARSED BY GRAMMAR</a:t>
            </a:r>
          </a:p>
        </p:txBody>
      </p:sp>
      <p:sp>
        <p:nvSpPr>
          <p:cNvPr id="49" name="Rounded Rectangle 48"/>
          <p:cNvSpPr/>
          <p:nvPr/>
        </p:nvSpPr>
        <p:spPr>
          <a:xfrm>
            <a:off x="640080" y="5486400"/>
            <a:ext cx="10881360" cy="777240"/>
          </a:xfrm>
          <a:prstGeom prst="roundRect">
            <a:avLst>
              <a:gd name="adj" fmla="val 4000"/>
            </a:avLst>
          </a:prstGeom>
          <a:solidFill>
            <a:srgbClr val="2A1A0F"/>
          </a:solidFill>
          <a:ln w="9525">
            <a:solidFill>
              <a:srgbClr val="FF8C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5632704"/>
            <a:ext cx="10332720" cy="502920"/>
          </a:xfrm>
          <a:prstGeom prst="rect">
            <a:avLst/>
          </a:prstGeom>
          <a:noFill/>
        </p:spPr>
        <p:txBody>
          <a:bodyPr wrap="square" anchor="t" lIns="0" rIns="0" tIns="0" bIns="0">
            <a:spAutoFit/>
          </a:bodyPr>
          <a:lstStyle/>
          <a:p>
            <a:pPr algn="l">
              <a:lnSpc>
                <a:spcPct val="120000"/>
              </a:lnSpc>
              <a:spcAft>
                <a:spcPts val="400"/>
              </a:spcAft>
            </a:pPr>
            <a:r>
              <a:rPr sz="1300" b="1">
                <a:solidFill>
                  <a:srgbClr val="E6EDF7"/>
                </a:solidFill>
                <a:latin typeface="Segoe UI"/>
              </a:rPr>
              <a:t>Measured on a stand-in table with their exact schema — their data was not released when this was built. It proves the pipeline runs and does not flatter itself. It is not model performance, and we will not present it as such.</a:t>
            </a:r>
          </a:p>
        </p:txBody>
      </p:sp>
      <p:sp>
        <p:nvSpPr>
          <p:cNvPr id="51" name="TextBox 50"/>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52" name="TextBox 51"/>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2"/>
              </a:rPr>
              <a:t>github.com/archirajpoot/Bodhi_Mule_Hunter</a:t>
            </a:r>
            <a:r>
              <a:rPr sz="950">
                <a:solidFill>
                  <a:srgbClr val="61708A"/>
                </a:solidFill>
                <a:latin typeface="Consolas"/>
              </a:rPr>
              <a:t>   ·   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anchor="t" lIns="0" rIns="0" tIns="0" bIns="0">
            <a:spAutoFit/>
          </a:bodyPr>
          <a:lstStyle/>
          <a:p>
            <a:pPr algn="l">
              <a:lnSpc>
                <a:spcPct val="115000"/>
              </a:lnSpc>
              <a:spcAft>
                <a:spcPts val="400"/>
              </a:spcAft>
            </a:pPr>
            <a:r>
              <a:rPr sz="1100" b="1">
                <a:solidFill>
                  <a:srgbClr val="4DA3FF"/>
                </a:solidFill>
                <a:latin typeface="Segoe UI"/>
              </a:rPr>
              <a:t>LIMITATIONS</a:t>
            </a:r>
          </a:p>
        </p:txBody>
      </p:sp>
      <p:sp>
        <p:nvSpPr>
          <p:cNvPr id="4" name="TextBox 3"/>
          <p:cNvSpPr txBox="1"/>
          <p:nvPr/>
        </p:nvSpPr>
        <p:spPr>
          <a:xfrm>
            <a:off x="640080" y="658368"/>
            <a:ext cx="10972800" cy="594360"/>
          </a:xfrm>
          <a:prstGeom prst="rect">
            <a:avLst/>
          </a:prstGeom>
          <a:noFill/>
        </p:spPr>
        <p:txBody>
          <a:bodyPr wrap="square" anchor="t" lIns="0" rIns="0" tIns="0" bIns="0">
            <a:spAutoFit/>
          </a:bodyPr>
          <a:lstStyle/>
          <a:p>
            <a:pPr algn="l">
              <a:lnSpc>
                <a:spcPct val="115000"/>
              </a:lnSpc>
              <a:spcAft>
                <a:spcPts val="400"/>
              </a:spcAft>
            </a:pPr>
            <a:r>
              <a:rPr sz="3000" b="1">
                <a:solidFill>
                  <a:srgbClr val="E6EDF7"/>
                </a:solidFill>
                <a:latin typeface="Segoe UI"/>
              </a:rPr>
              <a:t>Stated plainly, because hiding them helps nobody</a:t>
            </a:r>
          </a:p>
        </p:txBody>
      </p:sp>
      <p:sp>
        <p:nvSpPr>
          <p:cNvPr id="5" name="Rectangle 4"/>
          <p:cNvSpPr/>
          <p:nvPr/>
        </p:nvSpPr>
        <p:spPr>
          <a:xfrm>
            <a:off x="640080" y="1207008"/>
            <a:ext cx="1005840" cy="31750"/>
          </a:xfrm>
          <a:prstGeom prst="rect">
            <a:avLst/>
          </a:prstGeom>
          <a:solidFill>
            <a:srgbClr val="4DA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89888"/>
            <a:ext cx="3108960" cy="320040"/>
          </a:xfrm>
          <a:prstGeom prst="rect">
            <a:avLst/>
          </a:prstGeom>
          <a:noFill/>
        </p:spPr>
        <p:txBody>
          <a:bodyPr wrap="square" anchor="t" lIns="0" rIns="0" tIns="0" bIns="0">
            <a:spAutoFit/>
          </a:bodyPr>
          <a:lstStyle/>
          <a:p>
            <a:pPr algn="l">
              <a:lnSpc>
                <a:spcPct val="115000"/>
              </a:lnSpc>
              <a:spcAft>
                <a:spcPts val="400"/>
              </a:spcAft>
            </a:pPr>
            <a:r>
              <a:rPr sz="1350" b="1">
                <a:solidFill>
                  <a:srgbClr val="FF8C42"/>
                </a:solidFill>
                <a:latin typeface="Segoe UI"/>
              </a:rPr>
              <a:t>Simulated data</a:t>
            </a:r>
          </a:p>
        </p:txBody>
      </p:sp>
      <p:sp>
        <p:nvSpPr>
          <p:cNvPr id="7" name="TextBox 6"/>
          <p:cNvSpPr txBox="1"/>
          <p:nvPr/>
        </p:nvSpPr>
        <p:spPr>
          <a:xfrm>
            <a:off x="3931920" y="1389888"/>
            <a:ext cx="7589520" cy="548640"/>
          </a:xfrm>
          <a:prstGeom prst="rect">
            <a:avLst/>
          </a:prstGeom>
          <a:noFill/>
        </p:spPr>
        <p:txBody>
          <a:bodyPr wrap="square" anchor="t" lIns="0" rIns="0" tIns="0" bIns="0">
            <a:spAutoFit/>
          </a:bodyPr>
          <a:lstStyle/>
          <a:p>
            <a:pPr algn="l">
              <a:lnSpc>
                <a:spcPct val="125000"/>
              </a:lnSpc>
              <a:spcAft>
                <a:spcPts val="400"/>
              </a:spcAft>
            </a:pPr>
            <a:r>
              <a:rPr sz="1250" b="0">
                <a:solidFill>
                  <a:srgbClr val="8FA3C0"/>
                </a:solidFill>
                <a:latin typeface="Segoe UI"/>
              </a:rPr>
              <a:t>Demonstrates the architecture beats a rule engine on data with realistic decoys. Not a forecast of production performance.</a:t>
            </a:r>
          </a:p>
        </p:txBody>
      </p:sp>
      <p:sp>
        <p:nvSpPr>
          <p:cNvPr id="8" name="TextBox 7"/>
          <p:cNvSpPr txBox="1"/>
          <p:nvPr/>
        </p:nvSpPr>
        <p:spPr>
          <a:xfrm>
            <a:off x="640080" y="2103120"/>
            <a:ext cx="3108960" cy="320040"/>
          </a:xfrm>
          <a:prstGeom prst="rect">
            <a:avLst/>
          </a:prstGeom>
          <a:noFill/>
        </p:spPr>
        <p:txBody>
          <a:bodyPr wrap="square" anchor="t" lIns="0" rIns="0" tIns="0" bIns="0">
            <a:spAutoFit/>
          </a:bodyPr>
          <a:lstStyle/>
          <a:p>
            <a:pPr algn="l">
              <a:lnSpc>
                <a:spcPct val="115000"/>
              </a:lnSpc>
              <a:spcAft>
                <a:spcPts val="400"/>
              </a:spcAft>
            </a:pPr>
            <a:r>
              <a:rPr sz="1350" b="1">
                <a:solidFill>
                  <a:srgbClr val="FF8C42"/>
                </a:solidFill>
                <a:latin typeface="Segoe UI"/>
              </a:rPr>
              <a:t>Static APK analysis only</a:t>
            </a:r>
          </a:p>
        </p:txBody>
      </p:sp>
      <p:sp>
        <p:nvSpPr>
          <p:cNvPr id="9" name="TextBox 8"/>
          <p:cNvSpPr txBox="1"/>
          <p:nvPr/>
        </p:nvSpPr>
        <p:spPr>
          <a:xfrm>
            <a:off x="3931920" y="2103120"/>
            <a:ext cx="7589520" cy="548640"/>
          </a:xfrm>
          <a:prstGeom prst="rect">
            <a:avLst/>
          </a:prstGeom>
          <a:noFill/>
        </p:spPr>
        <p:txBody>
          <a:bodyPr wrap="square" anchor="t" lIns="0" rIns="0" tIns="0" bIns="0">
            <a:spAutoFit/>
          </a:bodyPr>
          <a:lstStyle/>
          <a:p>
            <a:pPr algn="l">
              <a:lnSpc>
                <a:spcPct val="125000"/>
              </a:lnSpc>
              <a:spcAft>
                <a:spcPts val="400"/>
              </a:spcAft>
            </a:pPr>
            <a:r>
              <a:rPr sz="1250" b="0">
                <a:solidFill>
                  <a:srgbClr val="8FA3C0"/>
                </a:solidFill>
                <a:latin typeface="Segoe UI"/>
              </a:rPr>
              <a:t>The dynamic sandbox with runtime hooking needs an instrumented Android image; it cannot ship self-contained.</a:t>
            </a:r>
          </a:p>
        </p:txBody>
      </p:sp>
      <p:sp>
        <p:nvSpPr>
          <p:cNvPr id="10" name="TextBox 9"/>
          <p:cNvSpPr txBox="1"/>
          <p:nvPr/>
        </p:nvSpPr>
        <p:spPr>
          <a:xfrm>
            <a:off x="640080" y="2816352"/>
            <a:ext cx="3108960" cy="320040"/>
          </a:xfrm>
          <a:prstGeom prst="rect">
            <a:avLst/>
          </a:prstGeom>
          <a:noFill/>
        </p:spPr>
        <p:txBody>
          <a:bodyPr wrap="square" anchor="t" lIns="0" rIns="0" tIns="0" bIns="0">
            <a:spAutoFit/>
          </a:bodyPr>
          <a:lstStyle/>
          <a:p>
            <a:pPr algn="l">
              <a:lnSpc>
                <a:spcPct val="115000"/>
              </a:lnSpc>
              <a:spcAft>
                <a:spcPts val="400"/>
              </a:spcAft>
            </a:pPr>
            <a:r>
              <a:rPr sz="1350" b="1">
                <a:solidFill>
                  <a:srgbClr val="FF8C42"/>
                </a:solidFill>
                <a:latin typeface="Segoe UI"/>
              </a:rPr>
              <a:t>Graph layers are not real-time</a:t>
            </a:r>
          </a:p>
        </p:txBody>
      </p:sp>
      <p:sp>
        <p:nvSpPr>
          <p:cNvPr id="11" name="TextBox 10"/>
          <p:cNvSpPr txBox="1"/>
          <p:nvPr/>
        </p:nvSpPr>
        <p:spPr>
          <a:xfrm>
            <a:off x="3931920" y="2816352"/>
            <a:ext cx="7589520" cy="548640"/>
          </a:xfrm>
          <a:prstGeom prst="rect">
            <a:avLst/>
          </a:prstGeom>
          <a:noFill/>
        </p:spPr>
        <p:txBody>
          <a:bodyPr wrap="square" anchor="t" lIns="0" rIns="0" tIns="0" bIns="0">
            <a:spAutoFit/>
          </a:bodyPr>
          <a:lstStyle/>
          <a:p>
            <a:pPr algn="l">
              <a:lnSpc>
                <a:spcPct val="125000"/>
              </a:lnSpc>
              <a:spcAft>
                <a:spcPts val="400"/>
              </a:spcAft>
            </a:pPr>
            <a:r>
              <a:rPr sz="1250" b="0">
                <a:solidFill>
                  <a:srgbClr val="8FA3C0"/>
                </a:solidFill>
                <a:latin typeface="Segoe UI"/>
              </a:rPr>
              <a:t>~38 s full re-score. An account whose neighbourhood changed since the last batch is scored on slightly stale structure.</a:t>
            </a:r>
          </a:p>
        </p:txBody>
      </p:sp>
      <p:sp>
        <p:nvSpPr>
          <p:cNvPr id="12" name="TextBox 11"/>
          <p:cNvSpPr txBox="1"/>
          <p:nvPr/>
        </p:nvSpPr>
        <p:spPr>
          <a:xfrm>
            <a:off x="640080" y="3529584"/>
            <a:ext cx="3108960" cy="320040"/>
          </a:xfrm>
          <a:prstGeom prst="rect">
            <a:avLst/>
          </a:prstGeom>
          <a:noFill/>
        </p:spPr>
        <p:txBody>
          <a:bodyPr wrap="square" anchor="t" lIns="0" rIns="0" tIns="0" bIns="0">
            <a:spAutoFit/>
          </a:bodyPr>
          <a:lstStyle/>
          <a:p>
            <a:pPr algn="l">
              <a:lnSpc>
                <a:spcPct val="115000"/>
              </a:lnSpc>
              <a:spcAft>
                <a:spcPts val="400"/>
              </a:spcAft>
            </a:pPr>
            <a:r>
              <a:rPr sz="1350" b="1">
                <a:solidFill>
                  <a:srgbClr val="FF8C42"/>
                </a:solidFill>
                <a:latin typeface="Segoe UI"/>
              </a:rPr>
              <a:t>Single-institution view</a:t>
            </a:r>
          </a:p>
        </p:txBody>
      </p:sp>
      <p:sp>
        <p:nvSpPr>
          <p:cNvPr id="13" name="TextBox 12"/>
          <p:cNvSpPr txBox="1"/>
          <p:nvPr/>
        </p:nvSpPr>
        <p:spPr>
          <a:xfrm>
            <a:off x="3931920" y="3529584"/>
            <a:ext cx="7589520" cy="548640"/>
          </a:xfrm>
          <a:prstGeom prst="rect">
            <a:avLst/>
          </a:prstGeom>
          <a:noFill/>
        </p:spPr>
        <p:txBody>
          <a:bodyPr wrap="square" anchor="t" lIns="0" rIns="0" tIns="0" bIns="0">
            <a:spAutoFit/>
          </a:bodyPr>
          <a:lstStyle/>
          <a:p>
            <a:pPr algn="l">
              <a:lnSpc>
                <a:spcPct val="125000"/>
              </a:lnSpc>
              <a:spcAft>
                <a:spcPts val="400"/>
              </a:spcAft>
            </a:pPr>
            <a:r>
              <a:rPr sz="1250" b="0">
                <a:solidFill>
                  <a:srgbClr val="8FA3C0"/>
                </a:solidFill>
                <a:latin typeface="Segoe UI"/>
              </a:rPr>
              <a:t>Rings routing through several banks are only partly visible — a data-sharing problem, not a modelling one.</a:t>
            </a:r>
          </a:p>
        </p:txBody>
      </p:sp>
      <p:sp>
        <p:nvSpPr>
          <p:cNvPr id="14" name="TextBox 13"/>
          <p:cNvSpPr txBox="1"/>
          <p:nvPr/>
        </p:nvSpPr>
        <p:spPr>
          <a:xfrm>
            <a:off x="640080" y="4242816"/>
            <a:ext cx="3108960" cy="320040"/>
          </a:xfrm>
          <a:prstGeom prst="rect">
            <a:avLst/>
          </a:prstGeom>
          <a:noFill/>
        </p:spPr>
        <p:txBody>
          <a:bodyPr wrap="square" anchor="t" lIns="0" rIns="0" tIns="0" bIns="0">
            <a:spAutoFit/>
          </a:bodyPr>
          <a:lstStyle/>
          <a:p>
            <a:pPr algn="l">
              <a:lnSpc>
                <a:spcPct val="115000"/>
              </a:lnSpc>
              <a:spcAft>
                <a:spcPts val="400"/>
              </a:spcAft>
            </a:pPr>
            <a:r>
              <a:rPr sz="1350" b="1">
                <a:solidFill>
                  <a:srgbClr val="FF8C42"/>
                </a:solidFill>
                <a:latin typeface="Segoe UI"/>
              </a:rPr>
              <a:t>Cold start</a:t>
            </a:r>
          </a:p>
        </p:txBody>
      </p:sp>
      <p:sp>
        <p:nvSpPr>
          <p:cNvPr id="15" name="TextBox 14"/>
          <p:cNvSpPr txBox="1"/>
          <p:nvPr/>
        </p:nvSpPr>
        <p:spPr>
          <a:xfrm>
            <a:off x="3931920" y="4242816"/>
            <a:ext cx="7589520" cy="548640"/>
          </a:xfrm>
          <a:prstGeom prst="rect">
            <a:avLst/>
          </a:prstGeom>
          <a:noFill/>
        </p:spPr>
        <p:txBody>
          <a:bodyPr wrap="square" anchor="t" lIns="0" rIns="0" tIns="0" bIns="0">
            <a:spAutoFit/>
          </a:bodyPr>
          <a:lstStyle/>
          <a:p>
            <a:pPr algn="l">
              <a:lnSpc>
                <a:spcPct val="125000"/>
              </a:lnSpc>
              <a:spcAft>
                <a:spcPts val="400"/>
              </a:spcAft>
            </a:pPr>
            <a:r>
              <a:rPr sz="1250" b="0">
                <a:solidFill>
                  <a:srgbClr val="8FA3C0"/>
                </a:solidFill>
                <a:latin typeface="Segoe UI"/>
              </a:rPr>
              <a:t>The strongest feature is neighbourhood risk propagated from confirmed cases; with zero known mules performance drops materially.</a:t>
            </a:r>
          </a:p>
        </p:txBody>
      </p:sp>
      <p:sp>
        <p:nvSpPr>
          <p:cNvPr id="16" name="TextBox 15"/>
          <p:cNvSpPr txBox="1"/>
          <p:nvPr/>
        </p:nvSpPr>
        <p:spPr>
          <a:xfrm>
            <a:off x="640080" y="4956048"/>
            <a:ext cx="3108960" cy="320040"/>
          </a:xfrm>
          <a:prstGeom prst="rect">
            <a:avLst/>
          </a:prstGeom>
          <a:noFill/>
        </p:spPr>
        <p:txBody>
          <a:bodyPr wrap="square" anchor="t" lIns="0" rIns="0" tIns="0" bIns="0">
            <a:spAutoFit/>
          </a:bodyPr>
          <a:lstStyle/>
          <a:p>
            <a:pPr algn="l">
              <a:lnSpc>
                <a:spcPct val="115000"/>
              </a:lnSpc>
              <a:spcAft>
                <a:spcPts val="400"/>
              </a:spcAft>
            </a:pPr>
            <a:r>
              <a:rPr sz="1350" b="1">
                <a:solidFill>
                  <a:srgbClr val="FF8C42"/>
                </a:solidFill>
                <a:latin typeface="Segoe UI"/>
              </a:rPr>
              <a:t>Disparate impact unevaluated</a:t>
            </a:r>
          </a:p>
        </p:txBody>
      </p:sp>
      <p:sp>
        <p:nvSpPr>
          <p:cNvPr id="17" name="TextBox 16"/>
          <p:cNvSpPr txBox="1"/>
          <p:nvPr/>
        </p:nvSpPr>
        <p:spPr>
          <a:xfrm>
            <a:off x="3931920" y="4956048"/>
            <a:ext cx="7589520" cy="548640"/>
          </a:xfrm>
          <a:prstGeom prst="rect">
            <a:avLst/>
          </a:prstGeom>
          <a:noFill/>
        </p:spPr>
        <p:txBody>
          <a:bodyPr wrap="square" anchor="t" lIns="0" rIns="0" tIns="0" bIns="0">
            <a:spAutoFit/>
          </a:bodyPr>
          <a:lstStyle/>
          <a:p>
            <a:pPr algn="l">
              <a:lnSpc>
                <a:spcPct val="125000"/>
              </a:lnSpc>
              <a:spcAft>
                <a:spcPts val="400"/>
              </a:spcAft>
            </a:pPr>
            <a:r>
              <a:rPr sz="1250" b="0">
                <a:solidFill>
                  <a:srgbClr val="8FA3C0"/>
                </a:solidFill>
                <a:latin typeface="Segoe UI"/>
              </a:rPr>
              <a:t>Minimum-KYC and shared-device features are predictive but correlate with lower-income households. Alert-rate parity must be measured before go-live.</a:t>
            </a:r>
          </a:p>
        </p:txBody>
      </p:sp>
      <p:sp>
        <p:nvSpPr>
          <p:cNvPr id="18" name="TextBox 17"/>
          <p:cNvSpPr txBox="1"/>
          <p:nvPr/>
        </p:nvSpPr>
        <p:spPr>
          <a:xfrm>
            <a:off x="640080" y="6400800"/>
            <a:ext cx="5852160" cy="274320"/>
          </a:xfrm>
          <a:prstGeom prst="rect">
            <a:avLst/>
          </a:prstGeom>
          <a:noFill/>
        </p:spPr>
        <p:txBody>
          <a:bodyPr wrap="square" anchor="t" lIns="0" rIns="0" tIns="0" bIns="0">
            <a:spAutoFit/>
          </a:bodyPr>
          <a:lstStyle/>
          <a:p>
            <a:pPr algn="l">
              <a:lnSpc>
                <a:spcPct val="115000"/>
              </a:lnSpc>
              <a:spcAft>
                <a:spcPts val="400"/>
              </a:spcAft>
            </a:pPr>
            <a:r>
              <a:rPr sz="950" b="0">
                <a:solidFill>
                  <a:srgbClr val="61708A"/>
                </a:solidFill>
                <a:latin typeface="Segoe UI"/>
              </a:rPr>
              <a:t>BODHI MULE HUNTER AI  ·  CyberShield Hackathon 2026  ·  Problem Statement 2</a:t>
            </a:r>
          </a:p>
        </p:txBody>
      </p:sp>
      <p:sp>
        <p:nvSpPr>
          <p:cNvPr id="19" name="TextBox 18"/>
          <p:cNvSpPr txBox="1"/>
          <p:nvPr/>
        </p:nvSpPr>
        <p:spPr>
          <a:xfrm>
            <a:off x="6705295" y="6400800"/>
            <a:ext cx="4846320" cy="274320"/>
          </a:xfrm>
          <a:prstGeom prst="rect">
            <a:avLst/>
          </a:prstGeom>
          <a:noFill/>
        </p:spPr>
        <p:txBody>
          <a:bodyPr wrap="square" anchor="t" lIns="0" rIns="0" tIns="0" bIns="0">
            <a:spAutoFit/>
          </a:bodyPr>
          <a:lstStyle/>
          <a:p>
            <a:pPr algn="r">
              <a:lnSpc>
                <a:spcPct val="115000"/>
              </a:lnSpc>
              <a:spcAft>
                <a:spcPts val="400"/>
              </a:spcAft>
            </a:pPr>
            <a:r>
              <a:rPr sz="950" b="0">
                <a:solidFill>
                  <a:srgbClr val="61708A"/>
                </a:solidFill>
                <a:latin typeface="Consolas"/>
              </a:rPr>
              <a:t/>
            </a:r>
            <a:r>
              <a:rPr sz="950">
                <a:solidFill>
                  <a:srgbClr val="61708A"/>
                </a:solidFill>
                <a:latin typeface="Consolas"/>
                <a:hlinkClick r:id="rId2"/>
              </a:rPr>
              <a:t>github.com/archirajpoot/Bodhi_Mule_Hunter</a:t>
            </a:r>
            <a:r>
              <a:rPr sz="950">
                <a:solidFill>
                  <a:srgbClr val="61708A"/>
                </a:solidFill>
                <a:latin typeface="Consolas"/>
              </a:rPr>
              <a:t>   ·   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0" y="-914400"/>
            <a:ext cx="8229600" cy="5486400"/>
          </a:xfrm>
          <a:prstGeom prst="roundRect">
            <a:avLst/>
          </a:prstGeom>
          <a:solidFill>
            <a:srgbClr val="10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10515600" cy="914400"/>
          </a:xfrm>
          <a:prstGeom prst="rect">
            <a:avLst/>
          </a:prstGeom>
          <a:noFill/>
        </p:spPr>
        <p:txBody>
          <a:bodyPr wrap="square" anchor="t" lIns="0" rIns="0" tIns="0" bIns="0">
            <a:spAutoFit/>
          </a:bodyPr>
          <a:lstStyle/>
          <a:p>
            <a:pPr algn="l">
              <a:lnSpc>
                <a:spcPct val="120000"/>
              </a:lnSpc>
              <a:spcAft>
                <a:spcPts val="400"/>
              </a:spcAft>
            </a:pPr>
            <a:r>
              <a:rPr sz="3400" b="1">
                <a:solidFill>
                  <a:srgbClr val="E6EDF7"/>
                </a:solidFill>
                <a:latin typeface="Segoe UI"/>
              </a:rPr>
              <a:t>Mule detection fails today not because the
signal is absent</a:t>
            </a:r>
          </a:p>
        </p:txBody>
      </p:sp>
      <p:sp>
        <p:nvSpPr>
          <p:cNvPr id="5" name="TextBox 4"/>
          <p:cNvSpPr txBox="1"/>
          <p:nvPr/>
        </p:nvSpPr>
        <p:spPr>
          <a:xfrm>
            <a:off x="822960" y="2377440"/>
            <a:ext cx="10515600" cy="822960"/>
          </a:xfrm>
          <a:prstGeom prst="rect">
            <a:avLst/>
          </a:prstGeom>
          <a:noFill/>
        </p:spPr>
        <p:txBody>
          <a:bodyPr wrap="square" anchor="t" lIns="0" rIns="0" tIns="0" bIns="0">
            <a:spAutoFit/>
          </a:bodyPr>
          <a:lstStyle/>
          <a:p>
            <a:pPr algn="l">
              <a:lnSpc>
                <a:spcPct val="120000"/>
              </a:lnSpc>
              <a:spcAft>
                <a:spcPts val="400"/>
              </a:spcAft>
            </a:pPr>
            <a:r>
              <a:rPr sz="2200" b="0">
                <a:solidFill>
                  <a:srgbClr val="4DA3FF"/>
                </a:solidFill>
                <a:latin typeface="Segoe UI"/>
              </a:rPr>
              <a:t>— but because single-account rule engines cannot express it.</a:t>
            </a:r>
          </a:p>
        </p:txBody>
      </p:sp>
      <p:sp>
        <p:nvSpPr>
          <p:cNvPr id="6" name="TextBox 5"/>
          <p:cNvSpPr txBox="1"/>
          <p:nvPr/>
        </p:nvSpPr>
        <p:spPr>
          <a:xfrm>
            <a:off x="822960" y="3291840"/>
            <a:ext cx="10058400" cy="1005840"/>
          </a:xfrm>
          <a:prstGeom prst="rect">
            <a:avLst/>
          </a:prstGeom>
          <a:noFill/>
        </p:spPr>
        <p:txBody>
          <a:bodyPr wrap="square" anchor="t" lIns="0" rIns="0" tIns="0" bIns="0">
            <a:spAutoFit/>
          </a:bodyPr>
          <a:lstStyle/>
          <a:p>
            <a:pPr algn="l">
              <a:lnSpc>
                <a:spcPct val="135000"/>
              </a:lnSpc>
              <a:spcAft>
                <a:spcPts val="400"/>
              </a:spcAft>
            </a:pPr>
            <a:r>
              <a:rPr sz="1500" b="0">
                <a:solidFill>
                  <a:srgbClr val="8FA3C0"/>
                </a:solidFill>
                <a:latin typeface="Segoe UI"/>
              </a:rPr>
              <a:t>Three complementary views, fused under a monotonicity constraint into a calibrated score, cut false positives by 99.99% at unchanged recall — with explanations specific enough to file and containment cautious enough to automate.</a:t>
            </a:r>
          </a:p>
        </p:txBody>
      </p:sp>
      <p:sp>
        <p:nvSpPr>
          <p:cNvPr id="7" name="Rounded Rectangle 6"/>
          <p:cNvSpPr/>
          <p:nvPr/>
        </p:nvSpPr>
        <p:spPr>
          <a:xfrm>
            <a:off x="822960" y="4572000"/>
            <a:ext cx="2377440" cy="96012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4700016"/>
            <a:ext cx="2121408" cy="457200"/>
          </a:xfrm>
          <a:prstGeom prst="rect">
            <a:avLst/>
          </a:prstGeom>
          <a:noFill/>
        </p:spPr>
        <p:txBody>
          <a:bodyPr wrap="square" anchor="t" lIns="0" rIns="0" tIns="0" bIns="0">
            <a:spAutoFit/>
          </a:bodyPr>
          <a:lstStyle/>
          <a:p>
            <a:pPr algn="ctr">
              <a:lnSpc>
                <a:spcPct val="115000"/>
              </a:lnSpc>
              <a:spcAft>
                <a:spcPts val="400"/>
              </a:spcAft>
            </a:pPr>
            <a:r>
              <a:rPr sz="2600" b="1">
                <a:solidFill>
                  <a:srgbClr val="E6EDF7"/>
                </a:solidFill>
                <a:latin typeface="Segoe UI"/>
              </a:rPr>
              <a:t>113</a:t>
            </a:r>
          </a:p>
        </p:txBody>
      </p:sp>
      <p:sp>
        <p:nvSpPr>
          <p:cNvPr id="9" name="TextBox 8"/>
          <p:cNvSpPr txBox="1"/>
          <p:nvPr/>
        </p:nvSpPr>
        <p:spPr>
          <a:xfrm>
            <a:off x="914400" y="5166360"/>
            <a:ext cx="219456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TESTS PASSING</a:t>
            </a:r>
          </a:p>
        </p:txBody>
      </p:sp>
      <p:sp>
        <p:nvSpPr>
          <p:cNvPr id="10" name="Rounded Rectangle 9"/>
          <p:cNvSpPr/>
          <p:nvPr/>
        </p:nvSpPr>
        <p:spPr>
          <a:xfrm>
            <a:off x="3337560" y="4572000"/>
            <a:ext cx="2377440" cy="96012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5576" y="4700016"/>
            <a:ext cx="2121408" cy="457200"/>
          </a:xfrm>
          <a:prstGeom prst="rect">
            <a:avLst/>
          </a:prstGeom>
          <a:noFill/>
        </p:spPr>
        <p:txBody>
          <a:bodyPr wrap="square" anchor="t" lIns="0" rIns="0" tIns="0" bIns="0">
            <a:spAutoFit/>
          </a:bodyPr>
          <a:lstStyle/>
          <a:p>
            <a:pPr algn="ctr">
              <a:lnSpc>
                <a:spcPct val="115000"/>
              </a:lnSpc>
              <a:spcAft>
                <a:spcPts val="400"/>
              </a:spcAft>
            </a:pPr>
            <a:r>
              <a:rPr sz="2600" b="1">
                <a:solidFill>
                  <a:srgbClr val="E6EDF7"/>
                </a:solidFill>
                <a:latin typeface="Segoe UI"/>
              </a:rPr>
              <a:t>~17.4k</a:t>
            </a:r>
          </a:p>
        </p:txBody>
      </p:sp>
      <p:sp>
        <p:nvSpPr>
          <p:cNvPr id="12" name="TextBox 11"/>
          <p:cNvSpPr txBox="1"/>
          <p:nvPr/>
        </p:nvSpPr>
        <p:spPr>
          <a:xfrm>
            <a:off x="3429000" y="5166360"/>
            <a:ext cx="219456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LINES OF CODE</a:t>
            </a:r>
          </a:p>
        </p:txBody>
      </p:sp>
      <p:sp>
        <p:nvSpPr>
          <p:cNvPr id="13" name="Rounded Rectangle 12"/>
          <p:cNvSpPr/>
          <p:nvPr/>
        </p:nvSpPr>
        <p:spPr>
          <a:xfrm>
            <a:off x="5852160" y="4572000"/>
            <a:ext cx="2377440" cy="96012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0176" y="4700016"/>
            <a:ext cx="2121408" cy="457200"/>
          </a:xfrm>
          <a:prstGeom prst="rect">
            <a:avLst/>
          </a:prstGeom>
          <a:noFill/>
        </p:spPr>
        <p:txBody>
          <a:bodyPr wrap="square" anchor="t" lIns="0" rIns="0" tIns="0" bIns="0">
            <a:spAutoFit/>
          </a:bodyPr>
          <a:lstStyle/>
          <a:p>
            <a:pPr algn="ctr">
              <a:lnSpc>
                <a:spcPct val="115000"/>
              </a:lnSpc>
              <a:spcAft>
                <a:spcPts val="400"/>
              </a:spcAft>
            </a:pPr>
            <a:r>
              <a:rPr sz="2600" b="1">
                <a:solidFill>
                  <a:srgbClr val="E6EDF7"/>
                </a:solidFill>
                <a:latin typeface="Segoe UI"/>
              </a:rPr>
              <a:t>9</a:t>
            </a:r>
          </a:p>
        </p:txBody>
      </p:sp>
      <p:sp>
        <p:nvSpPr>
          <p:cNvPr id="15" name="TextBox 14"/>
          <p:cNvSpPr txBox="1"/>
          <p:nvPr/>
        </p:nvSpPr>
        <p:spPr>
          <a:xfrm>
            <a:off x="5943600" y="5166360"/>
            <a:ext cx="219456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LAYERS, ALL RUNNING</a:t>
            </a:r>
          </a:p>
        </p:txBody>
      </p:sp>
      <p:sp>
        <p:nvSpPr>
          <p:cNvPr id="16" name="Rounded Rectangle 15"/>
          <p:cNvSpPr/>
          <p:nvPr/>
        </p:nvSpPr>
        <p:spPr>
          <a:xfrm>
            <a:off x="8366760" y="4572000"/>
            <a:ext cx="2377440" cy="960120"/>
          </a:xfrm>
          <a:prstGeom prst="roundRect">
            <a:avLst>
              <a:gd name="adj" fmla="val 4000"/>
            </a:avLst>
          </a:prstGeom>
          <a:solidFill>
            <a:srgbClr val="182031"/>
          </a:solidFill>
          <a:ln w="9525">
            <a:solidFill>
              <a:srgbClr val="23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94776" y="4700016"/>
            <a:ext cx="2121408" cy="457200"/>
          </a:xfrm>
          <a:prstGeom prst="rect">
            <a:avLst/>
          </a:prstGeom>
          <a:noFill/>
        </p:spPr>
        <p:txBody>
          <a:bodyPr wrap="square" anchor="t" lIns="0" rIns="0" tIns="0" bIns="0">
            <a:spAutoFit/>
          </a:bodyPr>
          <a:lstStyle/>
          <a:p>
            <a:pPr algn="ctr">
              <a:lnSpc>
                <a:spcPct val="115000"/>
              </a:lnSpc>
              <a:spcAft>
                <a:spcPts val="400"/>
              </a:spcAft>
            </a:pPr>
            <a:r>
              <a:rPr sz="2600" b="1">
                <a:solidFill>
                  <a:srgbClr val="E6EDF7"/>
                </a:solidFill>
                <a:latin typeface="Segoe UI"/>
              </a:rPr>
              <a:t>0</a:t>
            </a:r>
          </a:p>
        </p:txBody>
      </p:sp>
      <p:sp>
        <p:nvSpPr>
          <p:cNvPr id="18" name="TextBox 17"/>
          <p:cNvSpPr txBox="1"/>
          <p:nvPr/>
        </p:nvSpPr>
        <p:spPr>
          <a:xfrm>
            <a:off x="8458200" y="5166360"/>
            <a:ext cx="2194560" cy="274320"/>
          </a:xfrm>
          <a:prstGeom prst="rect">
            <a:avLst/>
          </a:prstGeom>
          <a:noFill/>
        </p:spPr>
        <p:txBody>
          <a:bodyPr wrap="square" anchor="t" lIns="0" rIns="0" tIns="0" bIns="0">
            <a:spAutoFit/>
          </a:bodyPr>
          <a:lstStyle/>
          <a:p>
            <a:pPr algn="ctr">
              <a:lnSpc>
                <a:spcPct val="100000"/>
              </a:lnSpc>
              <a:spcAft>
                <a:spcPts val="400"/>
              </a:spcAft>
            </a:pPr>
            <a:r>
              <a:rPr sz="900" b="0">
                <a:solidFill>
                  <a:srgbClr val="61708A"/>
                </a:solidFill>
                <a:latin typeface="Segoe UI"/>
              </a:rPr>
              <a:t>EXTERNAL ML FRAMEWORKS</a:t>
            </a:r>
          </a:p>
        </p:txBody>
      </p:sp>
      <p:sp>
        <p:nvSpPr>
          <p:cNvPr id="19" name="TextBox 18"/>
          <p:cNvSpPr txBox="1"/>
          <p:nvPr/>
        </p:nvSpPr>
        <p:spPr>
          <a:xfrm>
            <a:off x="822960" y="5742432"/>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Akshay Tiwari</a:t>
            </a:r>
          </a:p>
        </p:txBody>
      </p:sp>
      <p:sp>
        <p:nvSpPr>
          <p:cNvPr id="20" name="TextBox 19"/>
          <p:cNvSpPr txBox="1"/>
          <p:nvPr/>
        </p:nvSpPr>
        <p:spPr>
          <a:xfrm>
            <a:off x="822960" y="5989320"/>
            <a:ext cx="2377440" cy="237744"/>
          </a:xfrm>
          <a:prstGeom prst="rect">
            <a:avLst/>
          </a:prstGeom>
          <a:noFill/>
        </p:spPr>
        <p:txBody>
          <a:bodyPr wrap="square" anchor="t" lIns="0" rIns="0" tIns="0" bIns="0">
            <a:spAutoFit/>
          </a:bodyPr>
          <a:lstStyle/>
          <a:p>
            <a:pPr algn="l">
              <a:lnSpc>
                <a:spcPct val="115000"/>
              </a:lnSpc>
              <a:spcAft>
                <a:spcPts val="400"/>
              </a:spcAft>
            </a:pPr>
            <a:r>
              <a:rPr sz="1000" b="0">
                <a:solidFill>
                  <a:srgbClr val="61708A"/>
                </a:solidFill>
                <a:latin typeface="Consolas"/>
              </a:rPr>
              <a:t>0246CS241037</a:t>
            </a:r>
          </a:p>
        </p:txBody>
      </p:sp>
      <p:sp>
        <p:nvSpPr>
          <p:cNvPr id="21" name="TextBox 20"/>
          <p:cNvSpPr txBox="1"/>
          <p:nvPr/>
        </p:nvSpPr>
        <p:spPr>
          <a:xfrm>
            <a:off x="3337560" y="5742432"/>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Palak Vishwakarma</a:t>
            </a:r>
          </a:p>
        </p:txBody>
      </p:sp>
      <p:sp>
        <p:nvSpPr>
          <p:cNvPr id="22" name="TextBox 21"/>
          <p:cNvSpPr txBox="1"/>
          <p:nvPr/>
        </p:nvSpPr>
        <p:spPr>
          <a:xfrm>
            <a:off x="3337560" y="5989320"/>
            <a:ext cx="2377440" cy="237744"/>
          </a:xfrm>
          <a:prstGeom prst="rect">
            <a:avLst/>
          </a:prstGeom>
          <a:noFill/>
        </p:spPr>
        <p:txBody>
          <a:bodyPr wrap="square" anchor="t" lIns="0" rIns="0" tIns="0" bIns="0">
            <a:spAutoFit/>
          </a:bodyPr>
          <a:lstStyle/>
          <a:p>
            <a:pPr algn="l">
              <a:lnSpc>
                <a:spcPct val="115000"/>
              </a:lnSpc>
              <a:spcAft>
                <a:spcPts val="400"/>
              </a:spcAft>
            </a:pPr>
            <a:r>
              <a:rPr sz="1000" b="0">
                <a:solidFill>
                  <a:srgbClr val="61708A"/>
                </a:solidFill>
                <a:latin typeface="Consolas"/>
              </a:rPr>
              <a:t>0246AL241124</a:t>
            </a:r>
          </a:p>
        </p:txBody>
      </p:sp>
      <p:sp>
        <p:nvSpPr>
          <p:cNvPr id="23" name="TextBox 22"/>
          <p:cNvSpPr txBox="1"/>
          <p:nvPr/>
        </p:nvSpPr>
        <p:spPr>
          <a:xfrm>
            <a:off x="5852160" y="5742432"/>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Archi Singh Rajput</a:t>
            </a:r>
          </a:p>
        </p:txBody>
      </p:sp>
      <p:sp>
        <p:nvSpPr>
          <p:cNvPr id="24" name="TextBox 23"/>
          <p:cNvSpPr txBox="1"/>
          <p:nvPr/>
        </p:nvSpPr>
        <p:spPr>
          <a:xfrm>
            <a:off x="5852160" y="5989320"/>
            <a:ext cx="2377440" cy="237744"/>
          </a:xfrm>
          <a:prstGeom prst="rect">
            <a:avLst/>
          </a:prstGeom>
          <a:noFill/>
        </p:spPr>
        <p:txBody>
          <a:bodyPr wrap="square" anchor="t" lIns="0" rIns="0" tIns="0" bIns="0">
            <a:spAutoFit/>
          </a:bodyPr>
          <a:lstStyle/>
          <a:p>
            <a:pPr algn="l">
              <a:lnSpc>
                <a:spcPct val="115000"/>
              </a:lnSpc>
              <a:spcAft>
                <a:spcPts val="400"/>
              </a:spcAft>
            </a:pPr>
            <a:r>
              <a:rPr sz="1000" b="0">
                <a:solidFill>
                  <a:srgbClr val="61708A"/>
                </a:solidFill>
                <a:latin typeface="Consolas"/>
              </a:rPr>
              <a:t>0246CS240174</a:t>
            </a:r>
          </a:p>
        </p:txBody>
      </p:sp>
      <p:sp>
        <p:nvSpPr>
          <p:cNvPr id="25" name="TextBox 24"/>
          <p:cNvSpPr txBox="1"/>
          <p:nvPr/>
        </p:nvSpPr>
        <p:spPr>
          <a:xfrm>
            <a:off x="8366760" y="5742432"/>
            <a:ext cx="2377440" cy="256032"/>
          </a:xfrm>
          <a:prstGeom prst="rect">
            <a:avLst/>
          </a:prstGeom>
          <a:noFill/>
        </p:spPr>
        <p:txBody>
          <a:bodyPr wrap="square" anchor="t" lIns="0" rIns="0" tIns="0" bIns="0">
            <a:spAutoFit/>
          </a:bodyPr>
          <a:lstStyle/>
          <a:p>
            <a:pPr algn="l">
              <a:lnSpc>
                <a:spcPct val="115000"/>
              </a:lnSpc>
              <a:spcAft>
                <a:spcPts val="400"/>
              </a:spcAft>
            </a:pPr>
            <a:r>
              <a:rPr sz="1250" b="1">
                <a:solidFill>
                  <a:srgbClr val="E6EDF7"/>
                </a:solidFill>
                <a:latin typeface="Segoe UI"/>
              </a:rPr>
              <a:t>Kartik Jain</a:t>
            </a:r>
          </a:p>
        </p:txBody>
      </p:sp>
      <p:sp>
        <p:nvSpPr>
          <p:cNvPr id="26" name="TextBox 25"/>
          <p:cNvSpPr txBox="1"/>
          <p:nvPr/>
        </p:nvSpPr>
        <p:spPr>
          <a:xfrm>
            <a:off x="8366760" y="5989320"/>
            <a:ext cx="2377440" cy="237744"/>
          </a:xfrm>
          <a:prstGeom prst="rect">
            <a:avLst/>
          </a:prstGeom>
          <a:noFill/>
        </p:spPr>
        <p:txBody>
          <a:bodyPr wrap="square" anchor="t" lIns="0" rIns="0" tIns="0" bIns="0">
            <a:spAutoFit/>
          </a:bodyPr>
          <a:lstStyle/>
          <a:p>
            <a:pPr algn="l">
              <a:lnSpc>
                <a:spcPct val="115000"/>
              </a:lnSpc>
              <a:spcAft>
                <a:spcPts val="400"/>
              </a:spcAft>
            </a:pPr>
            <a:r>
              <a:rPr sz="1000" b="0">
                <a:solidFill>
                  <a:srgbClr val="61708A"/>
                </a:solidFill>
                <a:latin typeface="Consolas"/>
              </a:rPr>
              <a:t>0246AL241094</a:t>
            </a:r>
          </a:p>
        </p:txBody>
      </p:sp>
      <p:sp>
        <p:nvSpPr>
          <p:cNvPr id="27" name="TextBox 26"/>
          <p:cNvSpPr txBox="1"/>
          <p:nvPr/>
        </p:nvSpPr>
        <p:spPr>
          <a:xfrm>
            <a:off x="822960" y="6382512"/>
            <a:ext cx="10515600" cy="320040"/>
          </a:xfrm>
          <a:prstGeom prst="rect">
            <a:avLst/>
          </a:prstGeom>
          <a:noFill/>
        </p:spPr>
        <p:txBody>
          <a:bodyPr wrap="square" anchor="t" lIns="0" rIns="0" tIns="0" bIns="0">
            <a:spAutoFit/>
          </a:bodyPr>
          <a:lstStyle/>
          <a:p>
            <a:pPr algn="l">
              <a:lnSpc>
                <a:spcPct val="115000"/>
              </a:lnSpc>
              <a:spcAft>
                <a:spcPts val="400"/>
              </a:spcAft>
            </a:pPr>
            <a:r>
              <a:rPr sz="1100" b="0">
                <a:solidFill>
                  <a:srgbClr val="61708A"/>
                </a:solidFill>
                <a:latin typeface="Consolas"/>
              </a:rPr>
              <a:t>make setup &amp;&amp; make all &amp;&amp; make serve      ·      </a:t>
            </a:r>
            <a:r>
              <a:rPr sz="1100">
                <a:solidFill>
                  <a:srgbClr val="4DA3FF"/>
                </a:solidFill>
                <a:latin typeface="Consolas"/>
                <a:hlinkClick r:id="rId2"/>
              </a:rPr>
              <a:t>github.com/archirajpoot/Bodhi_Mule_Hunter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BODHI MULE HUNTER AI</dc:title>
  <dc:subject/>
  <dc:creator>Akshay Tiwari, Palak Vishwakarma, Archi Singh Rajput, Kartik Jain</dc:creator>
  <cp:keywords/>
  <dc:description>Team BODHI - CyberShield Hackathon 2026 - Problem Statement 2</dc:description>
  <cp:lastModifiedBy>Team BODHI</cp:lastModifiedBy>
  <cp:revision>1</cp:revision>
  <dcterms:created xsi:type="dcterms:W3CDTF">2013-01-27T09:14:16Z</dcterms:created>
  <dcterms:modified xsi:type="dcterms:W3CDTF">2013-01-27T09:15:58Z</dcterms:modified>
  <cp:category>CyberShield Hackathon 2026 - Problem Statement 2</cp:category>
</cp:coreProperties>
</file>